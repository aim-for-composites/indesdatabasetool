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 of rows</c:v>
                </c:pt>
              </c:strCache>
            </c:strRef>
          </c:tx>
          <c:spPr>
            <a:solidFill>
              <a:srgbClr val="02C39A"/>
            </a:solidFill>
            <a:effectLst/>
          </c:spPr>
          <c:invertIfNegative val="0"/>
          <c:dLbls>
            <c:numFmt formatCode="#,##0" sourceLinked="0"/>
            <c:txPr>
              <a:bodyPr/>
              <a:lstStyle/>
              <a:p>
                <a:pPr>
                  <a:defRPr b="0" i="0" strike="noStrike" sz="1200" u="none">
                    <a:solidFill>
                      <a:srgbClr val="1A2E3B"/>
                    </a:solidFill>
                    <a:latin typeface="Arial"/>
                  </a:defRPr>
                </a:pPr>
              </a:p>
            </c:txPr>
            <c:showLegendKey val="0"/>
            <c:showVal val="1"/>
            <c:showCatName val="0"/>
            <c:showSerName val="0"/>
            <c:showPercent val="0"/>
            <c:showBubbleSize val="0"/>
            <c:showLeaderLines val="0"/>
          </c:dLbls>
          <c:dPt>
            <c:idx val="0"/>
            <c:invertIfNegative val="0"/>
            <c:bubble3D val="0"/>
            <c:spPr>
              <a:solidFill>
                <a:srgbClr val="02C39A"/>
              </a:solidFill>
              <a:effectLst/>
            </c:spPr>
          </c:dPt>
          <c:dPt>
            <c:idx val="1"/>
            <c:invertIfNegative val="0"/>
            <c:bubble3D val="0"/>
            <c:spPr>
              <a:solidFill>
                <a:srgbClr val="F9A825"/>
              </a:solidFill>
              <a:effectLst/>
            </c:spPr>
          </c:dPt>
          <c:dPt>
            <c:idx val="2"/>
            <c:invertIfNegative val="0"/>
            <c:bubble3D val="0"/>
            <c:spPr>
              <a:solidFill>
                <a:srgbClr val="E53935"/>
              </a:solidFill>
              <a:effectLst/>
            </c:spPr>
          </c:dPt>
          <c:dPt>
            <c:idx val="3"/>
            <c:invertIfNegative val="0"/>
            <c:bubble3D val="0"/>
            <c:spPr>
              <a:solidFill>
                <a:srgbClr val="E53935"/>
              </a:solidFill>
              <a:effectLst/>
            </c:spPr>
          </c:dPt>
          <c:cat>
            <c:multiLvlStrRef>
              <c:f>Sheet1!$A$2:$A$5</c:f>
              <c:multiLvlStrCache>
                <c:ptCount val="4"/>
                <c:lvl>
                  <c:pt idx="0">
                    <c:v>Passed</c:v>
                  </c:pt>
                  <c:pt idx="1">
                    <c:v>Missing unit (dim-less)</c:v>
                  </c:pt>
                  <c:pt idx="2">
                    <c:v>Inline unit value</c:v>
                  </c:pt>
                  <c:pt idx="3">
                    <c:v>Out-of-range</c:v>
                  </c:pt>
                </c:lvl>
              </c:multiLvlStrCache>
            </c:multiLvlStrRef>
          </c:cat>
          <c:val>
            <c:numRef>
              <c:f>Sheet1!$B$2:$B$5</c:f>
              <c:numCache>
                <c:formatCode>General</c:formatCode>
                <c:ptCount val="4"/>
                <c:pt idx="0">
                  <c:v>76</c:v>
                </c:pt>
                <c:pt idx="1">
                  <c:v>15</c:v>
                </c:pt>
                <c:pt idx="2">
                  <c:v>8</c:v>
                </c:pt>
                <c:pt idx="3">
                  <c:v>1</c:v>
                </c:pt>
              </c:numCache>
            </c:numRef>
          </c:val>
        </c:ser>
        <c:dLbls>
          <c:numFmt formatCode="#,##0" sourceLinked="0"/>
          <c:txPr>
            <a:bodyPr/>
            <a:lstStyle/>
            <a:p>
              <a:pPr>
                <a:defRPr b="0" i="0" strike="noStrike" sz="1200" u="none">
                  <a:solidFill>
                    <a:srgbClr val="1A2E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A6278"/>
                </a:solidFill>
                <a:latin typeface="Arial"/>
              </a:defRPr>
            </a:pPr>
            <a:endParaRPr lang="en-US"/>
          </a:p>
        </c:txPr>
        <c:crossAx val="2094734552"/>
        <c:crosses val="autoZero"/>
        <c:auto val="1"/>
        <c:lblAlgn val="ctr"/>
        <c:noMultiLvlLbl val="1"/>
      </c:catAx>
      <c:valAx>
        <c:axId val="2094734552"/>
        <c:scaling>
          <c:orientation val="minMax"/>
          <c:max val="10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4A6278"/>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 — TITLE  [~30 seconds]</a:t>
            </a:r>
          </a:p>
          <a:p/>
          <a:p>
            <a:r>
              <a:t>Good [morning / afternoon], everyone. My name is Mathias Heider, and today I'm presenting the AIM Composites Materials Database — an AI-assisted, open-source repository for thermoplastic composite property data. This project was developed as part of ME8930, AI for Composites and Manufacturing, and is a joint research effort between Clemson University and the University of Delaware, in collaboration with Abhijit from the AIM Composites team.</a:t>
            </a:r>
          </a:p>
          <a:p/>
          <a:p>
            <a:r>
              <a:t>Before I dive in, let me tell you what problem this project is actually trying to solve, because I think the motivation is more interesting than the system itself. The core issue is a data problem — and it turns out that for machine learning in composites engineering, the data problem is almost entirely about extraction from unstructured documents. That's where AI comes in.</a:t>
            </a:r>
          </a:p>
          <a:p/>
          <a:p>
            <a:r>
              <a:t>We'll go through the background, the system architecture, a live demo of the running application, and some early results from our autonomous ingestion work. Let's get started.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 — AGENDA  [~45 seconds]</a:t>
            </a:r>
          </a:p>
          <a:p/>
          <a:p>
            <a:r>
              <a:t>Here's our road map. We'll spend roughly two minutes on the motivation — why this problem matters for machine learning in composites. Then a quick look at the existing landscape — databases and extraction tools that already exist and why they're not enough. After that I'll walk through the system we built: the database design, the architecture, and the Gemini-based extraction pipeline.</a:t>
            </a:r>
          </a:p>
          <a:p/>
          <a:p>
            <a:r>
              <a:t>Then we'll look at the three user-facing workflows — browsing, manual upload, and PDF-assisted upload — followed by a snapshot of the data we have loaded today and the quality issues we've found.</a:t>
            </a:r>
          </a:p>
          <a:p/>
          <a:p>
            <a:r>
              <a:t>The centerpiece of the talk is the live demo in the middle — I'll walk through the running Hugging Face Space so you can see the system actually working. After the demo we'll look at the path toward fully autonomous ingestion, the batch prototype results, and I'll close with what we're building next.</a:t>
            </a:r>
          </a:p>
          <a:p/>
          <a:p>
            <a:r>
              <a:t>Feel free to hold questions for the end, but if something is genuinely confusing, speak up — I'd rather clarify in the moment.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 — THE PROBLEM  [~2 minutes]</a:t>
            </a:r>
          </a:p>
          <a:p/>
          <a:p>
            <a:r>
              <a:t>Let me set the stage. Machine learning for composites engineering is a genuinely exciting research area. People are building models that predict laminate stiffness from ply angles, that do inverse design — "give me a layup that achieves this modulus" — and that model process-quality relationships in automated fiber placement. These are hard problems, and ML has a lot to offer.</a:t>
            </a:r>
          </a:p>
          <a:p/>
          <a:p>
            <a:r>
              <a:t>But every single one of those models shares the same fundamental bottleneck: training data. And not just any data — you need structured, queryable, property-level data with test conditions attached. You need to know not just that PEEK has a tensile modulus of roughly 3.6 GPa, but at what temperature, at what strain rate, in which fiber volume fraction, from which source.</a:t>
            </a:r>
          </a:p>
          <a:p/>
          <a:p>
            <a:r>
              <a:t>The problem is that data is almost entirely locked inside PDFs. Manufacturer datasheets, journal papers, technical reports — they contain exactly what we need, but in a format that is completely opaque to a database or a training pipeline. You cannot run a SQL query against a PDF. You cannot export it to a pandas DataFrame. A graduate student has to read it, understand it, and manually copy values into a spreadsheet. That is the state of the field today.</a:t>
            </a:r>
          </a:p>
          <a:p/>
          <a:p>
            <a:r>
              <a:t>Public databases do exist — MatWeb has over 160,000 material datasheets — but they're paywalled, the test conditions are often absent, and for thermoplastic composites specifically, the coverage is thin. Granta MI from Ansys is the most comprehensive tool available, but it's an enterprise product that most academic research groups simply can't afford.</a:t>
            </a:r>
          </a:p>
          <a:p/>
          <a:p>
            <a:r>
              <a:t>The result: no widely accepted open repository for thermoplastic composite property data. That's the gap we're filling.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 — RELATED WORK  [~2 minutes]</a:t>
            </a:r>
          </a:p>
          <a:p/>
          <a:p>
            <a:r>
              <a:t>Let me be precise about what exists and where it falls short, because I don't want to overstate our contribution — there's good prior work here.</a:t>
            </a:r>
          </a:p>
          <a:p/>
          <a:p>
            <a:r>
              <a:t>On the database side: MatWeb is the standard reference for polymer properties. It's large, it's been around since 1996, and it covers metals, ceramics, polymers, and composites. But the moment you need test conditions — what temperature was that tensile modulus measured at? what fiber volume fraction? — MatWeb gives you almost nothing. And bulk data export requires a paid subscription, which means you can't easily use it as a training set.</a:t>
            </a:r>
          </a:p>
          <a:p/>
          <a:p>
            <a:r>
              <a:t>Granta MI from Ansys is a different beast — it includes CMH-17 allowables, NCAMP-qualified data, and AGATE project results. If you're doing aerospace certification work on thermoset prepregs, Granta MI is what you want. But for thermoplastic composites in high-rate manufacturing — which is what we care about — the coverage is sparse. And the price puts it out of reach for most academic groups.</a:t>
            </a:r>
          </a:p>
          <a:p/>
          <a:p>
            <a:r>
              <a:t>CMH-17, the Composite Materials Handbook, is the gold standard for aerospace allowables. But it isn't freely available in bulk queryable form, the statistical sampling requirements for qualification are extremely demanding, and thermoplastic composites are severely underrepresented.</a:t>
            </a:r>
          </a:p>
          <a:p/>
          <a:p>
            <a:r>
              <a:t>On the extraction side, the literature has moved quickly. ChemDataExtractor showed you could build NLP pipelines that achieve 93% F-score on chemical entity extraction, and that approach has been used to build databases of 720,000 stress-strain records automatically. More recently, LLM-based approaches have taken over. A 2024 study by Liang et al. systematically evaluated GPT-4 and Gemini on thermoelectric property extraction and found GPT-4 achieves F1 of about 0.91, while Gemini shows uneven quality on categorical descriptors. Critically, all of these studies agree on one thing: structured output prompting — where you force the model to emit a fixed JSON schema — substantially reduces hallucination compared to free-text generation. That's the design principle we adopted.</a:t>
            </a:r>
          </a:p>
          <a:p/>
          <a:p>
            <a:r>
              <a:t>The gap: none of this has been turned into an open, FAIR-compliant, queryable database for thermoplastic composite experimental data. That's what we're building.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5 — WHAT WE BUILT  [~90 seconds]</a:t>
            </a:r>
          </a:p>
          <a:p/>
          <a:p>
            <a:r>
              <a:t>So let me show you the system. It has four components connected in a simple pipeline.</a:t>
            </a:r>
          </a:p>
          <a:p/>
          <a:p>
            <a:r>
              <a:t>At the bottom is storage: a PostgreSQL database hosted externally, with connection parameters supplied to the application via environment variables. The schema uses three tables — Polymers, Fibers, and Composites — all sharing an entity-attribute-value layout that I'll explain in more detail on the next slide.</a:t>
            </a:r>
          </a:p>
          <a:p/>
          <a:p>
            <a:r>
              <a:t>On top of that is a Streamlit web application with four pages: Home, Categorized Search, Upload Data, and a Contact page. The application talks to the database through a SQLAlchemy data layer with thin helpers for reads and writes. Streamlit was chosen because it lets you ship a functional data app very quickly in pure Python, with no frontend JavaScript required.</a:t>
            </a:r>
          </a:p>
          <a:p/>
          <a:p>
            <a:r>
              <a:t>The AI pipeline is Google Gemini 2.5 Flash with structured JSON output. When a user uploads a PDF, the backend calls the Gemini API with the PDF base64-encoded inline, a responseSchema that enforces the exact JSON shape we want, and temperature set to zero for deterministic extraction. I'll walk through this in detail on slide seven.</a:t>
            </a:r>
          </a:p>
          <a:p/>
          <a:p>
            <a:r>
              <a:t>And the whole thing is deployed as a public Docker container on Hugging Face Spaces — python:3.11-slim, port 7860, running streamlit run app.py on container start. Hugging Face Spaces gives you free hosting for open-source apps, and it means anyone in the world can use this database right now without installing anything.</a:t>
            </a:r>
          </a:p>
          <a:p/>
          <a:p>
            <a:r>
              <a:t>The key numbers at the bottom: 289 property rows loaded, four polymer materials in the seed, fully public and open-source.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6 — DATABASE DESIGN  [~2 minutes]</a:t>
            </a:r>
          </a:p>
          <a:p/>
          <a:p>
            <a:r>
              <a:t>The schema is the most important design decision in this project, so let me spend some time on it.</a:t>
            </a:r>
          </a:p>
          <a:p/>
          <a:p>
            <a:r>
              <a:t>Each property observation is stored as one row. That row has nine columns: material name and abbreviation to identify the material, section and property name to categorize the property, value and unit to store the measurement, an english field for imperial equivalents when the source reports both, test condition for the measurement context, and comments for notes and references.</a:t>
            </a:r>
          </a:p>
          <a:p/>
          <a:p>
            <a:r>
              <a:t>The key insight is what we're NOT storing: there's no wide table with one column per property. We're not storing tensile modulus in column A and glass transition temperature in column B. Instead, both of those are rows, differentiated by the property name column. This is the entity-attribute-value pattern.</a:t>
            </a:r>
          </a:p>
          <a:p/>
          <a:p>
            <a:r>
              <a:t>Why EAV? Four reasons. First, sparsity: any given manufacturer datasheet covers maybe 20 of the 200 possible properties. A wide table would be 90% NULLs. Second, the taxonomy is open: new properties appear in new papers, and adding a property in EAV means inserting a new row. In a wide table it means adding a column and running a schema migration — much more disruptive. Third, per-row provenance: each measurement has its own test conditions, and keeping those alongside the value in the same row avoids a messy join structure. Fourth, three material classes: we have separate tables for Polymers, Fibers, and Composites, so the class is encoded by which table the row lives in, not by a type column.</a:t>
            </a:r>
          </a:p>
          <a:p/>
          <a:p>
            <a:r>
              <a:t>The trade-off — and I want to be honest about this — is that aggregation queries become more verbose. "Give me the tensile modulus for all PEEK grades in the database" requires filtering on the property_name column rather than selecting a column directly. And unit consistency can't be enforced by the schema; it has to be done in application code. Those are real costs, and we saw them show up in the data quality issues I'll cover in a few slides.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7 — GEMINI EXTRACTION PIPELINE  [~2 minutes]</a:t>
            </a:r>
          </a:p>
          <a:p/>
          <a:p>
            <a:r>
              <a:t>This is the technical heart of the project. Let me walk through each of the four steps.</a:t>
            </a:r>
          </a:p>
          <a:p/>
          <a:p>
            <a:r>
              <a:t>Step one: the user drops a PDF — a manufacturer datasheet, a journal paper, a technical report. The backend reads it as bytes and base64-encodes it. The encoded PDF is sent inline in the API request body, which means Gemini receives the full document without any pre-processing on our side.</a:t>
            </a:r>
          </a:p>
          <a:p/>
          <a:p>
            <a:r>
              <a:t>Step two: the API request includes a responseSchema field in the generation config. This is a JSON Schema object that defines exactly the structure we want back: a top-level material name, abbreviation, trade grade, manufacturer, and an array of property objects. Each property object has section, property name, value, unit, english equivalent, test condition, and comments. By setting responseMimeType to application/json, we tell Gemini to emit only valid JSON — no markdown, no prose wrapping, no explanation. And temperature is set to zero, which makes the output deterministic: the same PDF submitted twice produces the same extraction.</a:t>
            </a:r>
          </a:p>
          <a:p/>
          <a:p>
            <a:r>
              <a:t>Step three: the system prompt frames the model as an expert materials scientist. It explicitly enumerates all the property categories we care about — Mechanical, Thermal, Electrical, Physical, Optical, Rheological, Processing — and instructs the model to extract everything it finds in a single flat list, not nested by category. The prompt also specifies that missing fields should be written as empty strings, never as null, which prevents DataFrame construction errors downstream.</a:t>
            </a:r>
          </a:p>
          <a:p/>
          <a:p>
            <a:r>
              <a:t>Step four: the JSON response is parsed and flattened into a pandas DataFrame whose columns match the EAV schema exactly. Separately and in parallel, a PyMuPDF and OpenCV pipeline extracts plot images from the PDF — it detects figures using contour analysis, captions them using regex matching on "Fig." labels, and maps each figure to a nearby property row.</a:t>
            </a:r>
          </a:p>
          <a:p/>
          <a:p>
            <a:r>
              <a:t>The whole thing runs in about 10 to 25 seconds per PDF, dominated by Gemini API latency.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8 — USER WORKFLOWS  [~90 seconds]</a:t>
            </a:r>
          </a:p>
          <a:p/>
          <a:p>
            <a:r>
              <a:t>There are three ways to interact with the system.</a:t>
            </a:r>
          </a:p>
          <a:p/>
          <a:p>
            <a:r>
              <a:t>The first is browsing. The Categorized Search page is the primary read interface. You pick a material class — Composite, Polymer, or Fiber. For composites, you can additionally filter by matrix material or fiber type. You then search by name or abbreviation. The system returns a paginated table of matching materials, 50 per page. When you select a row, an Inspect tab opens where you choose a property and see the full row data — value, unit, test condition, comments — plus any associated plot image that was extracted from the source PDF. The matrix and fiber filters work by parsing material abbreviations with a regex-based extractor that maps common substrings like 'peek' or 'carbon' onto canonical labels.</a:t>
            </a:r>
          </a:p>
          <a:p/>
          <a:p>
            <a:r>
              <a:t>The second is manual upload. This is a form-based entry mode for when you're adding data from a source you're reading yourself. You pick a material class, then a property category, then select a canonical property name from a curated dropdown — or choose 'Something else' to enter free text. Then you fill in the material name, value, unit, English equivalent, test condition, and comments. One click inserts a single row.</a:t>
            </a:r>
          </a:p>
          <a:p/>
          <a:p>
            <a:r>
              <a:t>The third is PDF-assisted upload — this is the main ingestion path. You drag in a PDF. The backend calls Gemini, gets back the extracted properties, and displays them as a review table. You assign a material class, look over the rows, make any corrections, and click Add to Database. A second tab shows any plot figures the system detected — you drag each one onto the property row it belongs to, and the image is saved alongside that row in the database.</a:t>
            </a:r>
          </a:p>
          <a:p/>
          <a:p>
            <a:r>
              <a:t>I'll show all three of these in the live demo.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9 — CURRENT DATA &amp; QUALITY FINDINGS  [~90 seconds]</a:t>
            </a:r>
          </a:p>
          <a:p/>
          <a:p>
            <a:r>
              <a:t>Let me be transparent about where the database stands right now, because the numbers are modest and the quality issues are real.</a:t>
            </a:r>
          </a:p>
          <a:p/>
          <a:p>
            <a:r>
              <a:t>We have four polymer materials in the seed dataset: PTFE molded, ABS molded, PEKK unreinforced, and Nylon 66 unreinforced. Those four materials contribute approximately 289 property rows across six sections: Physical, Mechanical, Electrical, Thermal, Optical, and Processing. The Fibers and Composites tables are completely empty at this point. Populating those is the primary near-term data goal.</a:t>
            </a:r>
          </a:p>
          <a:p/>
          <a:p>
            <a:r>
              <a:t>Now, during seed review we found four recurring data quality issues, and I want to call these out because they're not edge cases — they represent systemic challenges in this kind of extraction work.</a:t>
            </a:r>
          </a:p>
          <a:p/>
          <a:p>
            <a:r>
              <a:t>First: unit inconsistency. Some rows have an explicit empty string for dimensionless properties like Shore D hardness or coefficient of friction. Others omit the unit key entirely. And some value strings include the unit inline — something like "1.50 J/cm" — which completely breaks any attempt to parse the value as a float.</a:t>
            </a:r>
          </a:p>
          <a:p/>
          <a:p>
            <a:r>
              <a:t>Second: mixed unit systems. The schema intends for the value field to be SI, with imperial equivalents in the english field. But a small number of records mix both in the same value string.</a:t>
            </a:r>
          </a:p>
          <a:p/>
          <a:p>
            <a:r>
              <a:t>Third: duplicate property rows. This one is actually intentional — the same property measured at different temperatures or strain rates correctly appears as multiple rows. But it means a naive UNIQUE constraint on material plus property would reject legitimate data.</a:t>
            </a:r>
          </a:p>
          <a:p/>
          <a:p>
            <a:r>
              <a:t>Fourth, and most critically: no source attribution. We have no PDF, no DOI, no page number column. Provenance is captured informally in the comments field when the extraction model happens to pick it up, which is not reliable. This is the highest-priority schema fix.</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10 — MATERIAL TAXONOMY  [~60 seconds]</a:t>
            </a:r>
          </a:p>
          <a:p/>
          <a:p>
            <a:r>
              <a:t>Let me quickly walk through how we've organized the material space.</a:t>
            </a:r>
          </a:p>
          <a:p/>
          <a:p>
            <a:r>
              <a:t>There are three classes. Polymers covers neat thermoplastic and thermoset matrix candidates — think PEEK, PEI, PA66, ABS, PTFE, PEKK. Fibers covers reinforcement constituents: carbon, glass, aramid, basalt, natural fibers. And Composites covers fiber-reinforced laminates and molding compounds, characterized by their matrix, fiber, fiber volume fraction, fiber architecture, and processing route.</a:t>
            </a:r>
          </a:p>
          <a:p/>
          <a:p>
            <a:r>
              <a:t>Within each class, properties are grouped into up to ten sections. The universal sections — present for all three classes — are Mechanical, Thermal, Electrical, Physical, Optical, Rheological, Processing, and Descriptive. For Composites specifically, we add two more: Composition and Reinforcement, which captures fiber volume fraction and fiber type, and Architecture and Structure, which captures ply orientation, stacking sequence, and laminate geometry. Those are highlighted in yellow on the slide.</a:t>
            </a:r>
          </a:p>
          <a:p/>
          <a:p>
            <a:r>
              <a:t>Within each section, the upload UI presents a curated dropdown of canonical property names — things like Tensile modulus, Glass transition temperature Tg, Longitudinal modulus E1 — plus a free-text fallback labeled 'Something else' for properties that fall outside the curated list. The curated names act as a normalization layer: they ensure that the same property from different papers or datasheets ends up under the same key in the database, which is essential for downstream ML queries.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11 — LIVE DEMO  [~7 minutes — SCRIPTED]</a:t>
            </a:r>
          </a:p>
          <a:p/>
          <a:p>
            <a:r>
              <a:t>[Switch to browser — open: huggingface.co/spaces/aim4composites/MaterialsDatabase]</a:t>
            </a:r>
          </a:p>
          <a:p/>
          <a:p>
            <a:r>
              <a:t>"Alright, let me switch over to the live application. This is running right now on Hugging Face Spaces — anyone with the URL can use it."</a:t>
            </a:r>
          </a:p>
          <a:p/>
          <a:p>
            <a:r>
              <a:t>--- PART 1: BROWSE (~2 min) ---</a:t>
            </a:r>
          </a:p>
          <a:p>
            <a:r>
              <a:t>"I'll start with the Categorized Search page. I'll select Polymers as the material class, leave all filters open, and hit Search. You can see the paginated grid — here are our four seed materials."</a:t>
            </a:r>
          </a:p>
          <a:p/>
          <a:p>
            <a:r>
              <a:t>"Let me click on PEEK — or more precisely, on a PEEK row. The Inspect tab opens. I'll pick Tensile modulus from the property dropdown... and here's the row: value, unit, test condition. If there's a plot image attached, it would appear here. This is exactly the kind of structured, queryable data that downstream ML training needs."</a:t>
            </a:r>
          </a:p>
          <a:p/>
          <a:p>
            <a:r>
              <a:t>--- PART 2: PDF UPLOAD (~3 min) ---</a:t>
            </a:r>
          </a:p>
          <a:p>
            <a:r>
              <a:t>"Now let me show you the PDF-assisted upload. I'll go to Upload Data and switch to the PDF mode. I'm going to drag in a test datasheet..."</a:t>
            </a:r>
          </a:p>
          <a:p/>
          <a:p>
            <a:r>
              <a:t>[Drag PDF into upload widget]</a:t>
            </a:r>
          </a:p>
          <a:p/>
          <a:p>
            <a:r>
              <a:t>"The system is calling Gemini now — this takes about 10 to 20 seconds. While we wait — notice that we're not doing any pre-processing on the PDF. We're sending the raw bytes to Gemini and letting the model handle the parsing."</a:t>
            </a:r>
          </a:p>
          <a:p/>
          <a:p>
            <a:r>
              <a:t>[Extraction completes]</a:t>
            </a:r>
          </a:p>
          <a:p/>
          <a:p>
            <a:r>
              <a:t>"Here's the extracted property table. Gemini has pulled out the material name, abbreviation, and all the properties it found — section, property name, value, unit, test condition. I can scroll through and review these. If any row is wrong I can edit it in place."</a:t>
            </a:r>
          </a:p>
          <a:p/>
          <a:p>
            <a:r>
              <a:t>"I'll assign the material class as Polymer, and... Add to Database. Done."</a:t>
            </a:r>
          </a:p>
          <a:p/>
          <a:p>
            <a:r>
              <a:t>--- PART 3: BATCH SCRIPT (~2 min) ---</a:t>
            </a:r>
          </a:p>
          <a:p>
            <a:r>
              <a:t>[Switch to terminal]</a:t>
            </a:r>
          </a:p>
          <a:p/>
          <a:p>
            <a:r>
              <a:t>"Finally, let me show you the batch ingestion prototype. This is batch_ingest.py — you point it at a folder of PDFs, it runs the Gemini extraction on each one automatically, validates the rows, and writes a report."</a:t>
            </a:r>
          </a:p>
          <a:p/>
          <a:p>
            <a:r>
              <a:t>[Run: python batch_ingest.py --input ./pdfs --db ./materials_mirror.sqlite --report run_report.json]</a:t>
            </a:r>
          </a:p>
          <a:p/>
          <a:p>
            <a:r>
              <a:t>"You can see it processing each PDF... and at the end we get a run_report.json with per-PDF metrics and a review_queue.csv with any flagged rows. No human in the loop for this part."</a:t>
            </a:r>
          </a:p>
          <a:p/>
          <a:p>
            <a:r>
              <a:t>[Switch back to slides]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12 — TOWARD AUTONOMOUS INGESTION  [~2 minutes]</a:t>
            </a:r>
          </a:p>
          <a:p/>
          <a:p>
            <a:r>
              <a:t>What I just showed you is still semi-autonomous: a human supplies each PDF. The goal is to close the loop entirely — a system that finds relevant papers on its own, extracts structured data, validates it, and inserts it into the database without human intervention.</a:t>
            </a:r>
          </a:p>
          <a:p/>
          <a:p>
            <a:r>
              <a:t>We've designed this as a four-stage pipeline. Let me walk through each stage.</a:t>
            </a:r>
          </a:p>
          <a:p/>
          <a:p>
            <a:r>
              <a:t>Stage one is source discovery. Given a search intent — something like "PEEK CF UD composite tensile data at elevated temperature" — an agent queries structured academic APIs: Semantic Scholar, OpenAlex, and arXiv. It ranks candidates by relevance and recency, filters for documents that are likely to contain property data rather than just citing it, and downloads the top results. This stage doesn't exist yet; it's the next major piece to build.</a:t>
            </a:r>
          </a:p>
          <a:p/>
          <a:p>
            <a:r>
              <a:t>Stage two is extraction — the existing Gemini pipeline I just showed you. Importantly, this stage is already production-ready for autonomous use. The structured output schema and temperature-zero setting make it deterministic and robust enough to run without a human reviewer on most inputs.</a:t>
            </a:r>
          </a:p>
          <a:p/>
          <a:p>
            <a:r>
              <a:t>Stage three is validation. Each extracted row goes through a multi-step check: unit-string normalization using a lookup table of common unit representations; numeric parsing of the value field with detection of inline-unit strings; plausibility range checks per property — we know, for example, that a tensile modulus for a carbon fiber composite should be between about 10 and 350 GPa, so anything outside that range gets flagged; and deduplication against the existing database, keyed on the combination of material abbreviation, property name, and test condition.</a:t>
            </a:r>
          </a:p>
          <a:p/>
          <a:p>
            <a:r>
              <a:t>Stage four is insertion. Rows that pass validation are written to Postgres. Failures go to a review queue CSV. Every row, regardless of outcome, will eventually carry a foreign key to a sources table that records the PDF hash, the DOI if available, and the page number — so we always know where a value came from.</a:t>
            </a:r>
          </a:p>
          <a:p/>
          <a:p>
            <a:r>
              <a:t>The batch prototype I showed in the demo covers stages two through four on a fixed PDF corpus. Stage one — autonomous discovery — is what's coming next.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13 — BATCH PROTOTYPE RESULTS  [~2 minutes]</a:t>
            </a:r>
          </a:p>
          <a:p/>
          <a:p>
            <a:r>
              <a:t>Here are the numbers from running the prototype on a small test corpus of polymer datasheets. I want to be upfront: this is a characterization run, not a rigorous evaluation. We don't have a hand-labeled ground truth set yet, so I can't give you a precision-recall number. What I can give you is a breakdown of what the validation layer flagged and why.</a:t>
            </a:r>
          </a:p>
          <a:p/>
          <a:p>
            <a:r>
              <a:t>The first metric is throughput: 10 to 25 seconds per PDF, dominated almost entirely by the Gemini API round-trip. The extraction itself — parsing the JSON, flattening to a DataFrame, running the validation checks — takes under a second. So the bottleneck is API latency, which means throughput scales with how many parallel API calls we make, not with compute on our side.</a:t>
            </a:r>
          </a:p>
          <a:p/>
          <a:p>
            <a:r>
              <a:t>The validation breakdown: about 76% of rows pass without any flags. That's the green bar. About 15% are flagged for missing units. When I dug into those, the vast majority are dimensionless quantities — Shore D hardness, coefficient of friction, dielectric constant — where an empty unit string is actually correct. So this is a false positive rate problem with our unit checker, not an extraction quality problem. The checker currently treats any empty unit as suspicious; we need to maintain a list of known dimensionless properties to suppress those flags.</a:t>
            </a:r>
          </a:p>
          <a:p/>
          <a:p>
            <a:r>
              <a:t>About 5 to 10% of rows are flagged for inline-unit values — strings like "3.6 GPa" where the unit is embedded in the value field instead of being in the separate unit column. This IS a real extraction inconsistency from Gemini, and it's the most actionable quality issue we have. The fix is a post-processing step that detects and parses these strings before insertion.</a:t>
            </a:r>
          </a:p>
          <a:p/>
          <a:p>
            <a:r>
              <a:t>A small handful of rows are flagged for out-of-range numeric values — usually caused by Gemini misreading scientific notation or unit prefixes. These genuinely need human review.</a:t>
            </a:r>
          </a:p>
          <a:p/>
          <a:p>
            <a:r>
              <a:t>The deduplication result is exactly what we want: re-ingesting a previously seen PDF inserts zero new rows. The dedup logic is working correctly.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14 — KNOWN LIMITATIONS  [~90 seconds]</a:t>
            </a:r>
          </a:p>
          <a:p/>
          <a:p>
            <a:r>
              <a:t>I want to spend a moment being genuinely honest about what doesn't work yet, because I think intellectual honesty about limitations is more useful than overstating what we have.</a:t>
            </a:r>
          </a:p>
          <a:p/>
          <a:p>
            <a:r>
              <a:t>Number one: no provenance. This is the most serious limitation in the database. We have 289 property rows and for most of them we cannot tell you which PDF they came from, which page, or which DOI. That makes the data difficult to verify and not fully FAIR-compliant. Adding a sources table with a foreign key reference from every row is a non-negotiable prerequisite before this database can be used for serious research.</a:t>
            </a:r>
          </a:p>
          <a:p/>
          <a:p>
            <a:r>
              <a:t>Number two: schema rigidity for certain data types. The one-row-per-property EAV structure works well for scalar properties, but it struggles with things like full stress-strain curves, cure schedules, or multi-parameter processing windows. Right now those either get stored as free text in the comments field or as plot image files. That's a workaround, not a solution.</a:t>
            </a:r>
          </a:p>
          <a:p/>
          <a:p>
            <a:r>
              <a:t>Number three: keyword-based class routing. In the batch prototype, we assign a material class — Polymer, Fiber, or Composite — by keyword matching on the extracted material name. "Carbon" routes to Fiber; "fiber" routes to Composite; everything else routes to Polymer. This is fragile. An ambiguous trade name or an unusual abbreviation can get misrouted, and misrouted rows end up in the wrong table with no easy way to correct them at scale.</a:t>
            </a:r>
          </a:p>
          <a:p/>
          <a:p>
            <a:r>
              <a:t>Number four: no evaluation set. We have not formally measured extraction precision and recall against a labeled ground truth. Until we have that measurement, any accuracy claims we make are anecdotal.</a:t>
            </a:r>
          </a:p>
          <a:p/>
          <a:p>
            <a:r>
              <a:t>Number five: no source discovery. The batch prototype works on a folder of PDFs you provide manually. The source-discovery agent that would find and download relevant papers automatically is not yet built.</a:t>
            </a:r>
          </a:p>
          <a:p/>
          <a:p>
            <a:r>
              <a:t>Number six: empty tables. The Fibers and Composites tables have zero rows. The system is polymer-only today.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15 — NEXT STEPS  [~90 seconds]</a:t>
            </a:r>
          </a:p>
          <a:p/>
          <a:p>
            <a:r>
              <a:t>Let me close the technical content with the roadmap, organized by priority.</a:t>
            </a:r>
          </a:p>
          <a:p/>
          <a:p>
            <a:r>
              <a:t>P0 — the single most urgent thing — is adding a sources table and writing provenance for every row. Without provenance the data is not reproducible, not citable, and not FAIR. This is a schema migration plus a change to the insertion logic, and it's the first thing I'll work on after this presentation.</a:t>
            </a:r>
          </a:p>
          <a:p/>
          <a:p>
            <a:r>
              <a:t>P1 covers two items. First, a hand-labeled evaluation set of 50 to 100 rows, where we know exactly what Gemini should have extracted from a given PDF and can measure how close it got. That gives us an honest precision and recall number. Second, replacing the keyword-based class routing with a small classifier — even a simple logistic regression on the extracted material name and property list would be substantially more robust than keyword matching.</a:t>
            </a:r>
          </a:p>
          <a:p/>
          <a:p>
            <a:r>
              <a:t>P2 is where the project gets more ambitious. Source discovery: connecting to the OpenAlex, Semantic Scholar, and arXiv APIs, scoring papers for relevance, and autonomously downloading candidates for ingestion. This closes the final gap in the autonomous pipeline — once discovery is working, the system can grow its own corpus without human intervention. Also in P2: moving the validation rules from hardcoded Python into a configuration file, so a materials scientist who knows what plausible ranges look like can adjust them without touching code.</a:t>
            </a:r>
          </a:p>
          <a:p/>
          <a:p>
            <a:r>
              <a:t>P3 is systematic population of the Fibers and Composites tables. There are good public sources for fiber properties — manufacturer datasheets from Toray, Hexcel, SGL — and a growing body of published laminate property data. Getting those tables populated is what turns this from a polymer-only database into a genuinely useful ML training resource for the composites community.</a:t>
            </a:r>
          </a:p>
          <a:p/>
          <a:p>
            <a:r>
              <a:t>The project is actively developed, the code is fully open-source on Hugging Face, and we welcome contributions.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16 — THANK YOU / Q&amp;A  [~30 seconds + questions]</a:t>
            </a:r>
          </a:p>
          <a:p/>
          <a:p>
            <a:r>
              <a:t>Thank you. I want to close with a quick acknowledgment: this project is a joint effort with Abhijit from the Clemson and University of Delaware AIM Composites team, and I'm grateful to the ME8930 instructor for framing the autonomous-AI question in a way that gave this project its direction.</a:t>
            </a:r>
          </a:p>
          <a:p/>
          <a:p>
            <a:r>
              <a:t>The application is live right now at huggingface.co/spaces/aim4composites/MaterialsDatabase — you're welcome to try it during the Q&amp;A or afterward. Upload a datasheet, run a search, see what comes back.</a:t>
            </a:r>
          </a:p>
          <a:p/>
          <a:p>
            <a:r>
              <a:t>I'm happy to take questions on any part of the project — the schema design and the EAV trade-offs, the Gemini structured-output approach and how it compares to other extraction methods, the autonomous agent architecture, or what it would take to extend this to a different materials class.</a:t>
            </a:r>
          </a:p>
          <a:p/>
          <a:p>
            <a:r>
              <a:t>--- ANTICIPATED QUESTIONS ---</a:t>
            </a:r>
          </a:p>
          <a:p/>
          <a:p>
            <a:r>
              <a:t>Q: Why Gemini rather than GPT-4, given that Liang et al. found GPT-4 performs better?</a:t>
            </a:r>
          </a:p>
          <a:p>
            <a:r>
              <a:t>A: Two reasons. First, Gemini's native PDF support via the inline base64 encoding is significantly more convenient than OpenAI's file upload API for our use case. Second, we're running on Gemini 2.5 Flash which is a newer model than what Liang et al. evaluated — the quality gap they found may have narrowed. A direct head-to-head on our corpus is on the evaluation roadmap.</a:t>
            </a:r>
          </a:p>
          <a:p/>
          <a:p>
            <a:r>
              <a:t>Q: How does the EAV schema handle composite-specific properties like E1, E2, G12?</a:t>
            </a:r>
          </a:p>
          <a:p>
            <a:r>
              <a:t>A: They're stored as regular rows with the property_name set to the canonical name — 'Longitudinal modulus (E1)', 'Transverse modulus (E2)', and so on. The Composites table additionally has the Composition and Architecture sections which capture fiber volume fraction, stacking sequence, and ply orientation — metadata that's essential for interpreting those laminate-level properties.</a:t>
            </a:r>
          </a:p>
          <a:p/>
          <a:p>
            <a:r>
              <a:t>Q: What's the plan for getting this into a form that can actually train ML models?</a:t>
            </a:r>
          </a:p>
          <a:p>
            <a:r>
              <a:t>A: The immediate goal is populating the Fibers and Composites tables, adding provenance, and running the evaluation. Once we have a few thousand validated rows with test conditions, we can export the database directly to a pandas DataFrame and use it as a training set. The schema was designed with that export in mind — every property row has the information you need to construct a feature vector.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1B2E"/>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2C39A"/>
          </a:solidFill>
          <a:ln w="12700">
            <a:solidFill>
              <a:srgbClr val="02C39A"/>
            </a:solidFill>
            <a:prstDash val="solid"/>
          </a:ln>
        </p:spPr>
      </p:sp>
      <p:sp>
        <p:nvSpPr>
          <p:cNvPr id="3" name="Shape 1"/>
          <p:cNvSpPr/>
          <p:nvPr/>
        </p:nvSpPr>
        <p:spPr>
          <a:xfrm>
            <a:off x="201168" y="0"/>
            <a:ext cx="109728" cy="5143500"/>
          </a:xfrm>
          <a:prstGeom prst="rect">
            <a:avLst/>
          </a:prstGeom>
          <a:solidFill>
            <a:srgbClr val="065A82"/>
          </a:solidFill>
          <a:ln w="12700">
            <a:solidFill>
              <a:srgbClr val="065A82"/>
            </a:solidFill>
            <a:prstDash val="solid"/>
          </a:ln>
        </p:spPr>
      </p:sp>
      <p:sp>
        <p:nvSpPr>
          <p:cNvPr id="4" name="Shape 2"/>
          <p:cNvSpPr/>
          <p:nvPr/>
        </p:nvSpPr>
        <p:spPr>
          <a:xfrm>
            <a:off x="502920" y="347472"/>
            <a:ext cx="2194560" cy="292608"/>
          </a:xfrm>
          <a:prstGeom prst="rect">
            <a:avLst/>
          </a:prstGeom>
          <a:solidFill>
            <a:srgbClr val="1C7293"/>
          </a:solidFill>
          <a:ln w="12700">
            <a:solidFill>
              <a:srgbClr val="1C7293"/>
            </a:solidFill>
            <a:prstDash val="solid"/>
          </a:ln>
        </p:spPr>
      </p:sp>
      <p:sp>
        <p:nvSpPr>
          <p:cNvPr id="5" name="Text 3"/>
          <p:cNvSpPr/>
          <p:nvPr/>
        </p:nvSpPr>
        <p:spPr>
          <a:xfrm>
            <a:off x="502920" y="347472"/>
            <a:ext cx="2194560" cy="29260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ME8930  |  AI for Composites and Manufacturing</a:t>
            </a:r>
            <a:endParaRPr lang="en-US" sz="800" dirty="0"/>
          </a:p>
        </p:txBody>
      </p:sp>
      <p:sp>
        <p:nvSpPr>
          <p:cNvPr id="6" name="Text 4"/>
          <p:cNvSpPr/>
          <p:nvPr/>
        </p:nvSpPr>
        <p:spPr>
          <a:xfrm>
            <a:off x="502920" y="804672"/>
            <a:ext cx="6217920" cy="1828800"/>
          </a:xfrm>
          <a:prstGeom prst="rect">
            <a:avLst/>
          </a:prstGeom>
          <a:noFill/>
          <a:ln/>
        </p:spPr>
        <p:txBody>
          <a:bodyPr wrap="square" rtlCol="0" anchor="t"/>
          <a:lstStyle/>
          <a:p>
            <a:pPr algn="l" indent="0" marL="0">
              <a:buNone/>
            </a:pPr>
            <a:r>
              <a:rPr lang="en-US" sz="4000" b="1" dirty="0">
                <a:solidFill>
                  <a:srgbClr val="FFFFFF"/>
                </a:solidFill>
                <a:latin typeface="Georgia" pitchFamily="34" charset="0"/>
                <a:ea typeface="Georgia" pitchFamily="34" charset="-122"/>
                <a:cs typeface="Georgia" pitchFamily="34" charset="-120"/>
              </a:rPr>
              <a:t>AIM Composites</a:t>
            </a:r>
            <a:endParaRPr lang="en-US" sz="4000" dirty="0"/>
          </a:p>
          <a:p>
            <a:pPr algn="l" indent="0" marL="0">
              <a:buNone/>
            </a:pPr>
            <a:r>
              <a:rPr lang="en-US" sz="4000" b="1" dirty="0">
                <a:solidFill>
                  <a:srgbClr val="FFFFFF"/>
                </a:solidFill>
                <a:latin typeface="Georgia" pitchFamily="34" charset="0"/>
                <a:ea typeface="Georgia" pitchFamily="34" charset="-122"/>
                <a:cs typeface="Georgia" pitchFamily="34" charset="-120"/>
              </a:rPr>
              <a:t>Materials Database</a:t>
            </a:r>
            <a:endParaRPr lang="en-US" sz="4000" dirty="0"/>
          </a:p>
        </p:txBody>
      </p:sp>
      <p:sp>
        <p:nvSpPr>
          <p:cNvPr id="7" name="Text 5"/>
          <p:cNvSpPr/>
          <p:nvPr/>
        </p:nvSpPr>
        <p:spPr>
          <a:xfrm>
            <a:off x="502920" y="2606040"/>
            <a:ext cx="5943600" cy="457200"/>
          </a:xfrm>
          <a:prstGeom prst="rect">
            <a:avLst/>
          </a:prstGeom>
          <a:noFill/>
          <a:ln/>
        </p:spPr>
        <p:txBody>
          <a:bodyPr wrap="square" lIns="0" tIns="0" rIns="0" bIns="0" rtlCol="0" anchor="ctr"/>
          <a:lstStyle/>
          <a:p>
            <a:pPr indent="0" marL="0">
              <a:buNone/>
            </a:pPr>
            <a:r>
              <a:rPr lang="en-US" sz="1400" i="1" dirty="0">
                <a:solidFill>
                  <a:srgbClr val="9EC8E0"/>
                </a:solidFill>
                <a:latin typeface="Calibri" pitchFamily="34" charset="0"/>
                <a:ea typeface="Calibri" pitchFamily="34" charset="-122"/>
                <a:cs typeface="Calibri" pitchFamily="34" charset="-120"/>
              </a:rPr>
              <a:t>An AI-Assisted Repository for Composite Thermoplastic Property Data</a:t>
            </a:r>
            <a:endParaRPr lang="en-US" sz="1400" dirty="0"/>
          </a:p>
        </p:txBody>
      </p:sp>
      <p:sp>
        <p:nvSpPr>
          <p:cNvPr id="8" name="Shape 6"/>
          <p:cNvSpPr/>
          <p:nvPr/>
        </p:nvSpPr>
        <p:spPr>
          <a:xfrm>
            <a:off x="502920" y="3246120"/>
            <a:ext cx="4114800" cy="54864"/>
          </a:xfrm>
          <a:prstGeom prst="rect">
            <a:avLst/>
          </a:prstGeom>
          <a:solidFill>
            <a:srgbClr val="02C39A"/>
          </a:solidFill>
          <a:ln w="12700">
            <a:solidFill>
              <a:srgbClr val="02C39A"/>
            </a:solidFill>
            <a:prstDash val="solid"/>
          </a:ln>
        </p:spPr>
      </p:sp>
      <p:sp>
        <p:nvSpPr>
          <p:cNvPr id="9" name="Text 7"/>
          <p:cNvSpPr/>
          <p:nvPr/>
        </p:nvSpPr>
        <p:spPr>
          <a:xfrm>
            <a:off x="502920" y="3364992"/>
            <a:ext cx="5029200" cy="292608"/>
          </a:xfrm>
          <a:prstGeom prst="rect">
            <a:avLst/>
          </a:prstGeom>
          <a:noFill/>
          <a:ln/>
        </p:spPr>
        <p:txBody>
          <a:bodyPr wrap="square" lIns="0" tIns="0" rIns="0" bIns="0" rtlCol="0" anchor="ctr"/>
          <a:lstStyle/>
          <a:p>
            <a:pPr indent="0" marL="0">
              <a:buNone/>
            </a:pPr>
            <a:r>
              <a:rPr lang="en-US" sz="1200" dirty="0">
                <a:solidFill>
                  <a:srgbClr val="9EC8E0"/>
                </a:solidFill>
                <a:latin typeface="Calibri" pitchFamily="34" charset="0"/>
                <a:ea typeface="Calibri" pitchFamily="34" charset="-122"/>
                <a:cs typeface="Calibri" pitchFamily="34" charset="-120"/>
              </a:rPr>
              <a:t>Mathias Heider   |   Joint work with Abhijit (Clemson + UDel)</a:t>
            </a:r>
            <a:endParaRPr lang="en-US" sz="1200" dirty="0"/>
          </a:p>
        </p:txBody>
      </p:sp>
      <p:sp>
        <p:nvSpPr>
          <p:cNvPr id="10" name="Text 8"/>
          <p:cNvSpPr/>
          <p:nvPr/>
        </p:nvSpPr>
        <p:spPr>
          <a:xfrm>
            <a:off x="502920" y="3639312"/>
            <a:ext cx="1828800" cy="256032"/>
          </a:xfrm>
          <a:prstGeom prst="rect">
            <a:avLst/>
          </a:prstGeom>
          <a:noFill/>
          <a:ln/>
        </p:spPr>
        <p:txBody>
          <a:bodyPr wrap="square" lIns="0" tIns="0" rIns="0" bIns="0" rtlCol="0" anchor="ctr"/>
          <a:lstStyle/>
          <a:p>
            <a:pPr indent="0" marL="0">
              <a:buNone/>
            </a:pPr>
            <a:r>
              <a:rPr lang="en-US" sz="1100" dirty="0">
                <a:solidFill>
                  <a:srgbClr val="7F9BAD"/>
                </a:solidFill>
                <a:latin typeface="Calibri" pitchFamily="34" charset="0"/>
                <a:ea typeface="Calibri" pitchFamily="34" charset="-122"/>
                <a:cs typeface="Calibri" pitchFamily="34" charset="-120"/>
              </a:rPr>
              <a:t>May 2026</a:t>
            </a:r>
            <a:endParaRPr lang="en-US" sz="1100" dirty="0"/>
          </a:p>
        </p:txBody>
      </p:sp>
      <p:sp>
        <p:nvSpPr>
          <p:cNvPr id="11" name="Shape 9"/>
          <p:cNvSpPr/>
          <p:nvPr/>
        </p:nvSpPr>
        <p:spPr>
          <a:xfrm>
            <a:off x="6858000" y="457200"/>
            <a:ext cx="566928" cy="384048"/>
          </a:xfrm>
          <a:prstGeom prst="rect">
            <a:avLst/>
          </a:prstGeom>
          <a:solidFill>
            <a:srgbClr val="1C7293">
              <a:alpha val="18000"/>
            </a:srgbClr>
          </a:solidFill>
          <a:ln w="12700">
            <a:solidFill>
              <a:srgbClr val="1C7293">
                <a:alpha val="40000"/>
              </a:srgbClr>
            </a:solidFill>
            <a:prstDash val="solid"/>
          </a:ln>
        </p:spPr>
      </p:sp>
      <p:sp>
        <p:nvSpPr>
          <p:cNvPr id="12" name="Shape 10"/>
          <p:cNvSpPr/>
          <p:nvPr/>
        </p:nvSpPr>
        <p:spPr>
          <a:xfrm>
            <a:off x="7516368" y="457200"/>
            <a:ext cx="566928" cy="384048"/>
          </a:xfrm>
          <a:prstGeom prst="rect">
            <a:avLst/>
          </a:prstGeom>
          <a:solidFill>
            <a:srgbClr val="1C7293">
              <a:alpha val="18000"/>
            </a:srgbClr>
          </a:solidFill>
          <a:ln w="12700">
            <a:solidFill>
              <a:srgbClr val="1C7293">
                <a:alpha val="40000"/>
              </a:srgbClr>
            </a:solidFill>
            <a:prstDash val="solid"/>
          </a:ln>
        </p:spPr>
      </p:sp>
      <p:sp>
        <p:nvSpPr>
          <p:cNvPr id="13" name="Shape 11"/>
          <p:cNvSpPr/>
          <p:nvPr/>
        </p:nvSpPr>
        <p:spPr>
          <a:xfrm>
            <a:off x="8174736" y="457200"/>
            <a:ext cx="566928" cy="384048"/>
          </a:xfrm>
          <a:prstGeom prst="rect">
            <a:avLst/>
          </a:prstGeom>
          <a:solidFill>
            <a:srgbClr val="1C7293">
              <a:alpha val="18000"/>
            </a:srgbClr>
          </a:solidFill>
          <a:ln w="12700">
            <a:solidFill>
              <a:srgbClr val="1C7293">
                <a:alpha val="40000"/>
              </a:srgbClr>
            </a:solidFill>
            <a:prstDash val="solid"/>
          </a:ln>
        </p:spPr>
      </p:sp>
      <p:sp>
        <p:nvSpPr>
          <p:cNvPr id="14" name="Shape 12"/>
          <p:cNvSpPr/>
          <p:nvPr/>
        </p:nvSpPr>
        <p:spPr>
          <a:xfrm>
            <a:off x="6858000" y="960120"/>
            <a:ext cx="566928" cy="384048"/>
          </a:xfrm>
          <a:prstGeom prst="rect">
            <a:avLst/>
          </a:prstGeom>
          <a:solidFill>
            <a:srgbClr val="1C7293">
              <a:alpha val="18000"/>
            </a:srgbClr>
          </a:solidFill>
          <a:ln w="12700">
            <a:solidFill>
              <a:srgbClr val="1C7293">
                <a:alpha val="40000"/>
              </a:srgbClr>
            </a:solidFill>
            <a:prstDash val="solid"/>
          </a:ln>
        </p:spPr>
      </p:sp>
      <p:sp>
        <p:nvSpPr>
          <p:cNvPr id="15" name="Shape 13"/>
          <p:cNvSpPr/>
          <p:nvPr/>
        </p:nvSpPr>
        <p:spPr>
          <a:xfrm>
            <a:off x="7516368" y="960120"/>
            <a:ext cx="566928" cy="384048"/>
          </a:xfrm>
          <a:prstGeom prst="rect">
            <a:avLst/>
          </a:prstGeom>
          <a:solidFill>
            <a:srgbClr val="1C7293">
              <a:alpha val="18000"/>
            </a:srgbClr>
          </a:solidFill>
          <a:ln w="12700">
            <a:solidFill>
              <a:srgbClr val="1C7293">
                <a:alpha val="40000"/>
              </a:srgbClr>
            </a:solidFill>
            <a:prstDash val="solid"/>
          </a:ln>
        </p:spPr>
      </p:sp>
      <p:sp>
        <p:nvSpPr>
          <p:cNvPr id="16" name="Shape 14"/>
          <p:cNvSpPr/>
          <p:nvPr/>
        </p:nvSpPr>
        <p:spPr>
          <a:xfrm>
            <a:off x="8174736" y="960120"/>
            <a:ext cx="566928" cy="384048"/>
          </a:xfrm>
          <a:prstGeom prst="rect">
            <a:avLst/>
          </a:prstGeom>
          <a:solidFill>
            <a:srgbClr val="1C7293">
              <a:alpha val="18000"/>
            </a:srgbClr>
          </a:solidFill>
          <a:ln w="12700">
            <a:solidFill>
              <a:srgbClr val="1C7293">
                <a:alpha val="40000"/>
              </a:srgbClr>
            </a:solidFill>
            <a:prstDash val="solid"/>
          </a:ln>
        </p:spPr>
      </p:sp>
      <p:sp>
        <p:nvSpPr>
          <p:cNvPr id="17" name="Shape 15"/>
          <p:cNvSpPr/>
          <p:nvPr/>
        </p:nvSpPr>
        <p:spPr>
          <a:xfrm>
            <a:off x="6858000" y="1463040"/>
            <a:ext cx="566928" cy="384048"/>
          </a:xfrm>
          <a:prstGeom prst="rect">
            <a:avLst/>
          </a:prstGeom>
          <a:solidFill>
            <a:srgbClr val="1C7293">
              <a:alpha val="18000"/>
            </a:srgbClr>
          </a:solidFill>
          <a:ln w="12700">
            <a:solidFill>
              <a:srgbClr val="1C7293">
                <a:alpha val="40000"/>
              </a:srgbClr>
            </a:solidFill>
            <a:prstDash val="solid"/>
          </a:ln>
        </p:spPr>
      </p:sp>
      <p:sp>
        <p:nvSpPr>
          <p:cNvPr id="18" name="Shape 16"/>
          <p:cNvSpPr/>
          <p:nvPr/>
        </p:nvSpPr>
        <p:spPr>
          <a:xfrm>
            <a:off x="7516368" y="1463040"/>
            <a:ext cx="566928" cy="384048"/>
          </a:xfrm>
          <a:prstGeom prst="rect">
            <a:avLst/>
          </a:prstGeom>
          <a:solidFill>
            <a:srgbClr val="1C7293">
              <a:alpha val="18000"/>
            </a:srgbClr>
          </a:solidFill>
          <a:ln w="12700">
            <a:solidFill>
              <a:srgbClr val="1C7293">
                <a:alpha val="40000"/>
              </a:srgbClr>
            </a:solidFill>
            <a:prstDash val="solid"/>
          </a:ln>
        </p:spPr>
      </p:sp>
      <p:sp>
        <p:nvSpPr>
          <p:cNvPr id="19" name="Shape 17"/>
          <p:cNvSpPr/>
          <p:nvPr/>
        </p:nvSpPr>
        <p:spPr>
          <a:xfrm>
            <a:off x="8174736" y="1463040"/>
            <a:ext cx="566928" cy="384048"/>
          </a:xfrm>
          <a:prstGeom prst="rect">
            <a:avLst/>
          </a:prstGeom>
          <a:solidFill>
            <a:srgbClr val="1C7293">
              <a:alpha val="18000"/>
            </a:srgbClr>
          </a:solidFill>
          <a:ln w="12700">
            <a:solidFill>
              <a:srgbClr val="1C7293">
                <a:alpha val="40000"/>
              </a:srgbClr>
            </a:solidFill>
            <a:prstDash val="solid"/>
          </a:ln>
        </p:spPr>
      </p:sp>
      <p:sp>
        <p:nvSpPr>
          <p:cNvPr id="20" name="Shape 18"/>
          <p:cNvSpPr/>
          <p:nvPr/>
        </p:nvSpPr>
        <p:spPr>
          <a:xfrm>
            <a:off x="6858000" y="1965960"/>
            <a:ext cx="566928" cy="384048"/>
          </a:xfrm>
          <a:prstGeom prst="rect">
            <a:avLst/>
          </a:prstGeom>
          <a:solidFill>
            <a:srgbClr val="1C7293">
              <a:alpha val="18000"/>
            </a:srgbClr>
          </a:solidFill>
          <a:ln w="12700">
            <a:solidFill>
              <a:srgbClr val="1C7293">
                <a:alpha val="40000"/>
              </a:srgbClr>
            </a:solidFill>
            <a:prstDash val="solid"/>
          </a:ln>
        </p:spPr>
      </p:sp>
      <p:sp>
        <p:nvSpPr>
          <p:cNvPr id="21" name="Shape 19"/>
          <p:cNvSpPr/>
          <p:nvPr/>
        </p:nvSpPr>
        <p:spPr>
          <a:xfrm>
            <a:off x="7516368" y="1965960"/>
            <a:ext cx="566928" cy="384048"/>
          </a:xfrm>
          <a:prstGeom prst="rect">
            <a:avLst/>
          </a:prstGeom>
          <a:solidFill>
            <a:srgbClr val="1C7293">
              <a:alpha val="18000"/>
            </a:srgbClr>
          </a:solidFill>
          <a:ln w="12700">
            <a:solidFill>
              <a:srgbClr val="1C7293">
                <a:alpha val="40000"/>
              </a:srgbClr>
            </a:solidFill>
            <a:prstDash val="solid"/>
          </a:ln>
        </p:spPr>
      </p:sp>
      <p:sp>
        <p:nvSpPr>
          <p:cNvPr id="22" name="Shape 20"/>
          <p:cNvSpPr/>
          <p:nvPr/>
        </p:nvSpPr>
        <p:spPr>
          <a:xfrm>
            <a:off x="8174736" y="1965960"/>
            <a:ext cx="566928" cy="384048"/>
          </a:xfrm>
          <a:prstGeom prst="rect">
            <a:avLst/>
          </a:prstGeom>
          <a:solidFill>
            <a:srgbClr val="1C7293">
              <a:alpha val="18000"/>
            </a:srgbClr>
          </a:solidFill>
          <a:ln w="12700">
            <a:solidFill>
              <a:srgbClr val="1C7293">
                <a:alpha val="40000"/>
              </a:srgbClr>
            </a:solidFill>
            <a:prstDash val="solid"/>
          </a:ln>
        </p:spPr>
      </p:sp>
      <p:sp>
        <p:nvSpPr>
          <p:cNvPr id="23" name="Shape 21"/>
          <p:cNvSpPr/>
          <p:nvPr/>
        </p:nvSpPr>
        <p:spPr>
          <a:xfrm>
            <a:off x="6858000" y="2468880"/>
            <a:ext cx="566928" cy="384048"/>
          </a:xfrm>
          <a:prstGeom prst="rect">
            <a:avLst/>
          </a:prstGeom>
          <a:solidFill>
            <a:srgbClr val="1C7293">
              <a:alpha val="18000"/>
            </a:srgbClr>
          </a:solidFill>
          <a:ln w="12700">
            <a:solidFill>
              <a:srgbClr val="1C7293">
                <a:alpha val="40000"/>
              </a:srgbClr>
            </a:solidFill>
            <a:prstDash val="solid"/>
          </a:ln>
        </p:spPr>
      </p:sp>
      <p:sp>
        <p:nvSpPr>
          <p:cNvPr id="24" name="Shape 22"/>
          <p:cNvSpPr/>
          <p:nvPr/>
        </p:nvSpPr>
        <p:spPr>
          <a:xfrm>
            <a:off x="7516368" y="2468880"/>
            <a:ext cx="566928" cy="384048"/>
          </a:xfrm>
          <a:prstGeom prst="rect">
            <a:avLst/>
          </a:prstGeom>
          <a:solidFill>
            <a:srgbClr val="1C7293">
              <a:alpha val="18000"/>
            </a:srgbClr>
          </a:solidFill>
          <a:ln w="12700">
            <a:solidFill>
              <a:srgbClr val="1C7293">
                <a:alpha val="40000"/>
              </a:srgbClr>
            </a:solidFill>
            <a:prstDash val="solid"/>
          </a:ln>
        </p:spPr>
      </p:sp>
      <p:sp>
        <p:nvSpPr>
          <p:cNvPr id="25" name="Shape 23"/>
          <p:cNvSpPr/>
          <p:nvPr/>
        </p:nvSpPr>
        <p:spPr>
          <a:xfrm>
            <a:off x="8174736" y="2468880"/>
            <a:ext cx="566928" cy="384048"/>
          </a:xfrm>
          <a:prstGeom prst="rect">
            <a:avLst/>
          </a:prstGeom>
          <a:solidFill>
            <a:srgbClr val="1C7293">
              <a:alpha val="18000"/>
            </a:srgbClr>
          </a:solidFill>
          <a:ln w="12700">
            <a:solidFill>
              <a:srgbClr val="1C7293">
                <a:alpha val="40000"/>
              </a:srgbClr>
            </a:solidFill>
            <a:prstDash val="solid"/>
          </a:ln>
        </p:spPr>
      </p:sp>
      <p:sp>
        <p:nvSpPr>
          <p:cNvPr id="26" name="Shape 24"/>
          <p:cNvSpPr/>
          <p:nvPr/>
        </p:nvSpPr>
        <p:spPr>
          <a:xfrm>
            <a:off x="6858000" y="2971800"/>
            <a:ext cx="566928" cy="384048"/>
          </a:xfrm>
          <a:prstGeom prst="rect">
            <a:avLst/>
          </a:prstGeom>
          <a:solidFill>
            <a:srgbClr val="1C7293">
              <a:alpha val="18000"/>
            </a:srgbClr>
          </a:solidFill>
          <a:ln w="12700">
            <a:solidFill>
              <a:srgbClr val="1C7293">
                <a:alpha val="40000"/>
              </a:srgbClr>
            </a:solidFill>
            <a:prstDash val="solid"/>
          </a:ln>
        </p:spPr>
      </p:sp>
      <p:sp>
        <p:nvSpPr>
          <p:cNvPr id="27" name="Shape 25"/>
          <p:cNvSpPr/>
          <p:nvPr/>
        </p:nvSpPr>
        <p:spPr>
          <a:xfrm>
            <a:off x="7516368" y="2971800"/>
            <a:ext cx="566928" cy="384048"/>
          </a:xfrm>
          <a:prstGeom prst="rect">
            <a:avLst/>
          </a:prstGeom>
          <a:solidFill>
            <a:srgbClr val="1C7293">
              <a:alpha val="18000"/>
            </a:srgbClr>
          </a:solidFill>
          <a:ln w="12700">
            <a:solidFill>
              <a:srgbClr val="1C7293">
                <a:alpha val="40000"/>
              </a:srgbClr>
            </a:solidFill>
            <a:prstDash val="solid"/>
          </a:ln>
        </p:spPr>
      </p:sp>
      <p:sp>
        <p:nvSpPr>
          <p:cNvPr id="28" name="Shape 26"/>
          <p:cNvSpPr/>
          <p:nvPr/>
        </p:nvSpPr>
        <p:spPr>
          <a:xfrm>
            <a:off x="8174736" y="2971800"/>
            <a:ext cx="566928" cy="384048"/>
          </a:xfrm>
          <a:prstGeom prst="rect">
            <a:avLst/>
          </a:prstGeom>
          <a:solidFill>
            <a:srgbClr val="1C7293">
              <a:alpha val="18000"/>
            </a:srgbClr>
          </a:solidFill>
          <a:ln w="12700">
            <a:solidFill>
              <a:srgbClr val="1C7293">
                <a:alpha val="40000"/>
              </a:srgbClr>
            </a:solidFill>
            <a:prstDash val="solid"/>
          </a:ln>
        </p:spPr>
      </p:sp>
      <p:sp>
        <p:nvSpPr>
          <p:cNvPr id="29" name="Shape 27"/>
          <p:cNvSpPr/>
          <p:nvPr/>
        </p:nvSpPr>
        <p:spPr>
          <a:xfrm>
            <a:off x="6858000" y="3474720"/>
            <a:ext cx="566928" cy="384048"/>
          </a:xfrm>
          <a:prstGeom prst="rect">
            <a:avLst/>
          </a:prstGeom>
          <a:solidFill>
            <a:srgbClr val="1C7293">
              <a:alpha val="18000"/>
            </a:srgbClr>
          </a:solidFill>
          <a:ln w="12700">
            <a:solidFill>
              <a:srgbClr val="1C7293">
                <a:alpha val="40000"/>
              </a:srgbClr>
            </a:solidFill>
            <a:prstDash val="solid"/>
          </a:ln>
        </p:spPr>
      </p:sp>
      <p:sp>
        <p:nvSpPr>
          <p:cNvPr id="30" name="Shape 28"/>
          <p:cNvSpPr/>
          <p:nvPr/>
        </p:nvSpPr>
        <p:spPr>
          <a:xfrm>
            <a:off x="7516368" y="3474720"/>
            <a:ext cx="566928" cy="384048"/>
          </a:xfrm>
          <a:prstGeom prst="rect">
            <a:avLst/>
          </a:prstGeom>
          <a:solidFill>
            <a:srgbClr val="1C7293">
              <a:alpha val="18000"/>
            </a:srgbClr>
          </a:solidFill>
          <a:ln w="12700">
            <a:solidFill>
              <a:srgbClr val="1C7293">
                <a:alpha val="40000"/>
              </a:srgbClr>
            </a:solidFill>
            <a:prstDash val="solid"/>
          </a:ln>
        </p:spPr>
      </p:sp>
      <p:sp>
        <p:nvSpPr>
          <p:cNvPr id="31" name="Shape 29"/>
          <p:cNvSpPr/>
          <p:nvPr/>
        </p:nvSpPr>
        <p:spPr>
          <a:xfrm>
            <a:off x="8174736" y="3474720"/>
            <a:ext cx="566928" cy="384048"/>
          </a:xfrm>
          <a:prstGeom prst="rect">
            <a:avLst/>
          </a:prstGeom>
          <a:solidFill>
            <a:srgbClr val="1C7293">
              <a:alpha val="18000"/>
            </a:srgbClr>
          </a:solidFill>
          <a:ln w="12700">
            <a:solidFill>
              <a:srgbClr val="1C7293">
                <a:alpha val="40000"/>
              </a:srgbClr>
            </a:solidFill>
            <a:prstDash val="solid"/>
          </a:ln>
        </p:spPr>
      </p:sp>
      <p:sp>
        <p:nvSpPr>
          <p:cNvPr id="32" name="Shape 30"/>
          <p:cNvSpPr/>
          <p:nvPr/>
        </p:nvSpPr>
        <p:spPr>
          <a:xfrm>
            <a:off x="6858000" y="3977640"/>
            <a:ext cx="566928" cy="384048"/>
          </a:xfrm>
          <a:prstGeom prst="rect">
            <a:avLst/>
          </a:prstGeom>
          <a:solidFill>
            <a:srgbClr val="1C7293">
              <a:alpha val="18000"/>
            </a:srgbClr>
          </a:solidFill>
          <a:ln w="12700">
            <a:solidFill>
              <a:srgbClr val="1C7293">
                <a:alpha val="40000"/>
              </a:srgbClr>
            </a:solidFill>
            <a:prstDash val="solid"/>
          </a:ln>
        </p:spPr>
      </p:sp>
      <p:sp>
        <p:nvSpPr>
          <p:cNvPr id="33" name="Shape 31"/>
          <p:cNvSpPr/>
          <p:nvPr/>
        </p:nvSpPr>
        <p:spPr>
          <a:xfrm>
            <a:off x="7516368" y="3977640"/>
            <a:ext cx="566928" cy="384048"/>
          </a:xfrm>
          <a:prstGeom prst="rect">
            <a:avLst/>
          </a:prstGeom>
          <a:solidFill>
            <a:srgbClr val="1C7293">
              <a:alpha val="18000"/>
            </a:srgbClr>
          </a:solidFill>
          <a:ln w="12700">
            <a:solidFill>
              <a:srgbClr val="1C7293">
                <a:alpha val="40000"/>
              </a:srgbClr>
            </a:solidFill>
            <a:prstDash val="solid"/>
          </a:ln>
        </p:spPr>
      </p:sp>
      <p:sp>
        <p:nvSpPr>
          <p:cNvPr id="34" name="Shape 32"/>
          <p:cNvSpPr/>
          <p:nvPr/>
        </p:nvSpPr>
        <p:spPr>
          <a:xfrm>
            <a:off x="8174736" y="3977640"/>
            <a:ext cx="566928" cy="384048"/>
          </a:xfrm>
          <a:prstGeom prst="rect">
            <a:avLst/>
          </a:prstGeom>
          <a:solidFill>
            <a:srgbClr val="1C7293">
              <a:alpha val="18000"/>
            </a:srgbClr>
          </a:solidFill>
          <a:ln w="12700">
            <a:solidFill>
              <a:srgbClr val="1C7293">
                <a:alpha val="40000"/>
              </a:srgbClr>
            </a:solidFill>
            <a:prstDash val="solid"/>
          </a:ln>
        </p:spPr>
      </p:sp>
      <p:sp>
        <p:nvSpPr>
          <p:cNvPr id="35" name="Shape 33"/>
          <p:cNvSpPr/>
          <p:nvPr/>
        </p:nvSpPr>
        <p:spPr>
          <a:xfrm>
            <a:off x="6858000" y="4480560"/>
            <a:ext cx="566928" cy="384048"/>
          </a:xfrm>
          <a:prstGeom prst="rect">
            <a:avLst/>
          </a:prstGeom>
          <a:solidFill>
            <a:srgbClr val="1C7293">
              <a:alpha val="18000"/>
            </a:srgbClr>
          </a:solidFill>
          <a:ln w="12700">
            <a:solidFill>
              <a:srgbClr val="1C7293">
                <a:alpha val="40000"/>
              </a:srgbClr>
            </a:solidFill>
            <a:prstDash val="solid"/>
          </a:ln>
        </p:spPr>
      </p:sp>
      <p:sp>
        <p:nvSpPr>
          <p:cNvPr id="36" name="Shape 34"/>
          <p:cNvSpPr/>
          <p:nvPr/>
        </p:nvSpPr>
        <p:spPr>
          <a:xfrm>
            <a:off x="7516368" y="4480560"/>
            <a:ext cx="566928" cy="384048"/>
          </a:xfrm>
          <a:prstGeom prst="rect">
            <a:avLst/>
          </a:prstGeom>
          <a:solidFill>
            <a:srgbClr val="1C7293">
              <a:alpha val="18000"/>
            </a:srgbClr>
          </a:solidFill>
          <a:ln w="12700">
            <a:solidFill>
              <a:srgbClr val="1C7293">
                <a:alpha val="40000"/>
              </a:srgbClr>
            </a:solidFill>
            <a:prstDash val="solid"/>
          </a:ln>
        </p:spPr>
      </p:sp>
      <p:sp>
        <p:nvSpPr>
          <p:cNvPr id="37" name="Shape 35"/>
          <p:cNvSpPr/>
          <p:nvPr/>
        </p:nvSpPr>
        <p:spPr>
          <a:xfrm>
            <a:off x="8174736" y="4480560"/>
            <a:ext cx="566928" cy="384048"/>
          </a:xfrm>
          <a:prstGeom prst="rect">
            <a:avLst/>
          </a:prstGeom>
          <a:solidFill>
            <a:srgbClr val="1C7293">
              <a:alpha val="18000"/>
            </a:srgbClr>
          </a:solidFill>
          <a:ln w="12700">
            <a:solidFill>
              <a:srgbClr val="1C7293">
                <a:alpha val="40000"/>
              </a:srgbClr>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F5FA"/>
        </a:solidFill>
      </p:bgPr>
    </p:bg>
    <p:spTree>
      <p:nvGrpSpPr>
        <p:cNvPr id="1" name=""/>
        <p:cNvGrpSpPr/>
        <p:nvPr/>
      </p:nvGrpSpPr>
      <p:grpSpPr>
        <a:xfrm>
          <a:off x="0" y="0"/>
          <a:ext cx="0" cy="0"/>
          <a:chOff x="0" y="0"/>
          <a:chExt cx="0" cy="0"/>
        </a:xfrm>
      </p:grpSpPr>
      <p:sp>
        <p:nvSpPr>
          <p:cNvPr id="2" name="Shape 0"/>
          <p:cNvSpPr/>
          <p:nvPr/>
        </p:nvSpPr>
        <p:spPr>
          <a:xfrm>
            <a:off x="365760" y="256032"/>
            <a:ext cx="64008" cy="438912"/>
          </a:xfrm>
          <a:prstGeom prst="rect">
            <a:avLst/>
          </a:prstGeom>
          <a:solidFill>
            <a:srgbClr val="02C39A"/>
          </a:solidFill>
          <a:ln w="12700">
            <a:solidFill>
              <a:srgbClr val="02C39A"/>
            </a:solidFill>
            <a:prstDash val="solid"/>
          </a:ln>
        </p:spPr>
      </p:sp>
      <p:sp>
        <p:nvSpPr>
          <p:cNvPr id="3" name="Text 1"/>
          <p:cNvSpPr/>
          <p:nvPr/>
        </p:nvSpPr>
        <p:spPr>
          <a:xfrm>
            <a:off x="502920" y="201168"/>
            <a:ext cx="8321040" cy="548640"/>
          </a:xfrm>
          <a:prstGeom prst="rect">
            <a:avLst/>
          </a:prstGeom>
          <a:noFill/>
          <a:ln/>
        </p:spPr>
        <p:txBody>
          <a:bodyPr wrap="square" lIns="0" tIns="0" rIns="0" bIns="0" rtlCol="0" anchor="ctr"/>
          <a:lstStyle/>
          <a:p>
            <a:pPr indent="0" marL="0">
              <a:buNone/>
            </a:pPr>
            <a:r>
              <a:rPr lang="en-US" sz="2600" b="1" dirty="0">
                <a:solidFill>
                  <a:srgbClr val="065A82"/>
                </a:solidFill>
                <a:latin typeface="Georgia" pitchFamily="34" charset="0"/>
                <a:ea typeface="Georgia" pitchFamily="34" charset="-122"/>
                <a:cs typeface="Georgia" pitchFamily="34" charset="-120"/>
              </a:rPr>
              <a:t>Today's Agenda</a:t>
            </a:r>
            <a:endParaRPr lang="en-US" sz="2600" dirty="0"/>
          </a:p>
        </p:txBody>
      </p:sp>
      <p:sp>
        <p:nvSpPr>
          <p:cNvPr id="4" name="Shape 2"/>
          <p:cNvSpPr/>
          <p:nvPr/>
        </p:nvSpPr>
        <p:spPr>
          <a:xfrm>
            <a:off x="0" y="4887468"/>
            <a:ext cx="9144000" cy="256032"/>
          </a:xfrm>
          <a:prstGeom prst="rect">
            <a:avLst/>
          </a:prstGeom>
          <a:solidFill>
            <a:srgbClr val="1C7293"/>
          </a:solidFill>
          <a:ln w="12700">
            <a:solidFill>
              <a:srgbClr val="1C7293"/>
            </a:solidFill>
            <a:prstDash val="solid"/>
          </a:ln>
        </p:spPr>
      </p:sp>
      <p:sp>
        <p:nvSpPr>
          <p:cNvPr id="5" name="Text 3"/>
          <p:cNvSpPr/>
          <p:nvPr/>
        </p:nvSpPr>
        <p:spPr>
          <a:xfrm>
            <a:off x="274320" y="4905756"/>
            <a:ext cx="5486400" cy="219456"/>
          </a:xfrm>
          <a:prstGeom prst="rect">
            <a:avLst/>
          </a:prstGeom>
          <a:noFill/>
          <a:ln/>
        </p:spPr>
        <p:txBody>
          <a:bodyPr wrap="square" lIns="0" tIns="0" rIns="0" bIns="0" rtlCol="0" anchor="ctr"/>
          <a:lstStyle/>
          <a:p>
            <a:pPr indent="0" marL="0">
              <a:buNone/>
            </a:pPr>
            <a:r>
              <a:rPr lang="en-US" sz="800" dirty="0">
                <a:solidFill>
                  <a:srgbClr val="CCEEFF"/>
                </a:solidFill>
                <a:latin typeface="Calibri" pitchFamily="34" charset="0"/>
                <a:ea typeface="Calibri" pitchFamily="34" charset="-122"/>
                <a:cs typeface="Calibri" pitchFamily="34" charset="-120"/>
              </a:rPr>
              <a:t>Mathias Heider  |  ME8930 Course Project  |  May 2026</a:t>
            </a:r>
            <a:endParaRPr lang="en-US" sz="800" dirty="0"/>
          </a:p>
        </p:txBody>
      </p:sp>
      <p:sp>
        <p:nvSpPr>
          <p:cNvPr id="6" name="Text 4"/>
          <p:cNvSpPr/>
          <p:nvPr/>
        </p:nvSpPr>
        <p:spPr>
          <a:xfrm>
            <a:off x="6858000" y="4905756"/>
            <a:ext cx="2011680" cy="219456"/>
          </a:xfrm>
          <a:prstGeom prst="rect">
            <a:avLst/>
          </a:prstGeom>
          <a:noFill/>
          <a:ln/>
        </p:spPr>
        <p:txBody>
          <a:bodyPr wrap="square" lIns="0" tIns="0" rIns="0" bIns="0" rtlCol="0" anchor="ctr"/>
          <a:lstStyle/>
          <a:p>
            <a:pPr algn="r" indent="0" marL="0">
              <a:buNone/>
            </a:pPr>
            <a:r>
              <a:rPr lang="en-US" sz="800" dirty="0">
                <a:solidFill>
                  <a:srgbClr val="CCEEFF"/>
                </a:solidFill>
                <a:latin typeface="Calibri" pitchFamily="34" charset="0"/>
                <a:ea typeface="Calibri" pitchFamily="34" charset="-122"/>
                <a:cs typeface="Calibri" pitchFamily="34" charset="-120"/>
              </a:rPr>
              <a:t>Agenda</a:t>
            </a:r>
            <a:endParaRPr lang="en-US" sz="800" dirty="0"/>
          </a:p>
        </p:txBody>
      </p:sp>
      <p:sp>
        <p:nvSpPr>
          <p:cNvPr id="7" name="Shape 5"/>
          <p:cNvSpPr/>
          <p:nvPr/>
        </p:nvSpPr>
        <p:spPr>
          <a:xfrm>
            <a:off x="365760" y="987552"/>
            <a:ext cx="4206240" cy="621792"/>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8" name="Shape 6"/>
          <p:cNvSpPr/>
          <p:nvPr/>
        </p:nvSpPr>
        <p:spPr>
          <a:xfrm>
            <a:off x="365760" y="987552"/>
            <a:ext cx="45720" cy="621792"/>
          </a:xfrm>
          <a:prstGeom prst="rect">
            <a:avLst/>
          </a:prstGeom>
          <a:solidFill>
            <a:srgbClr val="1C7293"/>
          </a:solidFill>
          <a:ln w="12700">
            <a:solidFill>
              <a:srgbClr val="1C7293"/>
            </a:solidFill>
            <a:prstDash val="solid"/>
          </a:ln>
        </p:spPr>
      </p:sp>
      <p:sp>
        <p:nvSpPr>
          <p:cNvPr id="9" name="Text 7"/>
          <p:cNvSpPr/>
          <p:nvPr/>
        </p:nvSpPr>
        <p:spPr>
          <a:xfrm>
            <a:off x="475488" y="1060704"/>
            <a:ext cx="365760" cy="475488"/>
          </a:xfrm>
          <a:prstGeom prst="rect">
            <a:avLst/>
          </a:prstGeom>
          <a:noFill/>
          <a:ln/>
        </p:spPr>
        <p:txBody>
          <a:bodyPr wrap="square" lIns="0" tIns="0" rIns="0" bIns="0" rtlCol="0" anchor="ctr"/>
          <a:lstStyle/>
          <a:p>
            <a:pPr algn="ctr" indent="0" marL="0">
              <a:buNone/>
            </a:pPr>
            <a:r>
              <a:rPr lang="en-US" sz="1800" b="1" dirty="0">
                <a:solidFill>
                  <a:srgbClr val="02C39A"/>
                </a:solidFill>
                <a:latin typeface="Calibri" pitchFamily="34" charset="0"/>
                <a:ea typeface="Calibri" pitchFamily="34" charset="-122"/>
                <a:cs typeface="Calibri" pitchFamily="34" charset="-120"/>
              </a:rPr>
              <a:t>1</a:t>
            </a:r>
            <a:endParaRPr lang="en-US" sz="1800" dirty="0"/>
          </a:p>
        </p:txBody>
      </p:sp>
      <p:sp>
        <p:nvSpPr>
          <p:cNvPr id="10" name="Text 8"/>
          <p:cNvSpPr/>
          <p:nvPr/>
        </p:nvSpPr>
        <p:spPr>
          <a:xfrm>
            <a:off x="914400" y="1042416"/>
            <a:ext cx="3474720" cy="256032"/>
          </a:xfrm>
          <a:prstGeom prst="rect">
            <a:avLst/>
          </a:prstGeom>
          <a:noFill/>
          <a:ln/>
        </p:spPr>
        <p:txBody>
          <a:bodyPr wrap="square" lIns="0" tIns="0" rIns="0" bIns="0" rtlCol="0" anchor="t"/>
          <a:lstStyle/>
          <a:p>
            <a:pPr indent="0" marL="0">
              <a:buNone/>
            </a:pPr>
            <a:r>
              <a:rPr lang="en-US" sz="1300" b="1" dirty="0">
                <a:solidFill>
                  <a:srgbClr val="1A2E3B"/>
                </a:solidFill>
                <a:latin typeface="Georgia" pitchFamily="34" charset="0"/>
                <a:ea typeface="Georgia" pitchFamily="34" charset="-122"/>
                <a:cs typeface="Georgia" pitchFamily="34" charset="-120"/>
              </a:rPr>
              <a:t>The Problem</a:t>
            </a:r>
            <a:endParaRPr lang="en-US" sz="1300" dirty="0"/>
          </a:p>
        </p:txBody>
      </p:sp>
      <p:sp>
        <p:nvSpPr>
          <p:cNvPr id="11" name="Text 9"/>
          <p:cNvSpPr/>
          <p:nvPr/>
        </p:nvSpPr>
        <p:spPr>
          <a:xfrm>
            <a:off x="914400" y="1280160"/>
            <a:ext cx="3474720" cy="256032"/>
          </a:xfrm>
          <a:prstGeom prst="rect">
            <a:avLst/>
          </a:prstGeom>
          <a:noFill/>
          <a:ln/>
        </p:spPr>
        <p:txBody>
          <a:bodyPr wrap="square" lIns="0" tIns="0" rIns="0" bIns="0" rtlCol="0" anchor="t"/>
          <a:lstStyle/>
          <a:p>
            <a:pPr indent="0" marL="0">
              <a:buNone/>
            </a:pPr>
            <a:r>
              <a:rPr lang="en-US" sz="950" dirty="0">
                <a:solidFill>
                  <a:srgbClr val="4A6278"/>
                </a:solidFill>
                <a:latin typeface="Calibri" pitchFamily="34" charset="0"/>
                <a:ea typeface="Calibri" pitchFamily="34" charset="-122"/>
                <a:cs typeface="Calibri" pitchFamily="34" charset="-120"/>
              </a:rPr>
              <a:t>Why ML for composites needs a better data foundation</a:t>
            </a:r>
            <a:endParaRPr lang="en-US" sz="950" dirty="0"/>
          </a:p>
        </p:txBody>
      </p:sp>
      <p:sp>
        <p:nvSpPr>
          <p:cNvPr id="12" name="Shape 10"/>
          <p:cNvSpPr/>
          <p:nvPr/>
        </p:nvSpPr>
        <p:spPr>
          <a:xfrm>
            <a:off x="365760" y="1719072"/>
            <a:ext cx="4206240" cy="621792"/>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13" name="Shape 11"/>
          <p:cNvSpPr/>
          <p:nvPr/>
        </p:nvSpPr>
        <p:spPr>
          <a:xfrm>
            <a:off x="365760" y="1719072"/>
            <a:ext cx="45720" cy="621792"/>
          </a:xfrm>
          <a:prstGeom prst="rect">
            <a:avLst/>
          </a:prstGeom>
          <a:solidFill>
            <a:srgbClr val="1C7293"/>
          </a:solidFill>
          <a:ln w="12700">
            <a:solidFill>
              <a:srgbClr val="1C7293"/>
            </a:solidFill>
            <a:prstDash val="solid"/>
          </a:ln>
        </p:spPr>
      </p:sp>
      <p:sp>
        <p:nvSpPr>
          <p:cNvPr id="14" name="Text 12"/>
          <p:cNvSpPr/>
          <p:nvPr/>
        </p:nvSpPr>
        <p:spPr>
          <a:xfrm>
            <a:off x="475488" y="1792224"/>
            <a:ext cx="365760" cy="475488"/>
          </a:xfrm>
          <a:prstGeom prst="rect">
            <a:avLst/>
          </a:prstGeom>
          <a:noFill/>
          <a:ln/>
        </p:spPr>
        <p:txBody>
          <a:bodyPr wrap="square" lIns="0" tIns="0" rIns="0" bIns="0" rtlCol="0" anchor="ctr"/>
          <a:lstStyle/>
          <a:p>
            <a:pPr algn="ctr" indent="0" marL="0">
              <a:buNone/>
            </a:pPr>
            <a:r>
              <a:rPr lang="en-US" sz="1800" b="1" dirty="0">
                <a:solidFill>
                  <a:srgbClr val="02C39A"/>
                </a:solidFill>
                <a:latin typeface="Calibri" pitchFamily="34" charset="0"/>
                <a:ea typeface="Calibri" pitchFamily="34" charset="-122"/>
                <a:cs typeface="Calibri" pitchFamily="34" charset="-120"/>
              </a:rPr>
              <a:t>2</a:t>
            </a:r>
            <a:endParaRPr lang="en-US" sz="1800" dirty="0"/>
          </a:p>
        </p:txBody>
      </p:sp>
      <p:sp>
        <p:nvSpPr>
          <p:cNvPr id="15" name="Text 13"/>
          <p:cNvSpPr/>
          <p:nvPr/>
        </p:nvSpPr>
        <p:spPr>
          <a:xfrm>
            <a:off x="914400" y="1773936"/>
            <a:ext cx="3474720" cy="256032"/>
          </a:xfrm>
          <a:prstGeom prst="rect">
            <a:avLst/>
          </a:prstGeom>
          <a:noFill/>
          <a:ln/>
        </p:spPr>
        <p:txBody>
          <a:bodyPr wrap="square" lIns="0" tIns="0" rIns="0" bIns="0" rtlCol="0" anchor="t"/>
          <a:lstStyle/>
          <a:p>
            <a:pPr indent="0" marL="0">
              <a:buNone/>
            </a:pPr>
            <a:r>
              <a:rPr lang="en-US" sz="1300" b="1" dirty="0">
                <a:solidFill>
                  <a:srgbClr val="1A2E3B"/>
                </a:solidFill>
                <a:latin typeface="Georgia" pitchFamily="34" charset="0"/>
                <a:ea typeface="Georgia" pitchFamily="34" charset="-122"/>
                <a:cs typeface="Georgia" pitchFamily="34" charset="-120"/>
              </a:rPr>
              <a:t>Related Work</a:t>
            </a:r>
            <a:endParaRPr lang="en-US" sz="1300" dirty="0"/>
          </a:p>
        </p:txBody>
      </p:sp>
      <p:sp>
        <p:nvSpPr>
          <p:cNvPr id="16" name="Text 14"/>
          <p:cNvSpPr/>
          <p:nvPr/>
        </p:nvSpPr>
        <p:spPr>
          <a:xfrm>
            <a:off x="914400" y="2011680"/>
            <a:ext cx="3474720" cy="256032"/>
          </a:xfrm>
          <a:prstGeom prst="rect">
            <a:avLst/>
          </a:prstGeom>
          <a:noFill/>
          <a:ln/>
        </p:spPr>
        <p:txBody>
          <a:bodyPr wrap="square" lIns="0" tIns="0" rIns="0" bIns="0" rtlCol="0" anchor="t"/>
          <a:lstStyle/>
          <a:p>
            <a:pPr indent="0" marL="0">
              <a:buNone/>
            </a:pPr>
            <a:r>
              <a:rPr lang="en-US" sz="950" dirty="0">
                <a:solidFill>
                  <a:srgbClr val="4A6278"/>
                </a:solidFill>
                <a:latin typeface="Calibri" pitchFamily="34" charset="0"/>
                <a:ea typeface="Calibri" pitchFamily="34" charset="-122"/>
                <a:cs typeface="Calibri" pitchFamily="34" charset="-120"/>
              </a:rPr>
              <a:t>Existing databases &amp; LLM extraction literature</a:t>
            </a:r>
            <a:endParaRPr lang="en-US" sz="950" dirty="0"/>
          </a:p>
        </p:txBody>
      </p:sp>
      <p:sp>
        <p:nvSpPr>
          <p:cNvPr id="17" name="Shape 15"/>
          <p:cNvSpPr/>
          <p:nvPr/>
        </p:nvSpPr>
        <p:spPr>
          <a:xfrm>
            <a:off x="365760" y="2450592"/>
            <a:ext cx="4206240" cy="621792"/>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18" name="Shape 16"/>
          <p:cNvSpPr/>
          <p:nvPr/>
        </p:nvSpPr>
        <p:spPr>
          <a:xfrm>
            <a:off x="365760" y="2450592"/>
            <a:ext cx="45720" cy="621792"/>
          </a:xfrm>
          <a:prstGeom prst="rect">
            <a:avLst/>
          </a:prstGeom>
          <a:solidFill>
            <a:srgbClr val="1C7293"/>
          </a:solidFill>
          <a:ln w="12700">
            <a:solidFill>
              <a:srgbClr val="1C7293"/>
            </a:solidFill>
            <a:prstDash val="solid"/>
          </a:ln>
        </p:spPr>
      </p:sp>
      <p:sp>
        <p:nvSpPr>
          <p:cNvPr id="19" name="Text 17"/>
          <p:cNvSpPr/>
          <p:nvPr/>
        </p:nvSpPr>
        <p:spPr>
          <a:xfrm>
            <a:off x="475488" y="2523744"/>
            <a:ext cx="365760" cy="475488"/>
          </a:xfrm>
          <a:prstGeom prst="rect">
            <a:avLst/>
          </a:prstGeom>
          <a:noFill/>
          <a:ln/>
        </p:spPr>
        <p:txBody>
          <a:bodyPr wrap="square" lIns="0" tIns="0" rIns="0" bIns="0" rtlCol="0" anchor="ctr"/>
          <a:lstStyle/>
          <a:p>
            <a:pPr algn="ctr" indent="0" marL="0">
              <a:buNone/>
            </a:pPr>
            <a:r>
              <a:rPr lang="en-US" sz="1800" b="1" dirty="0">
                <a:solidFill>
                  <a:srgbClr val="02C39A"/>
                </a:solidFill>
                <a:latin typeface="Calibri" pitchFamily="34" charset="0"/>
                <a:ea typeface="Calibri" pitchFamily="34" charset="-122"/>
                <a:cs typeface="Calibri" pitchFamily="34" charset="-120"/>
              </a:rPr>
              <a:t>3</a:t>
            </a:r>
            <a:endParaRPr lang="en-US" sz="1800" dirty="0"/>
          </a:p>
        </p:txBody>
      </p:sp>
      <p:sp>
        <p:nvSpPr>
          <p:cNvPr id="20" name="Text 18"/>
          <p:cNvSpPr/>
          <p:nvPr/>
        </p:nvSpPr>
        <p:spPr>
          <a:xfrm>
            <a:off x="914400" y="2505456"/>
            <a:ext cx="3474720" cy="256032"/>
          </a:xfrm>
          <a:prstGeom prst="rect">
            <a:avLst/>
          </a:prstGeom>
          <a:noFill/>
          <a:ln/>
        </p:spPr>
        <p:txBody>
          <a:bodyPr wrap="square" lIns="0" tIns="0" rIns="0" bIns="0" rtlCol="0" anchor="t"/>
          <a:lstStyle/>
          <a:p>
            <a:pPr indent="0" marL="0">
              <a:buNone/>
            </a:pPr>
            <a:r>
              <a:rPr lang="en-US" sz="1300" b="1" dirty="0">
                <a:solidFill>
                  <a:srgbClr val="1A2E3B"/>
                </a:solidFill>
                <a:latin typeface="Georgia" pitchFamily="34" charset="0"/>
                <a:ea typeface="Georgia" pitchFamily="34" charset="-122"/>
                <a:cs typeface="Georgia" pitchFamily="34" charset="-120"/>
              </a:rPr>
              <a:t>What We Built</a:t>
            </a:r>
            <a:endParaRPr lang="en-US" sz="1300" dirty="0"/>
          </a:p>
        </p:txBody>
      </p:sp>
      <p:sp>
        <p:nvSpPr>
          <p:cNvPr id="21" name="Text 19"/>
          <p:cNvSpPr/>
          <p:nvPr/>
        </p:nvSpPr>
        <p:spPr>
          <a:xfrm>
            <a:off x="914400" y="2743200"/>
            <a:ext cx="3474720" cy="256032"/>
          </a:xfrm>
          <a:prstGeom prst="rect">
            <a:avLst/>
          </a:prstGeom>
          <a:noFill/>
          <a:ln/>
        </p:spPr>
        <p:txBody>
          <a:bodyPr wrap="square" lIns="0" tIns="0" rIns="0" bIns="0" rtlCol="0" anchor="t"/>
          <a:lstStyle/>
          <a:p>
            <a:pPr indent="0" marL="0">
              <a:buNone/>
            </a:pPr>
            <a:r>
              <a:rPr lang="en-US" sz="950" dirty="0">
                <a:solidFill>
                  <a:srgbClr val="4A6278"/>
                </a:solidFill>
                <a:latin typeface="Calibri" pitchFamily="34" charset="0"/>
                <a:ea typeface="Calibri" pitchFamily="34" charset="-122"/>
                <a:cs typeface="Calibri" pitchFamily="34" charset="-120"/>
              </a:rPr>
              <a:t>Architecture, schema, and deployment overview</a:t>
            </a:r>
            <a:endParaRPr lang="en-US" sz="950" dirty="0"/>
          </a:p>
        </p:txBody>
      </p:sp>
      <p:sp>
        <p:nvSpPr>
          <p:cNvPr id="22" name="Shape 20"/>
          <p:cNvSpPr/>
          <p:nvPr/>
        </p:nvSpPr>
        <p:spPr>
          <a:xfrm>
            <a:off x="365760" y="3182112"/>
            <a:ext cx="4206240" cy="621792"/>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23" name="Shape 21"/>
          <p:cNvSpPr/>
          <p:nvPr/>
        </p:nvSpPr>
        <p:spPr>
          <a:xfrm>
            <a:off x="365760" y="3182112"/>
            <a:ext cx="45720" cy="621792"/>
          </a:xfrm>
          <a:prstGeom prst="rect">
            <a:avLst/>
          </a:prstGeom>
          <a:solidFill>
            <a:srgbClr val="1C7293"/>
          </a:solidFill>
          <a:ln w="12700">
            <a:solidFill>
              <a:srgbClr val="1C7293"/>
            </a:solidFill>
            <a:prstDash val="solid"/>
          </a:ln>
        </p:spPr>
      </p:sp>
      <p:sp>
        <p:nvSpPr>
          <p:cNvPr id="24" name="Text 22"/>
          <p:cNvSpPr/>
          <p:nvPr/>
        </p:nvSpPr>
        <p:spPr>
          <a:xfrm>
            <a:off x="475488" y="3255264"/>
            <a:ext cx="365760" cy="475488"/>
          </a:xfrm>
          <a:prstGeom prst="rect">
            <a:avLst/>
          </a:prstGeom>
          <a:noFill/>
          <a:ln/>
        </p:spPr>
        <p:txBody>
          <a:bodyPr wrap="square" lIns="0" tIns="0" rIns="0" bIns="0" rtlCol="0" anchor="ctr"/>
          <a:lstStyle/>
          <a:p>
            <a:pPr algn="ctr" indent="0" marL="0">
              <a:buNone/>
            </a:pPr>
            <a:r>
              <a:rPr lang="en-US" sz="1800" b="1" dirty="0">
                <a:solidFill>
                  <a:srgbClr val="02C39A"/>
                </a:solidFill>
                <a:latin typeface="Calibri" pitchFamily="34" charset="0"/>
                <a:ea typeface="Calibri" pitchFamily="34" charset="-122"/>
                <a:cs typeface="Calibri" pitchFamily="34" charset="-120"/>
              </a:rPr>
              <a:t>4</a:t>
            </a:r>
            <a:endParaRPr lang="en-US" sz="1800" dirty="0"/>
          </a:p>
        </p:txBody>
      </p:sp>
      <p:sp>
        <p:nvSpPr>
          <p:cNvPr id="25" name="Text 23"/>
          <p:cNvSpPr/>
          <p:nvPr/>
        </p:nvSpPr>
        <p:spPr>
          <a:xfrm>
            <a:off x="914400" y="3236976"/>
            <a:ext cx="3474720" cy="256032"/>
          </a:xfrm>
          <a:prstGeom prst="rect">
            <a:avLst/>
          </a:prstGeom>
          <a:noFill/>
          <a:ln/>
        </p:spPr>
        <p:txBody>
          <a:bodyPr wrap="square" lIns="0" tIns="0" rIns="0" bIns="0" rtlCol="0" anchor="t"/>
          <a:lstStyle/>
          <a:p>
            <a:pPr indent="0" marL="0">
              <a:buNone/>
            </a:pPr>
            <a:r>
              <a:rPr lang="en-US" sz="1300" b="1" dirty="0">
                <a:solidFill>
                  <a:srgbClr val="1A2E3B"/>
                </a:solidFill>
                <a:latin typeface="Georgia" pitchFamily="34" charset="0"/>
                <a:ea typeface="Georgia" pitchFamily="34" charset="-122"/>
                <a:cs typeface="Georgia" pitchFamily="34" charset="-120"/>
              </a:rPr>
              <a:t>Extraction Pipeline</a:t>
            </a:r>
            <a:endParaRPr lang="en-US" sz="1300" dirty="0"/>
          </a:p>
        </p:txBody>
      </p:sp>
      <p:sp>
        <p:nvSpPr>
          <p:cNvPr id="26" name="Text 24"/>
          <p:cNvSpPr/>
          <p:nvPr/>
        </p:nvSpPr>
        <p:spPr>
          <a:xfrm>
            <a:off x="914400" y="3474720"/>
            <a:ext cx="3474720" cy="256032"/>
          </a:xfrm>
          <a:prstGeom prst="rect">
            <a:avLst/>
          </a:prstGeom>
          <a:noFill/>
          <a:ln/>
        </p:spPr>
        <p:txBody>
          <a:bodyPr wrap="square" lIns="0" tIns="0" rIns="0" bIns="0" rtlCol="0" anchor="t"/>
          <a:lstStyle/>
          <a:p>
            <a:pPr indent="0" marL="0">
              <a:buNone/>
            </a:pPr>
            <a:r>
              <a:rPr lang="en-US" sz="950" dirty="0">
                <a:solidFill>
                  <a:srgbClr val="4A6278"/>
                </a:solidFill>
                <a:latin typeface="Calibri" pitchFamily="34" charset="0"/>
                <a:ea typeface="Calibri" pitchFamily="34" charset="-122"/>
                <a:cs typeface="Calibri" pitchFamily="34" charset="-120"/>
              </a:rPr>
              <a:t>PDF to structured rows via Gemini 2.5 Flash</a:t>
            </a:r>
            <a:endParaRPr lang="en-US" sz="950" dirty="0"/>
          </a:p>
        </p:txBody>
      </p:sp>
      <p:sp>
        <p:nvSpPr>
          <p:cNvPr id="27" name="Shape 25"/>
          <p:cNvSpPr/>
          <p:nvPr/>
        </p:nvSpPr>
        <p:spPr>
          <a:xfrm>
            <a:off x="365760" y="3913632"/>
            <a:ext cx="4206240" cy="621792"/>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28" name="Shape 26"/>
          <p:cNvSpPr/>
          <p:nvPr/>
        </p:nvSpPr>
        <p:spPr>
          <a:xfrm>
            <a:off x="365760" y="3913632"/>
            <a:ext cx="45720" cy="621792"/>
          </a:xfrm>
          <a:prstGeom prst="rect">
            <a:avLst/>
          </a:prstGeom>
          <a:solidFill>
            <a:srgbClr val="1C7293"/>
          </a:solidFill>
          <a:ln w="12700">
            <a:solidFill>
              <a:srgbClr val="1C7293"/>
            </a:solidFill>
            <a:prstDash val="solid"/>
          </a:ln>
        </p:spPr>
      </p:sp>
      <p:sp>
        <p:nvSpPr>
          <p:cNvPr id="29" name="Text 27"/>
          <p:cNvSpPr/>
          <p:nvPr/>
        </p:nvSpPr>
        <p:spPr>
          <a:xfrm>
            <a:off x="475488" y="3986784"/>
            <a:ext cx="365760" cy="475488"/>
          </a:xfrm>
          <a:prstGeom prst="rect">
            <a:avLst/>
          </a:prstGeom>
          <a:noFill/>
          <a:ln/>
        </p:spPr>
        <p:txBody>
          <a:bodyPr wrap="square" lIns="0" tIns="0" rIns="0" bIns="0" rtlCol="0" anchor="ctr"/>
          <a:lstStyle/>
          <a:p>
            <a:pPr algn="ctr" indent="0" marL="0">
              <a:buNone/>
            </a:pPr>
            <a:r>
              <a:rPr lang="en-US" sz="1800" b="1" dirty="0">
                <a:solidFill>
                  <a:srgbClr val="02C39A"/>
                </a:solidFill>
                <a:latin typeface="Calibri" pitchFamily="34" charset="0"/>
                <a:ea typeface="Calibri" pitchFamily="34" charset="-122"/>
                <a:cs typeface="Calibri" pitchFamily="34" charset="-120"/>
              </a:rPr>
              <a:t>5</a:t>
            </a:r>
            <a:endParaRPr lang="en-US" sz="1800" dirty="0"/>
          </a:p>
        </p:txBody>
      </p:sp>
      <p:sp>
        <p:nvSpPr>
          <p:cNvPr id="30" name="Text 28"/>
          <p:cNvSpPr/>
          <p:nvPr/>
        </p:nvSpPr>
        <p:spPr>
          <a:xfrm>
            <a:off x="914400" y="3968496"/>
            <a:ext cx="3474720" cy="256032"/>
          </a:xfrm>
          <a:prstGeom prst="rect">
            <a:avLst/>
          </a:prstGeom>
          <a:noFill/>
          <a:ln/>
        </p:spPr>
        <p:txBody>
          <a:bodyPr wrap="square" lIns="0" tIns="0" rIns="0" bIns="0" rtlCol="0" anchor="t"/>
          <a:lstStyle/>
          <a:p>
            <a:pPr indent="0" marL="0">
              <a:buNone/>
            </a:pPr>
            <a:r>
              <a:rPr lang="en-US" sz="1300" b="1" dirty="0">
                <a:solidFill>
                  <a:srgbClr val="1A2E3B"/>
                </a:solidFill>
                <a:latin typeface="Georgia" pitchFamily="34" charset="0"/>
                <a:ea typeface="Georgia" pitchFamily="34" charset="-122"/>
                <a:cs typeface="Georgia" pitchFamily="34" charset="-120"/>
              </a:rPr>
              <a:t>User Workflows</a:t>
            </a:r>
            <a:endParaRPr lang="en-US" sz="1300" dirty="0"/>
          </a:p>
        </p:txBody>
      </p:sp>
      <p:sp>
        <p:nvSpPr>
          <p:cNvPr id="31" name="Text 29"/>
          <p:cNvSpPr/>
          <p:nvPr/>
        </p:nvSpPr>
        <p:spPr>
          <a:xfrm>
            <a:off x="914400" y="4206240"/>
            <a:ext cx="3474720" cy="256032"/>
          </a:xfrm>
          <a:prstGeom prst="rect">
            <a:avLst/>
          </a:prstGeom>
          <a:noFill/>
          <a:ln/>
        </p:spPr>
        <p:txBody>
          <a:bodyPr wrap="square" lIns="0" tIns="0" rIns="0" bIns="0" rtlCol="0" anchor="t"/>
          <a:lstStyle/>
          <a:p>
            <a:pPr indent="0" marL="0">
              <a:buNone/>
            </a:pPr>
            <a:r>
              <a:rPr lang="en-US" sz="950" dirty="0">
                <a:solidFill>
                  <a:srgbClr val="4A6278"/>
                </a:solidFill>
                <a:latin typeface="Calibri" pitchFamily="34" charset="0"/>
                <a:ea typeface="Calibri" pitchFamily="34" charset="-122"/>
                <a:cs typeface="Calibri" pitchFamily="34" charset="-120"/>
              </a:rPr>
              <a:t>Browse, manual upload, PDF-assisted upload</a:t>
            </a:r>
            <a:endParaRPr lang="en-US" sz="950" dirty="0"/>
          </a:p>
        </p:txBody>
      </p:sp>
      <p:sp>
        <p:nvSpPr>
          <p:cNvPr id="32" name="Shape 30"/>
          <p:cNvSpPr/>
          <p:nvPr/>
        </p:nvSpPr>
        <p:spPr>
          <a:xfrm>
            <a:off x="4846320" y="987552"/>
            <a:ext cx="4206240" cy="621792"/>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33" name="Shape 31"/>
          <p:cNvSpPr/>
          <p:nvPr/>
        </p:nvSpPr>
        <p:spPr>
          <a:xfrm>
            <a:off x="4846320" y="987552"/>
            <a:ext cx="45720" cy="621792"/>
          </a:xfrm>
          <a:prstGeom prst="rect">
            <a:avLst/>
          </a:prstGeom>
          <a:solidFill>
            <a:srgbClr val="1C7293"/>
          </a:solidFill>
          <a:ln w="12700">
            <a:solidFill>
              <a:srgbClr val="1C7293"/>
            </a:solidFill>
            <a:prstDash val="solid"/>
          </a:ln>
        </p:spPr>
      </p:sp>
      <p:sp>
        <p:nvSpPr>
          <p:cNvPr id="34" name="Text 32"/>
          <p:cNvSpPr/>
          <p:nvPr/>
        </p:nvSpPr>
        <p:spPr>
          <a:xfrm>
            <a:off x="4956048" y="1060704"/>
            <a:ext cx="365760" cy="475488"/>
          </a:xfrm>
          <a:prstGeom prst="rect">
            <a:avLst/>
          </a:prstGeom>
          <a:noFill/>
          <a:ln/>
        </p:spPr>
        <p:txBody>
          <a:bodyPr wrap="square" lIns="0" tIns="0" rIns="0" bIns="0" rtlCol="0" anchor="ctr"/>
          <a:lstStyle/>
          <a:p>
            <a:pPr algn="ctr" indent="0" marL="0">
              <a:buNone/>
            </a:pPr>
            <a:r>
              <a:rPr lang="en-US" sz="1800" b="1" dirty="0">
                <a:solidFill>
                  <a:srgbClr val="02C39A"/>
                </a:solidFill>
                <a:latin typeface="Calibri" pitchFamily="34" charset="0"/>
                <a:ea typeface="Calibri" pitchFamily="34" charset="-122"/>
                <a:cs typeface="Calibri" pitchFamily="34" charset="-120"/>
              </a:rPr>
              <a:t>6</a:t>
            </a:r>
            <a:endParaRPr lang="en-US" sz="1800" dirty="0"/>
          </a:p>
        </p:txBody>
      </p:sp>
      <p:sp>
        <p:nvSpPr>
          <p:cNvPr id="35" name="Text 33"/>
          <p:cNvSpPr/>
          <p:nvPr/>
        </p:nvSpPr>
        <p:spPr>
          <a:xfrm>
            <a:off x="5394960" y="1042416"/>
            <a:ext cx="3474720" cy="256032"/>
          </a:xfrm>
          <a:prstGeom prst="rect">
            <a:avLst/>
          </a:prstGeom>
          <a:noFill/>
          <a:ln/>
        </p:spPr>
        <p:txBody>
          <a:bodyPr wrap="square" lIns="0" tIns="0" rIns="0" bIns="0" rtlCol="0" anchor="t"/>
          <a:lstStyle/>
          <a:p>
            <a:pPr indent="0" marL="0">
              <a:buNone/>
            </a:pPr>
            <a:r>
              <a:rPr lang="en-US" sz="1300" b="1" dirty="0">
                <a:solidFill>
                  <a:srgbClr val="1A2E3B"/>
                </a:solidFill>
                <a:latin typeface="Georgia" pitchFamily="34" charset="0"/>
                <a:ea typeface="Georgia" pitchFamily="34" charset="-122"/>
                <a:cs typeface="Georgia" pitchFamily="34" charset="-120"/>
              </a:rPr>
              <a:t>Current Data</a:t>
            </a:r>
            <a:endParaRPr lang="en-US" sz="1300" dirty="0"/>
          </a:p>
        </p:txBody>
      </p:sp>
      <p:sp>
        <p:nvSpPr>
          <p:cNvPr id="36" name="Text 34"/>
          <p:cNvSpPr/>
          <p:nvPr/>
        </p:nvSpPr>
        <p:spPr>
          <a:xfrm>
            <a:off x="5394960" y="1280160"/>
            <a:ext cx="3474720" cy="256032"/>
          </a:xfrm>
          <a:prstGeom prst="rect">
            <a:avLst/>
          </a:prstGeom>
          <a:noFill/>
          <a:ln/>
        </p:spPr>
        <p:txBody>
          <a:bodyPr wrap="square" lIns="0" tIns="0" rIns="0" bIns="0" rtlCol="0" anchor="t"/>
          <a:lstStyle/>
          <a:p>
            <a:pPr indent="0" marL="0">
              <a:buNone/>
            </a:pPr>
            <a:r>
              <a:rPr lang="en-US" sz="950" dirty="0">
                <a:solidFill>
                  <a:srgbClr val="4A6278"/>
                </a:solidFill>
                <a:latin typeface="Calibri" pitchFamily="34" charset="0"/>
                <a:ea typeface="Calibri" pitchFamily="34" charset="-122"/>
                <a:cs typeface="Calibri" pitchFamily="34" charset="-120"/>
              </a:rPr>
              <a:t>289 rows, 4 materials, quality findings</a:t>
            </a:r>
            <a:endParaRPr lang="en-US" sz="950" dirty="0"/>
          </a:p>
        </p:txBody>
      </p:sp>
      <p:sp>
        <p:nvSpPr>
          <p:cNvPr id="37" name="Shape 35"/>
          <p:cNvSpPr/>
          <p:nvPr/>
        </p:nvSpPr>
        <p:spPr>
          <a:xfrm>
            <a:off x="4846320" y="1719072"/>
            <a:ext cx="4206240" cy="621792"/>
          </a:xfrm>
          <a:prstGeom prst="rect">
            <a:avLst/>
          </a:prstGeom>
          <a:solidFill>
            <a:srgbClr val="FFF8E1"/>
          </a:solidFill>
          <a:ln w="12700">
            <a:solidFill>
              <a:srgbClr val="F9A825"/>
            </a:solidFill>
            <a:prstDash val="solid"/>
          </a:ln>
          <a:effectLst>
            <a:outerShdw sx="100000" sy="100000" kx="0" ky="0" algn="bl" rotWithShape="0" blurRad="63500" dist="25400" dir="8100000">
              <a:srgbClr val="000000">
                <a:alpha val="8000"/>
              </a:srgbClr>
            </a:outerShdw>
          </a:effectLst>
        </p:spPr>
      </p:sp>
      <p:sp>
        <p:nvSpPr>
          <p:cNvPr id="38" name="Shape 36"/>
          <p:cNvSpPr/>
          <p:nvPr/>
        </p:nvSpPr>
        <p:spPr>
          <a:xfrm>
            <a:off x="4846320" y="1719072"/>
            <a:ext cx="45720" cy="621792"/>
          </a:xfrm>
          <a:prstGeom prst="rect">
            <a:avLst/>
          </a:prstGeom>
          <a:solidFill>
            <a:srgbClr val="F9A825"/>
          </a:solidFill>
          <a:ln w="12700">
            <a:solidFill>
              <a:srgbClr val="F9A825"/>
            </a:solidFill>
            <a:prstDash val="solid"/>
          </a:ln>
        </p:spPr>
      </p:sp>
      <p:sp>
        <p:nvSpPr>
          <p:cNvPr id="39" name="Text 37"/>
          <p:cNvSpPr/>
          <p:nvPr/>
        </p:nvSpPr>
        <p:spPr>
          <a:xfrm>
            <a:off x="4956048" y="1792224"/>
            <a:ext cx="365760" cy="475488"/>
          </a:xfrm>
          <a:prstGeom prst="rect">
            <a:avLst/>
          </a:prstGeom>
          <a:noFill/>
          <a:ln/>
        </p:spPr>
        <p:txBody>
          <a:bodyPr wrap="square" lIns="0" tIns="0" rIns="0" bIns="0" rtlCol="0" anchor="ctr"/>
          <a:lstStyle/>
          <a:p>
            <a:pPr algn="ctr" indent="0" marL="0">
              <a:buNone/>
            </a:pPr>
            <a:r>
              <a:rPr lang="en-US" sz="1800" b="1" dirty="0">
                <a:solidFill>
                  <a:srgbClr val="F9A825"/>
                </a:solidFill>
                <a:latin typeface="Calibri" pitchFamily="34" charset="0"/>
                <a:ea typeface="Calibri" pitchFamily="34" charset="-122"/>
                <a:cs typeface="Calibri" pitchFamily="34" charset="-120"/>
              </a:rPr>
              <a:t>7</a:t>
            </a:r>
            <a:endParaRPr lang="en-US" sz="1800" dirty="0"/>
          </a:p>
        </p:txBody>
      </p:sp>
      <p:sp>
        <p:nvSpPr>
          <p:cNvPr id="40" name="Text 38"/>
          <p:cNvSpPr/>
          <p:nvPr/>
        </p:nvSpPr>
        <p:spPr>
          <a:xfrm>
            <a:off x="5394960" y="1773936"/>
            <a:ext cx="3474720" cy="256032"/>
          </a:xfrm>
          <a:prstGeom prst="rect">
            <a:avLst/>
          </a:prstGeom>
          <a:noFill/>
          <a:ln/>
        </p:spPr>
        <p:txBody>
          <a:bodyPr wrap="square" lIns="0" tIns="0" rIns="0" bIns="0" rtlCol="0" anchor="t"/>
          <a:lstStyle/>
          <a:p>
            <a:pPr indent="0" marL="0">
              <a:buNone/>
            </a:pPr>
            <a:r>
              <a:rPr lang="en-US" sz="1300" b="1" dirty="0">
                <a:solidFill>
                  <a:srgbClr val="B8860B"/>
                </a:solidFill>
                <a:latin typeface="Georgia" pitchFamily="34" charset="0"/>
                <a:ea typeface="Georgia" pitchFamily="34" charset="-122"/>
                <a:cs typeface="Georgia" pitchFamily="34" charset="-120"/>
              </a:rPr>
              <a:t>LIVE DEMO</a:t>
            </a:r>
            <a:endParaRPr lang="en-US" sz="1300" dirty="0"/>
          </a:p>
        </p:txBody>
      </p:sp>
      <p:sp>
        <p:nvSpPr>
          <p:cNvPr id="41" name="Text 39"/>
          <p:cNvSpPr/>
          <p:nvPr/>
        </p:nvSpPr>
        <p:spPr>
          <a:xfrm>
            <a:off x="5394960" y="2011680"/>
            <a:ext cx="3474720" cy="256032"/>
          </a:xfrm>
          <a:prstGeom prst="rect">
            <a:avLst/>
          </a:prstGeom>
          <a:noFill/>
          <a:ln/>
        </p:spPr>
        <p:txBody>
          <a:bodyPr wrap="square" lIns="0" tIns="0" rIns="0" bIns="0" rtlCol="0" anchor="t"/>
          <a:lstStyle/>
          <a:p>
            <a:pPr indent="0" marL="0">
              <a:buNone/>
            </a:pPr>
            <a:r>
              <a:rPr lang="en-US" sz="950" dirty="0">
                <a:solidFill>
                  <a:srgbClr val="4A6278"/>
                </a:solidFill>
                <a:latin typeface="Calibri" pitchFamily="34" charset="0"/>
                <a:ea typeface="Calibri" pitchFamily="34" charset="-122"/>
                <a:cs typeface="Calibri" pitchFamily="34" charset="-120"/>
              </a:rPr>
              <a:t>Walk through the running Hugging Face Space</a:t>
            </a:r>
            <a:endParaRPr lang="en-US" sz="950" dirty="0"/>
          </a:p>
        </p:txBody>
      </p:sp>
      <p:sp>
        <p:nvSpPr>
          <p:cNvPr id="42" name="Shape 40"/>
          <p:cNvSpPr/>
          <p:nvPr/>
        </p:nvSpPr>
        <p:spPr>
          <a:xfrm>
            <a:off x="4846320" y="2450592"/>
            <a:ext cx="4206240" cy="621792"/>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43" name="Shape 41"/>
          <p:cNvSpPr/>
          <p:nvPr/>
        </p:nvSpPr>
        <p:spPr>
          <a:xfrm>
            <a:off x="4846320" y="2450592"/>
            <a:ext cx="45720" cy="621792"/>
          </a:xfrm>
          <a:prstGeom prst="rect">
            <a:avLst/>
          </a:prstGeom>
          <a:solidFill>
            <a:srgbClr val="1C7293"/>
          </a:solidFill>
          <a:ln w="12700">
            <a:solidFill>
              <a:srgbClr val="1C7293"/>
            </a:solidFill>
            <a:prstDash val="solid"/>
          </a:ln>
        </p:spPr>
      </p:sp>
      <p:sp>
        <p:nvSpPr>
          <p:cNvPr id="44" name="Text 42"/>
          <p:cNvSpPr/>
          <p:nvPr/>
        </p:nvSpPr>
        <p:spPr>
          <a:xfrm>
            <a:off x="4956048" y="2523744"/>
            <a:ext cx="365760" cy="475488"/>
          </a:xfrm>
          <a:prstGeom prst="rect">
            <a:avLst/>
          </a:prstGeom>
          <a:noFill/>
          <a:ln/>
        </p:spPr>
        <p:txBody>
          <a:bodyPr wrap="square" lIns="0" tIns="0" rIns="0" bIns="0" rtlCol="0" anchor="ctr"/>
          <a:lstStyle/>
          <a:p>
            <a:pPr algn="ctr" indent="0" marL="0">
              <a:buNone/>
            </a:pPr>
            <a:r>
              <a:rPr lang="en-US" sz="1800" b="1" dirty="0">
                <a:solidFill>
                  <a:srgbClr val="02C39A"/>
                </a:solidFill>
                <a:latin typeface="Calibri" pitchFamily="34" charset="0"/>
                <a:ea typeface="Calibri" pitchFamily="34" charset="-122"/>
                <a:cs typeface="Calibri" pitchFamily="34" charset="-120"/>
              </a:rPr>
              <a:t>8</a:t>
            </a:r>
            <a:endParaRPr lang="en-US" sz="1800" dirty="0"/>
          </a:p>
        </p:txBody>
      </p:sp>
      <p:sp>
        <p:nvSpPr>
          <p:cNvPr id="45" name="Text 43"/>
          <p:cNvSpPr/>
          <p:nvPr/>
        </p:nvSpPr>
        <p:spPr>
          <a:xfrm>
            <a:off x="5394960" y="2505456"/>
            <a:ext cx="3474720" cy="256032"/>
          </a:xfrm>
          <a:prstGeom prst="rect">
            <a:avLst/>
          </a:prstGeom>
          <a:noFill/>
          <a:ln/>
        </p:spPr>
        <p:txBody>
          <a:bodyPr wrap="square" lIns="0" tIns="0" rIns="0" bIns="0" rtlCol="0" anchor="t"/>
          <a:lstStyle/>
          <a:p>
            <a:pPr indent="0" marL="0">
              <a:buNone/>
            </a:pPr>
            <a:r>
              <a:rPr lang="en-US" sz="1300" b="1" dirty="0">
                <a:solidFill>
                  <a:srgbClr val="1A2E3B"/>
                </a:solidFill>
                <a:latin typeface="Georgia" pitchFamily="34" charset="0"/>
                <a:ea typeface="Georgia" pitchFamily="34" charset="-122"/>
                <a:cs typeface="Georgia" pitchFamily="34" charset="-120"/>
              </a:rPr>
              <a:t>Autonomous Ingestion</a:t>
            </a:r>
            <a:endParaRPr lang="en-US" sz="1300" dirty="0"/>
          </a:p>
        </p:txBody>
      </p:sp>
      <p:sp>
        <p:nvSpPr>
          <p:cNvPr id="46" name="Text 44"/>
          <p:cNvSpPr/>
          <p:nvPr/>
        </p:nvSpPr>
        <p:spPr>
          <a:xfrm>
            <a:off x="5394960" y="2743200"/>
            <a:ext cx="3474720" cy="256032"/>
          </a:xfrm>
          <a:prstGeom prst="rect">
            <a:avLst/>
          </a:prstGeom>
          <a:noFill/>
          <a:ln/>
        </p:spPr>
        <p:txBody>
          <a:bodyPr wrap="square" lIns="0" tIns="0" rIns="0" bIns="0" rtlCol="0" anchor="t"/>
          <a:lstStyle/>
          <a:p>
            <a:pPr indent="0" marL="0">
              <a:buNone/>
            </a:pPr>
            <a:r>
              <a:rPr lang="en-US" sz="950" dirty="0">
                <a:solidFill>
                  <a:srgbClr val="4A6278"/>
                </a:solidFill>
                <a:latin typeface="Calibri" pitchFamily="34" charset="0"/>
                <a:ea typeface="Calibri" pitchFamily="34" charset="-122"/>
                <a:cs typeface="Calibri" pitchFamily="34" charset="-120"/>
              </a:rPr>
              <a:t>Batch prototype &amp; path to fully automated ingestion</a:t>
            </a:r>
            <a:endParaRPr lang="en-US" sz="950" dirty="0"/>
          </a:p>
        </p:txBody>
      </p:sp>
      <p:sp>
        <p:nvSpPr>
          <p:cNvPr id="47" name="Shape 45"/>
          <p:cNvSpPr/>
          <p:nvPr/>
        </p:nvSpPr>
        <p:spPr>
          <a:xfrm>
            <a:off x="4846320" y="3182112"/>
            <a:ext cx="4206240" cy="621792"/>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48" name="Shape 46"/>
          <p:cNvSpPr/>
          <p:nvPr/>
        </p:nvSpPr>
        <p:spPr>
          <a:xfrm>
            <a:off x="4846320" y="3182112"/>
            <a:ext cx="45720" cy="621792"/>
          </a:xfrm>
          <a:prstGeom prst="rect">
            <a:avLst/>
          </a:prstGeom>
          <a:solidFill>
            <a:srgbClr val="1C7293"/>
          </a:solidFill>
          <a:ln w="12700">
            <a:solidFill>
              <a:srgbClr val="1C7293"/>
            </a:solidFill>
            <a:prstDash val="solid"/>
          </a:ln>
        </p:spPr>
      </p:sp>
      <p:sp>
        <p:nvSpPr>
          <p:cNvPr id="49" name="Text 47"/>
          <p:cNvSpPr/>
          <p:nvPr/>
        </p:nvSpPr>
        <p:spPr>
          <a:xfrm>
            <a:off x="4956048" y="3255264"/>
            <a:ext cx="365760" cy="475488"/>
          </a:xfrm>
          <a:prstGeom prst="rect">
            <a:avLst/>
          </a:prstGeom>
          <a:noFill/>
          <a:ln/>
        </p:spPr>
        <p:txBody>
          <a:bodyPr wrap="square" lIns="0" tIns="0" rIns="0" bIns="0" rtlCol="0" anchor="ctr"/>
          <a:lstStyle/>
          <a:p>
            <a:pPr algn="ctr" indent="0" marL="0">
              <a:buNone/>
            </a:pPr>
            <a:r>
              <a:rPr lang="en-US" sz="1800" b="1" dirty="0">
                <a:solidFill>
                  <a:srgbClr val="02C39A"/>
                </a:solidFill>
                <a:latin typeface="Calibri" pitchFamily="34" charset="0"/>
                <a:ea typeface="Calibri" pitchFamily="34" charset="-122"/>
                <a:cs typeface="Calibri" pitchFamily="34" charset="-120"/>
              </a:rPr>
              <a:t>9</a:t>
            </a:r>
            <a:endParaRPr lang="en-US" sz="1800" dirty="0"/>
          </a:p>
        </p:txBody>
      </p:sp>
      <p:sp>
        <p:nvSpPr>
          <p:cNvPr id="50" name="Text 48"/>
          <p:cNvSpPr/>
          <p:nvPr/>
        </p:nvSpPr>
        <p:spPr>
          <a:xfrm>
            <a:off x="5394960" y="3236976"/>
            <a:ext cx="3474720" cy="256032"/>
          </a:xfrm>
          <a:prstGeom prst="rect">
            <a:avLst/>
          </a:prstGeom>
          <a:noFill/>
          <a:ln/>
        </p:spPr>
        <p:txBody>
          <a:bodyPr wrap="square" lIns="0" tIns="0" rIns="0" bIns="0" rtlCol="0" anchor="t"/>
          <a:lstStyle/>
          <a:p>
            <a:pPr indent="0" marL="0">
              <a:buNone/>
            </a:pPr>
            <a:r>
              <a:rPr lang="en-US" sz="1300" b="1" dirty="0">
                <a:solidFill>
                  <a:srgbClr val="1A2E3B"/>
                </a:solidFill>
                <a:latin typeface="Georgia" pitchFamily="34" charset="0"/>
                <a:ea typeface="Georgia" pitchFamily="34" charset="-122"/>
                <a:cs typeface="Georgia" pitchFamily="34" charset="-120"/>
              </a:rPr>
              <a:t>Next Steps</a:t>
            </a:r>
            <a:endParaRPr lang="en-US" sz="1300" dirty="0"/>
          </a:p>
        </p:txBody>
      </p:sp>
      <p:sp>
        <p:nvSpPr>
          <p:cNvPr id="51" name="Text 49"/>
          <p:cNvSpPr/>
          <p:nvPr/>
        </p:nvSpPr>
        <p:spPr>
          <a:xfrm>
            <a:off x="5394960" y="3474720"/>
            <a:ext cx="3474720" cy="256032"/>
          </a:xfrm>
          <a:prstGeom prst="rect">
            <a:avLst/>
          </a:prstGeom>
          <a:noFill/>
          <a:ln/>
        </p:spPr>
        <p:txBody>
          <a:bodyPr wrap="square" lIns="0" tIns="0" rIns="0" bIns="0" rtlCol="0" anchor="t"/>
          <a:lstStyle/>
          <a:p>
            <a:pPr indent="0" marL="0">
              <a:buNone/>
            </a:pPr>
            <a:r>
              <a:rPr lang="en-US" sz="950" dirty="0">
                <a:solidFill>
                  <a:srgbClr val="4A6278"/>
                </a:solidFill>
                <a:latin typeface="Calibri" pitchFamily="34" charset="0"/>
                <a:ea typeface="Calibri" pitchFamily="34" charset="-122"/>
                <a:cs typeface="Calibri" pitchFamily="34" charset="-120"/>
              </a:rPr>
              <a:t>Provenance, evals, source discovery</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5FA"/>
        </a:solidFill>
      </p:bgPr>
    </p:bg>
    <p:spTree>
      <p:nvGrpSpPr>
        <p:cNvPr id="1" name=""/>
        <p:cNvGrpSpPr/>
        <p:nvPr/>
      </p:nvGrpSpPr>
      <p:grpSpPr>
        <a:xfrm>
          <a:off x="0" y="0"/>
          <a:ext cx="0" cy="0"/>
          <a:chOff x="0" y="0"/>
          <a:chExt cx="0" cy="0"/>
        </a:xfrm>
      </p:grpSpPr>
      <p:sp>
        <p:nvSpPr>
          <p:cNvPr id="2" name="Shape 0"/>
          <p:cNvSpPr/>
          <p:nvPr/>
        </p:nvSpPr>
        <p:spPr>
          <a:xfrm>
            <a:off x="365760" y="256032"/>
            <a:ext cx="64008" cy="438912"/>
          </a:xfrm>
          <a:prstGeom prst="rect">
            <a:avLst/>
          </a:prstGeom>
          <a:solidFill>
            <a:srgbClr val="02C39A"/>
          </a:solidFill>
          <a:ln w="12700">
            <a:solidFill>
              <a:srgbClr val="02C39A"/>
            </a:solidFill>
            <a:prstDash val="solid"/>
          </a:ln>
        </p:spPr>
      </p:sp>
      <p:sp>
        <p:nvSpPr>
          <p:cNvPr id="3" name="Text 1"/>
          <p:cNvSpPr/>
          <p:nvPr/>
        </p:nvSpPr>
        <p:spPr>
          <a:xfrm>
            <a:off x="502920" y="201168"/>
            <a:ext cx="8321040" cy="548640"/>
          </a:xfrm>
          <a:prstGeom prst="rect">
            <a:avLst/>
          </a:prstGeom>
          <a:noFill/>
          <a:ln/>
        </p:spPr>
        <p:txBody>
          <a:bodyPr wrap="square" lIns="0" tIns="0" rIns="0" bIns="0" rtlCol="0" anchor="ctr"/>
          <a:lstStyle/>
          <a:p>
            <a:pPr indent="0" marL="0">
              <a:buNone/>
            </a:pPr>
            <a:r>
              <a:rPr lang="en-US" sz="2600" b="1" dirty="0">
                <a:solidFill>
                  <a:srgbClr val="065A82"/>
                </a:solidFill>
                <a:latin typeface="Georgia" pitchFamily="34" charset="0"/>
                <a:ea typeface="Georgia" pitchFamily="34" charset="-122"/>
                <a:cs typeface="Georgia" pitchFamily="34" charset="-120"/>
              </a:rPr>
              <a:t>The Data Bottleneck for ML in Composites</a:t>
            </a:r>
            <a:endParaRPr lang="en-US" sz="2600" dirty="0"/>
          </a:p>
        </p:txBody>
      </p:sp>
      <p:sp>
        <p:nvSpPr>
          <p:cNvPr id="4" name="Shape 2"/>
          <p:cNvSpPr/>
          <p:nvPr/>
        </p:nvSpPr>
        <p:spPr>
          <a:xfrm>
            <a:off x="0" y="4887468"/>
            <a:ext cx="9144000" cy="256032"/>
          </a:xfrm>
          <a:prstGeom prst="rect">
            <a:avLst/>
          </a:prstGeom>
          <a:solidFill>
            <a:srgbClr val="1C7293"/>
          </a:solidFill>
          <a:ln w="12700">
            <a:solidFill>
              <a:srgbClr val="1C7293"/>
            </a:solidFill>
            <a:prstDash val="solid"/>
          </a:ln>
        </p:spPr>
      </p:sp>
      <p:sp>
        <p:nvSpPr>
          <p:cNvPr id="5" name="Text 3"/>
          <p:cNvSpPr/>
          <p:nvPr/>
        </p:nvSpPr>
        <p:spPr>
          <a:xfrm>
            <a:off x="274320" y="4905756"/>
            <a:ext cx="5486400" cy="219456"/>
          </a:xfrm>
          <a:prstGeom prst="rect">
            <a:avLst/>
          </a:prstGeom>
          <a:noFill/>
          <a:ln/>
        </p:spPr>
        <p:txBody>
          <a:bodyPr wrap="square" lIns="0" tIns="0" rIns="0" bIns="0" rtlCol="0" anchor="ctr"/>
          <a:lstStyle/>
          <a:p>
            <a:pPr indent="0" marL="0">
              <a:buNone/>
            </a:pPr>
            <a:r>
              <a:rPr lang="en-US" sz="800" dirty="0">
                <a:solidFill>
                  <a:srgbClr val="CCEEFF"/>
                </a:solidFill>
                <a:latin typeface="Calibri" pitchFamily="34" charset="0"/>
                <a:ea typeface="Calibri" pitchFamily="34" charset="-122"/>
                <a:cs typeface="Calibri" pitchFamily="34" charset="-120"/>
              </a:rPr>
              <a:t>Mathias Heider  |  ME8930 Course Project  |  May 2026</a:t>
            </a:r>
            <a:endParaRPr lang="en-US" sz="800" dirty="0"/>
          </a:p>
        </p:txBody>
      </p:sp>
      <p:sp>
        <p:nvSpPr>
          <p:cNvPr id="6" name="Text 4"/>
          <p:cNvSpPr/>
          <p:nvPr/>
        </p:nvSpPr>
        <p:spPr>
          <a:xfrm>
            <a:off x="6858000" y="4905756"/>
            <a:ext cx="2011680" cy="219456"/>
          </a:xfrm>
          <a:prstGeom prst="rect">
            <a:avLst/>
          </a:prstGeom>
          <a:noFill/>
          <a:ln/>
        </p:spPr>
        <p:txBody>
          <a:bodyPr wrap="square" lIns="0" tIns="0" rIns="0" bIns="0" rtlCol="0" anchor="ctr"/>
          <a:lstStyle/>
          <a:p>
            <a:pPr algn="r" indent="0" marL="0">
              <a:buNone/>
            </a:pPr>
            <a:r>
              <a:rPr lang="en-US" sz="800" dirty="0">
                <a:solidFill>
                  <a:srgbClr val="CCEEFF"/>
                </a:solidFill>
                <a:latin typeface="Calibri" pitchFamily="34" charset="0"/>
                <a:ea typeface="Calibri" pitchFamily="34" charset="-122"/>
                <a:cs typeface="Calibri" pitchFamily="34" charset="-120"/>
              </a:rPr>
              <a:t>1 / The Problem</a:t>
            </a:r>
            <a:endParaRPr lang="en-US" sz="800" dirty="0"/>
          </a:p>
        </p:txBody>
      </p:sp>
      <p:sp>
        <p:nvSpPr>
          <p:cNvPr id="7" name="Shape 5"/>
          <p:cNvSpPr/>
          <p:nvPr/>
        </p:nvSpPr>
        <p:spPr>
          <a:xfrm>
            <a:off x="365760" y="987552"/>
            <a:ext cx="2606040" cy="3108960"/>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8" name="Shape 6"/>
          <p:cNvSpPr/>
          <p:nvPr/>
        </p:nvSpPr>
        <p:spPr>
          <a:xfrm>
            <a:off x="365760" y="987552"/>
            <a:ext cx="45720" cy="3108960"/>
          </a:xfrm>
          <a:prstGeom prst="rect">
            <a:avLst/>
          </a:prstGeom>
          <a:solidFill>
            <a:srgbClr val="065A82"/>
          </a:solidFill>
          <a:ln w="12700">
            <a:solidFill>
              <a:srgbClr val="065A82"/>
            </a:solidFill>
            <a:prstDash val="solid"/>
          </a:ln>
        </p:spPr>
      </p:sp>
      <p:sp>
        <p:nvSpPr>
          <p:cNvPr id="9" name="Shape 7"/>
          <p:cNvSpPr/>
          <p:nvPr/>
        </p:nvSpPr>
        <p:spPr>
          <a:xfrm>
            <a:off x="1097280" y="1115568"/>
            <a:ext cx="1143000" cy="457200"/>
          </a:xfrm>
          <a:prstGeom prst="rect">
            <a:avLst/>
          </a:prstGeom>
          <a:solidFill>
            <a:srgbClr val="065A82"/>
          </a:solidFill>
          <a:ln w="12700">
            <a:solidFill>
              <a:srgbClr val="065A82"/>
            </a:solidFill>
            <a:prstDash val="solid"/>
          </a:ln>
        </p:spPr>
      </p:sp>
      <p:sp>
        <p:nvSpPr>
          <p:cNvPr id="10" name="Text 8"/>
          <p:cNvSpPr/>
          <p:nvPr/>
        </p:nvSpPr>
        <p:spPr>
          <a:xfrm>
            <a:off x="1097280" y="1115568"/>
            <a:ext cx="1143000" cy="457200"/>
          </a:xfrm>
          <a:prstGeom prst="rect">
            <a:avLst/>
          </a:prstGeom>
          <a:noFill/>
          <a:ln/>
        </p:spPr>
        <p:txBody>
          <a:bodyPr wrap="square" lIns="0" tIns="0" rIns="0" bIns="0" rtlCol="0" anchor="ctr"/>
          <a:lstStyle/>
          <a:p>
            <a:pPr algn="ctr" indent="0" marL="0">
              <a:buNone/>
            </a:pPr>
            <a:r>
              <a:rPr lang="en-US" sz="1400" b="1" dirty="0">
                <a:solidFill>
                  <a:srgbClr val="02C39A"/>
                </a:solidFill>
                <a:latin typeface="Calibri" pitchFamily="34" charset="0"/>
                <a:ea typeface="Calibri" pitchFamily="34" charset="-122"/>
                <a:cs typeface="Calibri" pitchFamily="34" charset="-120"/>
              </a:rPr>
              <a:t>PDF</a:t>
            </a:r>
            <a:endParaRPr lang="en-US" sz="1400" dirty="0"/>
          </a:p>
        </p:txBody>
      </p:sp>
      <p:sp>
        <p:nvSpPr>
          <p:cNvPr id="11" name="Text 9"/>
          <p:cNvSpPr/>
          <p:nvPr/>
        </p:nvSpPr>
        <p:spPr>
          <a:xfrm>
            <a:off x="502920" y="1664208"/>
            <a:ext cx="2331720" cy="384048"/>
          </a:xfrm>
          <a:prstGeom prst="rect">
            <a:avLst/>
          </a:prstGeom>
          <a:noFill/>
          <a:ln/>
        </p:spPr>
        <p:txBody>
          <a:bodyPr wrap="square" lIns="0" tIns="0" rIns="0" bIns="0" rtlCol="0" anchor="ctr"/>
          <a:lstStyle/>
          <a:p>
            <a:pPr algn="ctr" indent="0" marL="0">
              <a:buNone/>
            </a:pPr>
            <a:r>
              <a:rPr lang="en-US" sz="1350" b="1" dirty="0">
                <a:solidFill>
                  <a:srgbClr val="065A82"/>
                </a:solidFill>
                <a:latin typeface="Georgia" pitchFamily="34" charset="0"/>
                <a:ea typeface="Georgia" pitchFamily="34" charset="-122"/>
                <a:cs typeface="Georgia" pitchFamily="34" charset="-120"/>
              </a:rPr>
              <a:t>Locked in PDFs</a:t>
            </a:r>
            <a:endParaRPr lang="en-US" sz="1350" dirty="0"/>
          </a:p>
        </p:txBody>
      </p:sp>
      <p:sp>
        <p:nvSpPr>
          <p:cNvPr id="12" name="Shape 10"/>
          <p:cNvSpPr/>
          <p:nvPr/>
        </p:nvSpPr>
        <p:spPr>
          <a:xfrm>
            <a:off x="1005840" y="2103120"/>
            <a:ext cx="1325880" cy="36576"/>
          </a:xfrm>
          <a:prstGeom prst="rect">
            <a:avLst/>
          </a:prstGeom>
          <a:solidFill>
            <a:srgbClr val="02C39A"/>
          </a:solidFill>
          <a:ln w="12700">
            <a:solidFill>
              <a:srgbClr val="02C39A"/>
            </a:solidFill>
            <a:prstDash val="solid"/>
          </a:ln>
        </p:spPr>
      </p:sp>
      <p:sp>
        <p:nvSpPr>
          <p:cNvPr id="13" name="Text 11"/>
          <p:cNvSpPr/>
          <p:nvPr/>
        </p:nvSpPr>
        <p:spPr>
          <a:xfrm>
            <a:off x="502920" y="2194560"/>
            <a:ext cx="2331720" cy="1627632"/>
          </a:xfrm>
          <a:prstGeom prst="rect">
            <a:avLst/>
          </a:prstGeom>
          <a:noFill/>
          <a:ln/>
        </p:spPr>
        <p:txBody>
          <a:bodyPr wrap="square" lIns="0" tIns="0" rIns="0" bIns="0" rtlCol="0" anchor="t"/>
          <a:lstStyle/>
          <a:p>
            <a:pPr algn="l" indent="0" marL="0">
              <a:buNone/>
            </a:pPr>
            <a:r>
              <a:rPr lang="en-US" sz="1100" dirty="0">
                <a:solidFill>
                  <a:srgbClr val="4A6278"/>
                </a:solidFill>
                <a:latin typeface="Calibri" pitchFamily="34" charset="0"/>
                <a:ea typeface="Calibri" pitchFamily="34" charset="-122"/>
                <a:cs typeface="Calibri" pitchFamily="34" charset="-120"/>
              </a:rPr>
              <a:t>Manufacturer datasheets &amp; journal papers are unstructured. No machine-readable format, no standardized column names.</a:t>
            </a:r>
            <a:endParaRPr lang="en-US" sz="1100" dirty="0"/>
          </a:p>
        </p:txBody>
      </p:sp>
      <p:sp>
        <p:nvSpPr>
          <p:cNvPr id="14" name="Shape 12"/>
          <p:cNvSpPr/>
          <p:nvPr/>
        </p:nvSpPr>
        <p:spPr>
          <a:xfrm>
            <a:off x="3200400" y="987552"/>
            <a:ext cx="2606040" cy="3108960"/>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15" name="Shape 13"/>
          <p:cNvSpPr/>
          <p:nvPr/>
        </p:nvSpPr>
        <p:spPr>
          <a:xfrm>
            <a:off x="3200400" y="987552"/>
            <a:ext cx="45720" cy="3108960"/>
          </a:xfrm>
          <a:prstGeom prst="rect">
            <a:avLst/>
          </a:prstGeom>
          <a:solidFill>
            <a:srgbClr val="065A82"/>
          </a:solidFill>
          <a:ln w="12700">
            <a:solidFill>
              <a:srgbClr val="065A82"/>
            </a:solidFill>
            <a:prstDash val="solid"/>
          </a:ln>
        </p:spPr>
      </p:sp>
      <p:sp>
        <p:nvSpPr>
          <p:cNvPr id="16" name="Shape 14"/>
          <p:cNvSpPr/>
          <p:nvPr/>
        </p:nvSpPr>
        <p:spPr>
          <a:xfrm>
            <a:off x="3931920" y="1115568"/>
            <a:ext cx="1143000" cy="457200"/>
          </a:xfrm>
          <a:prstGeom prst="rect">
            <a:avLst/>
          </a:prstGeom>
          <a:solidFill>
            <a:srgbClr val="065A82"/>
          </a:solidFill>
          <a:ln w="12700">
            <a:solidFill>
              <a:srgbClr val="065A82"/>
            </a:solidFill>
            <a:prstDash val="solid"/>
          </a:ln>
        </p:spPr>
      </p:sp>
      <p:sp>
        <p:nvSpPr>
          <p:cNvPr id="17" name="Text 15"/>
          <p:cNvSpPr/>
          <p:nvPr/>
        </p:nvSpPr>
        <p:spPr>
          <a:xfrm>
            <a:off x="3931920" y="1115568"/>
            <a:ext cx="1143000" cy="457200"/>
          </a:xfrm>
          <a:prstGeom prst="rect">
            <a:avLst/>
          </a:prstGeom>
          <a:noFill/>
          <a:ln/>
        </p:spPr>
        <p:txBody>
          <a:bodyPr wrap="square" lIns="0" tIns="0" rIns="0" bIns="0" rtlCol="0" anchor="ctr"/>
          <a:lstStyle/>
          <a:p>
            <a:pPr algn="ctr" indent="0" marL="0">
              <a:buNone/>
            </a:pPr>
            <a:r>
              <a:rPr lang="en-US" sz="1400" b="1" dirty="0">
                <a:solidFill>
                  <a:srgbClr val="02C39A"/>
                </a:solidFill>
                <a:latin typeface="Calibri" pitchFamily="34" charset="0"/>
                <a:ea typeface="Calibri" pitchFamily="34" charset="-122"/>
                <a:cs typeface="Calibri" pitchFamily="34" charset="-120"/>
              </a:rPr>
              <a:t>DB</a:t>
            </a:r>
            <a:endParaRPr lang="en-US" sz="1400" dirty="0"/>
          </a:p>
        </p:txBody>
      </p:sp>
      <p:sp>
        <p:nvSpPr>
          <p:cNvPr id="18" name="Text 16"/>
          <p:cNvSpPr/>
          <p:nvPr/>
        </p:nvSpPr>
        <p:spPr>
          <a:xfrm>
            <a:off x="3337560" y="1664208"/>
            <a:ext cx="2331720" cy="384048"/>
          </a:xfrm>
          <a:prstGeom prst="rect">
            <a:avLst/>
          </a:prstGeom>
          <a:noFill/>
          <a:ln/>
        </p:spPr>
        <p:txBody>
          <a:bodyPr wrap="square" lIns="0" tIns="0" rIns="0" bIns="0" rtlCol="0" anchor="ctr"/>
          <a:lstStyle/>
          <a:p>
            <a:pPr algn="ctr" indent="0" marL="0">
              <a:buNone/>
            </a:pPr>
            <a:r>
              <a:rPr lang="en-US" sz="1350" b="1" dirty="0">
                <a:solidFill>
                  <a:srgbClr val="065A82"/>
                </a:solidFill>
                <a:latin typeface="Georgia" pitchFamily="34" charset="0"/>
                <a:ea typeface="Georgia" pitchFamily="34" charset="-122"/>
                <a:cs typeface="Georgia" pitchFamily="34" charset="-120"/>
              </a:rPr>
              <a:t>Sparse &amp; Paywalled</a:t>
            </a:r>
            <a:endParaRPr lang="en-US" sz="1350" dirty="0"/>
          </a:p>
        </p:txBody>
      </p:sp>
      <p:sp>
        <p:nvSpPr>
          <p:cNvPr id="19" name="Shape 17"/>
          <p:cNvSpPr/>
          <p:nvPr/>
        </p:nvSpPr>
        <p:spPr>
          <a:xfrm>
            <a:off x="3840480" y="2103120"/>
            <a:ext cx="1325880" cy="36576"/>
          </a:xfrm>
          <a:prstGeom prst="rect">
            <a:avLst/>
          </a:prstGeom>
          <a:solidFill>
            <a:srgbClr val="02C39A"/>
          </a:solidFill>
          <a:ln w="12700">
            <a:solidFill>
              <a:srgbClr val="02C39A"/>
            </a:solidFill>
            <a:prstDash val="solid"/>
          </a:ln>
        </p:spPr>
      </p:sp>
      <p:sp>
        <p:nvSpPr>
          <p:cNvPr id="20" name="Text 18"/>
          <p:cNvSpPr/>
          <p:nvPr/>
        </p:nvSpPr>
        <p:spPr>
          <a:xfrm>
            <a:off x="3337560" y="2194560"/>
            <a:ext cx="2331720" cy="1627632"/>
          </a:xfrm>
          <a:prstGeom prst="rect">
            <a:avLst/>
          </a:prstGeom>
          <a:noFill/>
          <a:ln/>
        </p:spPr>
        <p:txBody>
          <a:bodyPr wrap="square" lIns="0" tIns="0" rIns="0" bIns="0" rtlCol="0" anchor="t"/>
          <a:lstStyle/>
          <a:p>
            <a:pPr algn="l" indent="0" marL="0">
              <a:buNone/>
            </a:pPr>
            <a:r>
              <a:rPr lang="en-US" sz="1100" dirty="0">
                <a:solidFill>
                  <a:srgbClr val="4A6278"/>
                </a:solidFill>
                <a:latin typeface="Calibri" pitchFamily="34" charset="0"/>
                <a:ea typeface="Calibri" pitchFamily="34" charset="-122"/>
                <a:cs typeface="Calibri" pitchFamily="34" charset="-120"/>
              </a:rPr>
              <a:t>Public databases (MatWeb, Granta MI) are costly, test-condition-poor, and sparse for thermoplastic composites.</a:t>
            </a:r>
            <a:endParaRPr lang="en-US" sz="1100" dirty="0"/>
          </a:p>
        </p:txBody>
      </p:sp>
      <p:sp>
        <p:nvSpPr>
          <p:cNvPr id="21" name="Shape 19"/>
          <p:cNvSpPr/>
          <p:nvPr/>
        </p:nvSpPr>
        <p:spPr>
          <a:xfrm>
            <a:off x="6035040" y="987552"/>
            <a:ext cx="2606040" cy="3108960"/>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22" name="Shape 20"/>
          <p:cNvSpPr/>
          <p:nvPr/>
        </p:nvSpPr>
        <p:spPr>
          <a:xfrm>
            <a:off x="6035040" y="987552"/>
            <a:ext cx="45720" cy="3108960"/>
          </a:xfrm>
          <a:prstGeom prst="rect">
            <a:avLst/>
          </a:prstGeom>
          <a:solidFill>
            <a:srgbClr val="065A82"/>
          </a:solidFill>
          <a:ln w="12700">
            <a:solidFill>
              <a:srgbClr val="065A82"/>
            </a:solidFill>
            <a:prstDash val="solid"/>
          </a:ln>
        </p:spPr>
      </p:sp>
      <p:sp>
        <p:nvSpPr>
          <p:cNvPr id="23" name="Shape 21"/>
          <p:cNvSpPr/>
          <p:nvPr/>
        </p:nvSpPr>
        <p:spPr>
          <a:xfrm>
            <a:off x="6766560" y="1115568"/>
            <a:ext cx="1143000" cy="457200"/>
          </a:xfrm>
          <a:prstGeom prst="rect">
            <a:avLst/>
          </a:prstGeom>
          <a:solidFill>
            <a:srgbClr val="065A82"/>
          </a:solidFill>
          <a:ln w="12700">
            <a:solidFill>
              <a:srgbClr val="065A82"/>
            </a:solidFill>
            <a:prstDash val="solid"/>
          </a:ln>
        </p:spPr>
      </p:sp>
      <p:sp>
        <p:nvSpPr>
          <p:cNvPr id="24" name="Text 22"/>
          <p:cNvSpPr/>
          <p:nvPr/>
        </p:nvSpPr>
        <p:spPr>
          <a:xfrm>
            <a:off x="6766560" y="1115568"/>
            <a:ext cx="1143000" cy="457200"/>
          </a:xfrm>
          <a:prstGeom prst="rect">
            <a:avLst/>
          </a:prstGeom>
          <a:noFill/>
          <a:ln/>
        </p:spPr>
        <p:txBody>
          <a:bodyPr wrap="square" lIns="0" tIns="0" rIns="0" bIns="0" rtlCol="0" anchor="ctr"/>
          <a:lstStyle/>
          <a:p>
            <a:pPr algn="ctr" indent="0" marL="0">
              <a:buNone/>
            </a:pPr>
            <a:r>
              <a:rPr lang="en-US" sz="1400" b="1" dirty="0">
                <a:solidFill>
                  <a:srgbClr val="02C39A"/>
                </a:solidFill>
                <a:latin typeface="Calibri" pitchFamily="34" charset="0"/>
                <a:ea typeface="Calibri" pitchFamily="34" charset="-122"/>
                <a:cs typeface="Calibri" pitchFamily="34" charset="-120"/>
              </a:rPr>
              <a:t>GAP</a:t>
            </a:r>
            <a:endParaRPr lang="en-US" sz="1400" dirty="0"/>
          </a:p>
        </p:txBody>
      </p:sp>
      <p:sp>
        <p:nvSpPr>
          <p:cNvPr id="25" name="Text 23"/>
          <p:cNvSpPr/>
          <p:nvPr/>
        </p:nvSpPr>
        <p:spPr>
          <a:xfrm>
            <a:off x="6172200" y="1664208"/>
            <a:ext cx="2331720" cy="384048"/>
          </a:xfrm>
          <a:prstGeom prst="rect">
            <a:avLst/>
          </a:prstGeom>
          <a:noFill/>
          <a:ln/>
        </p:spPr>
        <p:txBody>
          <a:bodyPr wrap="square" lIns="0" tIns="0" rIns="0" bIns="0" rtlCol="0" anchor="ctr"/>
          <a:lstStyle/>
          <a:p>
            <a:pPr algn="ctr" indent="0" marL="0">
              <a:buNone/>
            </a:pPr>
            <a:r>
              <a:rPr lang="en-US" sz="1350" b="1" dirty="0">
                <a:solidFill>
                  <a:srgbClr val="065A82"/>
                </a:solidFill>
                <a:latin typeface="Georgia" pitchFamily="34" charset="0"/>
                <a:ea typeface="Georgia" pitchFamily="34" charset="-122"/>
                <a:cs typeface="Georgia" pitchFamily="34" charset="-120"/>
              </a:rPr>
              <a:t>No Open Standard</a:t>
            </a:r>
            <a:endParaRPr lang="en-US" sz="1350" dirty="0"/>
          </a:p>
        </p:txBody>
      </p:sp>
      <p:sp>
        <p:nvSpPr>
          <p:cNvPr id="26" name="Shape 24"/>
          <p:cNvSpPr/>
          <p:nvPr/>
        </p:nvSpPr>
        <p:spPr>
          <a:xfrm>
            <a:off x="6675120" y="2103120"/>
            <a:ext cx="1325880" cy="36576"/>
          </a:xfrm>
          <a:prstGeom prst="rect">
            <a:avLst/>
          </a:prstGeom>
          <a:solidFill>
            <a:srgbClr val="02C39A"/>
          </a:solidFill>
          <a:ln w="12700">
            <a:solidFill>
              <a:srgbClr val="02C39A"/>
            </a:solidFill>
            <a:prstDash val="solid"/>
          </a:ln>
        </p:spPr>
      </p:sp>
      <p:sp>
        <p:nvSpPr>
          <p:cNvPr id="27" name="Text 25"/>
          <p:cNvSpPr/>
          <p:nvPr/>
        </p:nvSpPr>
        <p:spPr>
          <a:xfrm>
            <a:off x="6172200" y="2194560"/>
            <a:ext cx="2331720" cy="1627632"/>
          </a:xfrm>
          <a:prstGeom prst="rect">
            <a:avLst/>
          </a:prstGeom>
          <a:noFill/>
          <a:ln/>
        </p:spPr>
        <p:txBody>
          <a:bodyPr wrap="square" lIns="0" tIns="0" rIns="0" bIns="0" rtlCol="0" anchor="t"/>
          <a:lstStyle/>
          <a:p>
            <a:pPr algn="l" indent="0" marL="0">
              <a:buNone/>
            </a:pPr>
            <a:r>
              <a:rPr lang="en-US" sz="1100" dirty="0">
                <a:solidFill>
                  <a:srgbClr val="4A6278"/>
                </a:solidFill>
                <a:latin typeface="Calibri" pitchFamily="34" charset="0"/>
                <a:ea typeface="Calibri" pitchFamily="34" charset="-122"/>
                <a:cs typeface="Calibri" pitchFamily="34" charset="-120"/>
              </a:rPr>
              <a:t>No widely accepted open repository for thermoplastic composite mechanical, thermal &amp; processing data exists.</a:t>
            </a:r>
            <a:endParaRPr lang="en-US" sz="1100" dirty="0"/>
          </a:p>
        </p:txBody>
      </p:sp>
      <p:sp>
        <p:nvSpPr>
          <p:cNvPr id="28" name="Shape 26"/>
          <p:cNvSpPr/>
          <p:nvPr/>
        </p:nvSpPr>
        <p:spPr>
          <a:xfrm>
            <a:off x="365760" y="4279392"/>
            <a:ext cx="8412480" cy="585216"/>
          </a:xfrm>
          <a:prstGeom prst="rect">
            <a:avLst/>
          </a:prstGeom>
          <a:solidFill>
            <a:srgbClr val="065A82"/>
          </a:solidFill>
          <a:ln w="12700">
            <a:solidFill>
              <a:srgbClr val="065A82"/>
            </a:solidFill>
            <a:prstDash val="solid"/>
          </a:ln>
        </p:spPr>
      </p:sp>
      <p:sp>
        <p:nvSpPr>
          <p:cNvPr id="29" name="Text 27"/>
          <p:cNvSpPr/>
          <p:nvPr/>
        </p:nvSpPr>
        <p:spPr>
          <a:xfrm>
            <a:off x="502920" y="4279392"/>
            <a:ext cx="8138160" cy="585216"/>
          </a:xfrm>
          <a:prstGeom prst="rect">
            <a:avLst/>
          </a:prstGeom>
          <a:noFill/>
          <a:ln/>
        </p:spPr>
        <p:txBody>
          <a:bodyPr wrap="square" lIns="0" tIns="0" rIns="0" bIns="0"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ML models for composites -- forward prediction, inverse design, process-quality -- all bottleneck on training data that does not exist in usable form.</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F5FA"/>
        </a:solidFill>
      </p:bgPr>
    </p:bg>
    <p:spTree>
      <p:nvGrpSpPr>
        <p:cNvPr id="1" name=""/>
        <p:cNvGrpSpPr/>
        <p:nvPr/>
      </p:nvGrpSpPr>
      <p:grpSpPr>
        <a:xfrm>
          <a:off x="0" y="0"/>
          <a:ext cx="0" cy="0"/>
          <a:chOff x="0" y="0"/>
          <a:chExt cx="0" cy="0"/>
        </a:xfrm>
      </p:grpSpPr>
      <p:sp>
        <p:nvSpPr>
          <p:cNvPr id="2" name="Shape 0"/>
          <p:cNvSpPr/>
          <p:nvPr/>
        </p:nvSpPr>
        <p:spPr>
          <a:xfrm>
            <a:off x="365760" y="256032"/>
            <a:ext cx="64008" cy="438912"/>
          </a:xfrm>
          <a:prstGeom prst="rect">
            <a:avLst/>
          </a:prstGeom>
          <a:solidFill>
            <a:srgbClr val="02C39A"/>
          </a:solidFill>
          <a:ln w="12700">
            <a:solidFill>
              <a:srgbClr val="02C39A"/>
            </a:solidFill>
            <a:prstDash val="solid"/>
          </a:ln>
        </p:spPr>
      </p:sp>
      <p:sp>
        <p:nvSpPr>
          <p:cNvPr id="3" name="Text 1"/>
          <p:cNvSpPr/>
          <p:nvPr/>
        </p:nvSpPr>
        <p:spPr>
          <a:xfrm>
            <a:off x="502920" y="201168"/>
            <a:ext cx="8321040" cy="548640"/>
          </a:xfrm>
          <a:prstGeom prst="rect">
            <a:avLst/>
          </a:prstGeom>
          <a:noFill/>
          <a:ln/>
        </p:spPr>
        <p:txBody>
          <a:bodyPr wrap="square" lIns="0" tIns="0" rIns="0" bIns="0" rtlCol="0" anchor="ctr"/>
          <a:lstStyle/>
          <a:p>
            <a:pPr indent="0" marL="0">
              <a:buNone/>
            </a:pPr>
            <a:r>
              <a:rPr lang="en-US" sz="2600" b="1" dirty="0">
                <a:solidFill>
                  <a:srgbClr val="065A82"/>
                </a:solidFill>
                <a:latin typeface="Georgia" pitchFamily="34" charset="0"/>
                <a:ea typeface="Georgia" pitchFamily="34" charset="-122"/>
                <a:cs typeface="Georgia" pitchFamily="34" charset="-120"/>
              </a:rPr>
              <a:t>Related Work</a:t>
            </a:r>
            <a:endParaRPr lang="en-US" sz="2600" dirty="0"/>
          </a:p>
        </p:txBody>
      </p:sp>
      <p:sp>
        <p:nvSpPr>
          <p:cNvPr id="4" name="Shape 2"/>
          <p:cNvSpPr/>
          <p:nvPr/>
        </p:nvSpPr>
        <p:spPr>
          <a:xfrm>
            <a:off x="0" y="4887468"/>
            <a:ext cx="9144000" cy="256032"/>
          </a:xfrm>
          <a:prstGeom prst="rect">
            <a:avLst/>
          </a:prstGeom>
          <a:solidFill>
            <a:srgbClr val="1C7293"/>
          </a:solidFill>
          <a:ln w="12700">
            <a:solidFill>
              <a:srgbClr val="1C7293"/>
            </a:solidFill>
            <a:prstDash val="solid"/>
          </a:ln>
        </p:spPr>
      </p:sp>
      <p:sp>
        <p:nvSpPr>
          <p:cNvPr id="5" name="Text 3"/>
          <p:cNvSpPr/>
          <p:nvPr/>
        </p:nvSpPr>
        <p:spPr>
          <a:xfrm>
            <a:off x="274320" y="4905756"/>
            <a:ext cx="5486400" cy="219456"/>
          </a:xfrm>
          <a:prstGeom prst="rect">
            <a:avLst/>
          </a:prstGeom>
          <a:noFill/>
          <a:ln/>
        </p:spPr>
        <p:txBody>
          <a:bodyPr wrap="square" lIns="0" tIns="0" rIns="0" bIns="0" rtlCol="0" anchor="ctr"/>
          <a:lstStyle/>
          <a:p>
            <a:pPr indent="0" marL="0">
              <a:buNone/>
            </a:pPr>
            <a:r>
              <a:rPr lang="en-US" sz="800" dirty="0">
                <a:solidFill>
                  <a:srgbClr val="CCEEFF"/>
                </a:solidFill>
                <a:latin typeface="Calibri" pitchFamily="34" charset="0"/>
                <a:ea typeface="Calibri" pitchFamily="34" charset="-122"/>
                <a:cs typeface="Calibri" pitchFamily="34" charset="-120"/>
              </a:rPr>
              <a:t>Mathias Heider  |  ME8930 Course Project  |  May 2026</a:t>
            </a:r>
            <a:endParaRPr lang="en-US" sz="800" dirty="0"/>
          </a:p>
        </p:txBody>
      </p:sp>
      <p:sp>
        <p:nvSpPr>
          <p:cNvPr id="6" name="Text 4"/>
          <p:cNvSpPr/>
          <p:nvPr/>
        </p:nvSpPr>
        <p:spPr>
          <a:xfrm>
            <a:off x="6858000" y="4905756"/>
            <a:ext cx="2011680" cy="219456"/>
          </a:xfrm>
          <a:prstGeom prst="rect">
            <a:avLst/>
          </a:prstGeom>
          <a:noFill/>
          <a:ln/>
        </p:spPr>
        <p:txBody>
          <a:bodyPr wrap="square" lIns="0" tIns="0" rIns="0" bIns="0" rtlCol="0" anchor="ctr"/>
          <a:lstStyle/>
          <a:p>
            <a:pPr algn="r" indent="0" marL="0">
              <a:buNone/>
            </a:pPr>
            <a:r>
              <a:rPr lang="en-US" sz="800" dirty="0">
                <a:solidFill>
                  <a:srgbClr val="CCEEFF"/>
                </a:solidFill>
                <a:latin typeface="Calibri" pitchFamily="34" charset="0"/>
                <a:ea typeface="Calibri" pitchFamily="34" charset="-122"/>
                <a:cs typeface="Calibri" pitchFamily="34" charset="-120"/>
              </a:rPr>
              <a:t>2 / Related Work</a:t>
            </a:r>
            <a:endParaRPr lang="en-US" sz="800" dirty="0"/>
          </a:p>
        </p:txBody>
      </p:sp>
      <p:sp>
        <p:nvSpPr>
          <p:cNvPr id="7" name="Shape 5"/>
          <p:cNvSpPr/>
          <p:nvPr/>
        </p:nvSpPr>
        <p:spPr>
          <a:xfrm>
            <a:off x="365760" y="987552"/>
            <a:ext cx="3931920" cy="3520440"/>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8" name="Text 6"/>
          <p:cNvSpPr/>
          <p:nvPr/>
        </p:nvSpPr>
        <p:spPr>
          <a:xfrm>
            <a:off x="502920" y="1078992"/>
            <a:ext cx="3611880" cy="347472"/>
          </a:xfrm>
          <a:prstGeom prst="rect">
            <a:avLst/>
          </a:prstGeom>
          <a:noFill/>
          <a:ln/>
        </p:spPr>
        <p:txBody>
          <a:bodyPr wrap="square" lIns="0" tIns="0" rIns="0" bIns="0" rtlCol="0" anchor="ctr"/>
          <a:lstStyle/>
          <a:p>
            <a:pPr indent="0" marL="0">
              <a:buNone/>
            </a:pPr>
            <a:r>
              <a:rPr lang="en-US" sz="1400" b="1" dirty="0">
                <a:solidFill>
                  <a:srgbClr val="065A82"/>
                </a:solidFill>
                <a:latin typeface="Georgia" pitchFamily="34" charset="0"/>
                <a:ea typeface="Georgia" pitchFamily="34" charset="-122"/>
                <a:cs typeface="Georgia" pitchFamily="34" charset="-120"/>
              </a:rPr>
              <a:t>Existing Databases</a:t>
            </a:r>
            <a:endParaRPr lang="en-US" sz="1400" dirty="0"/>
          </a:p>
        </p:txBody>
      </p:sp>
      <p:sp>
        <p:nvSpPr>
          <p:cNvPr id="9" name="Text 7"/>
          <p:cNvSpPr/>
          <p:nvPr/>
        </p:nvSpPr>
        <p:spPr>
          <a:xfrm>
            <a:off x="530352" y="1508760"/>
            <a:ext cx="3611880" cy="2651760"/>
          </a:xfrm>
          <a:prstGeom prst="rect">
            <a:avLst/>
          </a:prstGeom>
          <a:noFill/>
          <a:ln/>
        </p:spPr>
        <p:txBody>
          <a:bodyPr wrap="square" lIns="0" tIns="0" rIns="0" bIns="0" rtlCol="0" anchor="t"/>
          <a:lstStyle/>
          <a:p>
            <a:pPr indent="0" marL="0">
              <a:buNone/>
            </a:pPr>
            <a:r>
              <a:rPr lang="en-US" sz="1050" b="1" dirty="0">
                <a:solidFill>
                  <a:srgbClr val="4A6278"/>
                </a:solidFill>
                <a:latin typeface="Calibri" pitchFamily="34" charset="0"/>
                <a:ea typeface="Calibri" pitchFamily="34" charset="-122"/>
                <a:cs typeface="Calibri" pitchFamily="34" charset="-120"/>
              </a:rPr>
              <a:t>MatWeb</a:t>
            </a:r>
            <a:pPr indent="0" marL="0">
              <a:buNone/>
            </a:pPr>
            <a:r>
              <a:rPr lang="en-US" sz="1050" dirty="0">
                <a:solidFill>
                  <a:srgbClr val="4A6278"/>
                </a:solidFill>
                <a:latin typeface="Calibri" pitchFamily="34" charset="0"/>
                <a:ea typeface="Calibri" pitchFamily="34" charset="-122"/>
                <a:cs typeface="Calibri" pitchFamily="34" charset="-120"/>
              </a:rPr>
              <a:t> -- 160k+ materials; paywalled, no test conditions, sparse for thermoplastic composites.</a:t>
            </a:r>
            <a:endParaRPr lang="en-US" sz="1050" dirty="0"/>
          </a:p>
          <a:p>
            <a:pPr indent="0" marL="0">
              <a:buNone/>
            </a:pPr>
            <a:r>
              <a:rPr lang="en-US" sz="1050" dirty="0">
                <a:solidFill>
                  <a:srgbClr val="4A6278"/>
                </a:solidFill>
                <a:latin typeface="Calibri" pitchFamily="34" charset="0"/>
                <a:ea typeface="Calibri" pitchFamily="34" charset="-122"/>
                <a:cs typeface="Calibri" pitchFamily="34" charset="-120"/>
              </a:rPr>
              <a:t> </a:t>
            </a:r>
            <a:endParaRPr lang="en-US" sz="1050" dirty="0"/>
          </a:p>
          <a:p>
            <a:pPr indent="0" marL="0">
              <a:buNone/>
            </a:pPr>
            <a:r>
              <a:rPr lang="en-US" sz="1050" b="1" dirty="0">
                <a:solidFill>
                  <a:srgbClr val="4A6278"/>
                </a:solidFill>
                <a:latin typeface="Calibri" pitchFamily="34" charset="0"/>
                <a:ea typeface="Calibri" pitchFamily="34" charset="-122"/>
                <a:cs typeface="Calibri" pitchFamily="34" charset="-120"/>
              </a:rPr>
              <a:t>Granta MI (Ansys)</a:t>
            </a:r>
            <a:pPr indent="0" marL="0">
              <a:buNone/>
            </a:pPr>
            <a:r>
              <a:rPr lang="en-US" sz="1050" dirty="0">
                <a:solidFill>
                  <a:srgbClr val="4A6278"/>
                </a:solidFill>
                <a:latin typeface="Calibri" pitchFamily="34" charset="0"/>
                <a:ea typeface="Calibri" pitchFamily="34" charset="-122"/>
                <a:cs typeface="Calibri" pitchFamily="34" charset="-120"/>
              </a:rPr>
              <a:t> -- Most complete composites data, but enterprise-priced; focused on thermoset prepregs.</a:t>
            </a:r>
            <a:endParaRPr lang="en-US" sz="1050" dirty="0"/>
          </a:p>
          <a:p>
            <a:pPr indent="0" marL="0">
              <a:buNone/>
            </a:pPr>
            <a:r>
              <a:rPr lang="en-US" sz="1050" dirty="0">
                <a:solidFill>
                  <a:srgbClr val="4A6278"/>
                </a:solidFill>
                <a:latin typeface="Calibri" pitchFamily="34" charset="0"/>
                <a:ea typeface="Calibri" pitchFamily="34" charset="-122"/>
                <a:cs typeface="Calibri" pitchFamily="34" charset="-120"/>
              </a:rPr>
              <a:t> </a:t>
            </a:r>
            <a:endParaRPr lang="en-US" sz="1050" dirty="0"/>
          </a:p>
          <a:p>
            <a:pPr indent="0" marL="0">
              <a:buNone/>
            </a:pPr>
            <a:r>
              <a:rPr lang="en-US" sz="1050" b="1" dirty="0">
                <a:solidFill>
                  <a:srgbClr val="4A6278"/>
                </a:solidFill>
                <a:latin typeface="Calibri" pitchFamily="34" charset="0"/>
                <a:ea typeface="Calibri" pitchFamily="34" charset="-122"/>
                <a:cs typeface="Calibri" pitchFamily="34" charset="-120"/>
              </a:rPr>
              <a:t>CMH-17</a:t>
            </a:r>
            <a:pPr indent="0" marL="0">
              <a:buNone/>
            </a:pPr>
            <a:r>
              <a:rPr lang="en-US" sz="1050" dirty="0">
                <a:solidFill>
                  <a:srgbClr val="4A6278"/>
                </a:solidFill>
                <a:latin typeface="Calibri" pitchFamily="34" charset="0"/>
                <a:ea typeface="Calibri" pitchFamily="34" charset="-122"/>
                <a:cs typeface="Calibri" pitchFamily="34" charset="-120"/>
              </a:rPr>
              <a:t> -- Authoritative aerospace allowables; not bulk-queryable; thermoplastics underrepresented.</a:t>
            </a:r>
            <a:endParaRPr lang="en-US" sz="1050" dirty="0"/>
          </a:p>
          <a:p>
            <a:pPr indent="0" marL="0">
              <a:buNone/>
            </a:pPr>
            <a:r>
              <a:rPr lang="en-US" sz="1050" dirty="0">
                <a:solidFill>
                  <a:srgbClr val="4A6278"/>
                </a:solidFill>
                <a:latin typeface="Calibri" pitchFamily="34" charset="0"/>
                <a:ea typeface="Calibri" pitchFamily="34" charset="-122"/>
                <a:cs typeface="Calibri" pitchFamily="34" charset="-120"/>
              </a:rPr>
              <a:t> </a:t>
            </a:r>
            <a:endParaRPr lang="en-US" sz="1050" dirty="0"/>
          </a:p>
          <a:p>
            <a:pPr indent="0" marL="0">
              <a:buNone/>
            </a:pPr>
            <a:r>
              <a:rPr lang="en-US" sz="1050" b="1" dirty="0">
                <a:solidFill>
                  <a:srgbClr val="4A6278"/>
                </a:solidFill>
                <a:latin typeface="Calibri" pitchFamily="34" charset="0"/>
                <a:ea typeface="Calibri" pitchFamily="34" charset="-122"/>
                <a:cs typeface="Calibri" pitchFamily="34" charset="-120"/>
              </a:rPr>
              <a:t>NIST MDR</a:t>
            </a:r>
            <a:pPr indent="0" marL="0">
              <a:buNone/>
            </a:pPr>
            <a:r>
              <a:rPr lang="en-US" sz="1050" dirty="0">
                <a:solidFill>
                  <a:srgbClr val="4A6278"/>
                </a:solidFill>
                <a:latin typeface="Calibri" pitchFamily="34" charset="0"/>
                <a:ea typeface="Calibri" pitchFamily="34" charset="-122"/>
                <a:cs typeface="Calibri" pitchFamily="34" charset="-120"/>
              </a:rPr>
              <a:t> -- Metals &amp; ceramics focus; no open thermoplastic composite repository exists.</a:t>
            </a:r>
            <a:endParaRPr lang="en-US" sz="1050" dirty="0"/>
          </a:p>
        </p:txBody>
      </p:sp>
      <p:sp>
        <p:nvSpPr>
          <p:cNvPr id="10" name="Shape 8"/>
          <p:cNvSpPr/>
          <p:nvPr/>
        </p:nvSpPr>
        <p:spPr>
          <a:xfrm>
            <a:off x="4572000" y="987552"/>
            <a:ext cx="4206240" cy="3520440"/>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11" name="Text 9"/>
          <p:cNvSpPr/>
          <p:nvPr/>
        </p:nvSpPr>
        <p:spPr>
          <a:xfrm>
            <a:off x="4709160" y="1078992"/>
            <a:ext cx="3931920" cy="347472"/>
          </a:xfrm>
          <a:prstGeom prst="rect">
            <a:avLst/>
          </a:prstGeom>
          <a:noFill/>
          <a:ln/>
        </p:spPr>
        <p:txBody>
          <a:bodyPr wrap="square" lIns="0" tIns="0" rIns="0" bIns="0" rtlCol="0" anchor="ctr"/>
          <a:lstStyle/>
          <a:p>
            <a:pPr indent="0" marL="0">
              <a:buNone/>
            </a:pPr>
            <a:r>
              <a:rPr lang="en-US" sz="1400" b="1" dirty="0">
                <a:solidFill>
                  <a:srgbClr val="065A82"/>
                </a:solidFill>
                <a:latin typeface="Georgia" pitchFamily="34" charset="0"/>
                <a:ea typeface="Georgia" pitchFamily="34" charset="-122"/>
                <a:cs typeface="Georgia" pitchFamily="34" charset="-120"/>
              </a:rPr>
              <a:t>LLM Extraction Literature</a:t>
            </a:r>
            <a:endParaRPr lang="en-US" sz="1400" dirty="0"/>
          </a:p>
        </p:txBody>
      </p:sp>
      <p:sp>
        <p:nvSpPr>
          <p:cNvPr id="12" name="Text 10"/>
          <p:cNvSpPr/>
          <p:nvPr/>
        </p:nvSpPr>
        <p:spPr>
          <a:xfrm>
            <a:off x="4709160" y="1508760"/>
            <a:ext cx="3931920" cy="2651760"/>
          </a:xfrm>
          <a:prstGeom prst="rect">
            <a:avLst/>
          </a:prstGeom>
          <a:noFill/>
          <a:ln/>
        </p:spPr>
        <p:txBody>
          <a:bodyPr wrap="square" lIns="0" tIns="0" rIns="0" bIns="0" rtlCol="0" anchor="t"/>
          <a:lstStyle/>
          <a:p>
            <a:pPr indent="0" marL="0">
              <a:buNone/>
            </a:pPr>
            <a:r>
              <a:rPr lang="en-US" sz="1050" b="1" dirty="0">
                <a:solidFill>
                  <a:srgbClr val="4A6278"/>
                </a:solidFill>
                <a:latin typeface="Calibri" pitchFamily="34" charset="0"/>
                <a:ea typeface="Calibri" pitchFamily="34" charset="-122"/>
                <a:cs typeface="Calibri" pitchFamily="34" charset="-120"/>
              </a:rPr>
              <a:t>ChemDataExtractor (2016+)</a:t>
            </a:r>
            <a:pPr indent="0" marL="0">
              <a:buNone/>
            </a:pPr>
            <a:r>
              <a:rPr lang="en-US" sz="1050" dirty="0">
                <a:solidFill>
                  <a:srgbClr val="4A6278"/>
                </a:solidFill>
                <a:latin typeface="Calibri" pitchFamily="34" charset="0"/>
                <a:ea typeface="Calibri" pitchFamily="34" charset="-122"/>
                <a:cs typeface="Calibri" pitchFamily="34" charset="-120"/>
              </a:rPr>
              <a:t> -- NLP pipeline: 93% F-score on identifiers; used to extract 720k stress-strain records.</a:t>
            </a:r>
            <a:endParaRPr lang="en-US" sz="1050" dirty="0"/>
          </a:p>
          <a:p>
            <a:pPr indent="0" marL="0">
              <a:buNone/>
            </a:pPr>
            <a:r>
              <a:rPr lang="en-US" sz="1050" dirty="0">
                <a:solidFill>
                  <a:srgbClr val="4A6278"/>
                </a:solidFill>
                <a:latin typeface="Calibri" pitchFamily="34" charset="0"/>
                <a:ea typeface="Calibri" pitchFamily="34" charset="-122"/>
                <a:cs typeface="Calibri" pitchFamily="34" charset="-120"/>
              </a:rPr>
              <a:t> </a:t>
            </a:r>
            <a:endParaRPr lang="en-US" sz="1050" dirty="0"/>
          </a:p>
          <a:p>
            <a:pPr indent="0" marL="0">
              <a:buNone/>
            </a:pPr>
            <a:r>
              <a:rPr lang="en-US" sz="1050" b="1" dirty="0">
                <a:solidFill>
                  <a:srgbClr val="4A6278"/>
                </a:solidFill>
                <a:latin typeface="Calibri" pitchFamily="34" charset="0"/>
                <a:ea typeface="Calibri" pitchFamily="34" charset="-122"/>
                <a:cs typeface="Calibri" pitchFamily="34" charset="-120"/>
              </a:rPr>
              <a:t>PropertyExtractor (Gupta 2024)</a:t>
            </a:r>
            <a:pPr indent="0" marL="0">
              <a:buNone/>
            </a:pPr>
            <a:r>
              <a:rPr lang="en-US" sz="1050" dirty="0">
                <a:solidFill>
                  <a:srgbClr val="4A6278"/>
                </a:solidFill>
                <a:latin typeface="Calibri" pitchFamily="34" charset="0"/>
                <a:ea typeface="Calibri" pitchFamily="34" charset="-122"/>
                <a:cs typeface="Calibri" pitchFamily="34" charset="-120"/>
              </a:rPr>
              <a:t> -- Zero/few-shot with Gemini-Pro &amp; GPT-4; dynamic extraction hierarchy refinement.</a:t>
            </a:r>
            <a:endParaRPr lang="en-US" sz="1050" dirty="0"/>
          </a:p>
          <a:p>
            <a:pPr indent="0" marL="0">
              <a:buNone/>
            </a:pPr>
            <a:r>
              <a:rPr lang="en-US" sz="1050" dirty="0">
                <a:solidFill>
                  <a:srgbClr val="4A6278"/>
                </a:solidFill>
                <a:latin typeface="Calibri" pitchFamily="34" charset="0"/>
                <a:ea typeface="Calibri" pitchFamily="34" charset="-122"/>
                <a:cs typeface="Calibri" pitchFamily="34" charset="-120"/>
              </a:rPr>
              <a:t> </a:t>
            </a:r>
            <a:endParaRPr lang="en-US" sz="1050" dirty="0"/>
          </a:p>
          <a:p>
            <a:pPr indent="0" marL="0">
              <a:buNone/>
            </a:pPr>
            <a:r>
              <a:rPr lang="en-US" sz="1050" b="1" dirty="0">
                <a:solidFill>
                  <a:srgbClr val="4A6278"/>
                </a:solidFill>
                <a:latin typeface="Calibri" pitchFamily="34" charset="0"/>
                <a:ea typeface="Calibri" pitchFamily="34" charset="-122"/>
                <a:cs typeface="Calibri" pitchFamily="34" charset="-120"/>
              </a:rPr>
              <a:t>Liang et al. (2024)</a:t>
            </a:r>
            <a:pPr indent="0" marL="0">
              <a:buNone/>
            </a:pPr>
            <a:r>
              <a:rPr lang="en-US" sz="1050" dirty="0">
                <a:solidFill>
                  <a:srgbClr val="4A6278"/>
                </a:solidFill>
                <a:latin typeface="Calibri" pitchFamily="34" charset="0"/>
                <a:ea typeface="Calibri" pitchFamily="34" charset="-122"/>
                <a:cs typeface="Calibri" pitchFamily="34" charset="-120"/>
              </a:rPr>
              <a:t> -- GPT-4 achieves F1 approx 0.91 on thermoelectric extraction; Gemini shows uneven quality on categoricals.</a:t>
            </a:r>
            <a:endParaRPr lang="en-US" sz="1050" dirty="0"/>
          </a:p>
          <a:p>
            <a:pPr indent="0" marL="0">
              <a:buNone/>
            </a:pPr>
            <a:r>
              <a:rPr lang="en-US" sz="1050" dirty="0">
                <a:solidFill>
                  <a:srgbClr val="4A6278"/>
                </a:solidFill>
                <a:latin typeface="Calibri" pitchFamily="34" charset="0"/>
                <a:ea typeface="Calibri" pitchFamily="34" charset="-122"/>
                <a:cs typeface="Calibri" pitchFamily="34" charset="-120"/>
              </a:rPr>
              <a:t> </a:t>
            </a:r>
            <a:endParaRPr lang="en-US" sz="1050" dirty="0"/>
          </a:p>
          <a:p>
            <a:pPr indent="0" marL="0">
              <a:buNone/>
            </a:pPr>
            <a:r>
              <a:rPr lang="en-US" sz="1050" b="1" dirty="0">
                <a:solidFill>
                  <a:srgbClr val="4A6278"/>
                </a:solidFill>
                <a:latin typeface="Calibri" pitchFamily="34" charset="0"/>
                <a:ea typeface="Calibri" pitchFamily="34" charset="-122"/>
                <a:cs typeface="Calibri" pitchFamily="34" charset="-120"/>
              </a:rPr>
              <a:t>Structured-output prompting</a:t>
            </a:r>
            <a:pPr indent="0" marL="0">
              <a:buNone/>
            </a:pPr>
            <a:r>
              <a:rPr lang="en-US" sz="1050" dirty="0">
                <a:solidFill>
                  <a:srgbClr val="4A6278"/>
                </a:solidFill>
                <a:latin typeface="Calibri" pitchFamily="34" charset="0"/>
                <a:ea typeface="Calibri" pitchFamily="34" charset="-122"/>
                <a:cs typeface="Calibri" pitchFamily="34" charset="-120"/>
              </a:rPr>
              <a:t> significantly reduces hallucination vs. free-text generation -- the design choice we adopted.</a:t>
            </a:r>
            <a:endParaRPr lang="en-US" sz="1050" dirty="0"/>
          </a:p>
        </p:txBody>
      </p:sp>
      <p:sp>
        <p:nvSpPr>
          <p:cNvPr id="13" name="Shape 11"/>
          <p:cNvSpPr/>
          <p:nvPr/>
        </p:nvSpPr>
        <p:spPr>
          <a:xfrm>
            <a:off x="365760" y="4279392"/>
            <a:ext cx="8412480" cy="566928"/>
          </a:xfrm>
          <a:prstGeom prst="rect">
            <a:avLst/>
          </a:prstGeom>
          <a:solidFill>
            <a:srgbClr val="02C39A"/>
          </a:solidFill>
          <a:ln w="12700">
            <a:solidFill>
              <a:srgbClr val="02C39A"/>
            </a:solidFill>
            <a:prstDash val="solid"/>
          </a:ln>
        </p:spPr>
      </p:sp>
      <p:sp>
        <p:nvSpPr>
          <p:cNvPr id="14" name="Text 12"/>
          <p:cNvSpPr/>
          <p:nvPr/>
        </p:nvSpPr>
        <p:spPr>
          <a:xfrm>
            <a:off x="502920" y="4279392"/>
            <a:ext cx="8138160" cy="566928"/>
          </a:xfrm>
          <a:prstGeom prst="rect">
            <a:avLst/>
          </a:prstGeom>
          <a:noFill/>
          <a:ln/>
        </p:spPr>
        <p:txBody>
          <a:bodyPr wrap="square" lIns="0" tIns="0" rIns="0" bIns="0" rtlCol="0" anchor="ctr"/>
          <a:lstStyle/>
          <a:p>
            <a:pPr indent="0" marL="0">
              <a:buNone/>
            </a:pPr>
            <a:r>
              <a:rPr lang="en-US" sz="1200" b="1" dirty="0">
                <a:solidFill>
                  <a:srgbClr val="021B2E"/>
                </a:solidFill>
                <a:latin typeface="Calibri" pitchFamily="34" charset="0"/>
                <a:ea typeface="Calibri" pitchFamily="34" charset="-122"/>
                <a:cs typeface="Calibri" pitchFamily="34" charset="-120"/>
              </a:rPr>
              <a:t>Gap: No open, FAIR-compliant, queryable database for thermoplastic composite experimental data.</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F5FA"/>
        </a:solidFill>
      </p:bgPr>
    </p:bg>
    <p:spTree>
      <p:nvGrpSpPr>
        <p:cNvPr id="1" name=""/>
        <p:cNvGrpSpPr/>
        <p:nvPr/>
      </p:nvGrpSpPr>
      <p:grpSpPr>
        <a:xfrm>
          <a:off x="0" y="0"/>
          <a:ext cx="0" cy="0"/>
          <a:chOff x="0" y="0"/>
          <a:chExt cx="0" cy="0"/>
        </a:xfrm>
      </p:grpSpPr>
      <p:sp>
        <p:nvSpPr>
          <p:cNvPr id="2" name="Shape 0"/>
          <p:cNvSpPr/>
          <p:nvPr/>
        </p:nvSpPr>
        <p:spPr>
          <a:xfrm>
            <a:off x="365760" y="256032"/>
            <a:ext cx="64008" cy="438912"/>
          </a:xfrm>
          <a:prstGeom prst="rect">
            <a:avLst/>
          </a:prstGeom>
          <a:solidFill>
            <a:srgbClr val="02C39A"/>
          </a:solidFill>
          <a:ln w="12700">
            <a:solidFill>
              <a:srgbClr val="02C39A"/>
            </a:solidFill>
            <a:prstDash val="solid"/>
          </a:ln>
        </p:spPr>
      </p:sp>
      <p:sp>
        <p:nvSpPr>
          <p:cNvPr id="3" name="Text 1"/>
          <p:cNvSpPr/>
          <p:nvPr/>
        </p:nvSpPr>
        <p:spPr>
          <a:xfrm>
            <a:off x="502920" y="201168"/>
            <a:ext cx="8321040" cy="548640"/>
          </a:xfrm>
          <a:prstGeom prst="rect">
            <a:avLst/>
          </a:prstGeom>
          <a:noFill/>
          <a:ln/>
        </p:spPr>
        <p:txBody>
          <a:bodyPr wrap="square" lIns="0" tIns="0" rIns="0" bIns="0" rtlCol="0" anchor="ctr"/>
          <a:lstStyle/>
          <a:p>
            <a:pPr indent="0" marL="0">
              <a:buNone/>
            </a:pPr>
            <a:r>
              <a:rPr lang="en-US" sz="2600" b="1" dirty="0">
                <a:solidFill>
                  <a:srgbClr val="065A82"/>
                </a:solidFill>
                <a:latin typeface="Georgia" pitchFamily="34" charset="0"/>
                <a:ea typeface="Georgia" pitchFamily="34" charset="-122"/>
                <a:cs typeface="Georgia" pitchFamily="34" charset="-120"/>
              </a:rPr>
              <a:t>What We Built -- System at a Glance</a:t>
            </a:r>
            <a:endParaRPr lang="en-US" sz="2600" dirty="0"/>
          </a:p>
        </p:txBody>
      </p:sp>
      <p:sp>
        <p:nvSpPr>
          <p:cNvPr id="4" name="Shape 2"/>
          <p:cNvSpPr/>
          <p:nvPr/>
        </p:nvSpPr>
        <p:spPr>
          <a:xfrm>
            <a:off x="0" y="4887468"/>
            <a:ext cx="9144000" cy="256032"/>
          </a:xfrm>
          <a:prstGeom prst="rect">
            <a:avLst/>
          </a:prstGeom>
          <a:solidFill>
            <a:srgbClr val="1C7293"/>
          </a:solidFill>
          <a:ln w="12700">
            <a:solidFill>
              <a:srgbClr val="1C7293"/>
            </a:solidFill>
            <a:prstDash val="solid"/>
          </a:ln>
        </p:spPr>
      </p:sp>
      <p:sp>
        <p:nvSpPr>
          <p:cNvPr id="5" name="Text 3"/>
          <p:cNvSpPr/>
          <p:nvPr/>
        </p:nvSpPr>
        <p:spPr>
          <a:xfrm>
            <a:off x="274320" y="4905756"/>
            <a:ext cx="5486400" cy="219456"/>
          </a:xfrm>
          <a:prstGeom prst="rect">
            <a:avLst/>
          </a:prstGeom>
          <a:noFill/>
          <a:ln/>
        </p:spPr>
        <p:txBody>
          <a:bodyPr wrap="square" lIns="0" tIns="0" rIns="0" bIns="0" rtlCol="0" anchor="ctr"/>
          <a:lstStyle/>
          <a:p>
            <a:pPr indent="0" marL="0">
              <a:buNone/>
            </a:pPr>
            <a:r>
              <a:rPr lang="en-US" sz="800" dirty="0">
                <a:solidFill>
                  <a:srgbClr val="CCEEFF"/>
                </a:solidFill>
                <a:latin typeface="Calibri" pitchFamily="34" charset="0"/>
                <a:ea typeface="Calibri" pitchFamily="34" charset="-122"/>
                <a:cs typeface="Calibri" pitchFamily="34" charset="-120"/>
              </a:rPr>
              <a:t>Mathias Heider  |  ME8930 Course Project  |  May 2026</a:t>
            </a:r>
            <a:endParaRPr lang="en-US" sz="800" dirty="0"/>
          </a:p>
        </p:txBody>
      </p:sp>
      <p:sp>
        <p:nvSpPr>
          <p:cNvPr id="6" name="Text 4"/>
          <p:cNvSpPr/>
          <p:nvPr/>
        </p:nvSpPr>
        <p:spPr>
          <a:xfrm>
            <a:off x="6858000" y="4905756"/>
            <a:ext cx="2011680" cy="219456"/>
          </a:xfrm>
          <a:prstGeom prst="rect">
            <a:avLst/>
          </a:prstGeom>
          <a:noFill/>
          <a:ln/>
        </p:spPr>
        <p:txBody>
          <a:bodyPr wrap="square" lIns="0" tIns="0" rIns="0" bIns="0" rtlCol="0" anchor="ctr"/>
          <a:lstStyle/>
          <a:p>
            <a:pPr algn="r" indent="0" marL="0">
              <a:buNone/>
            </a:pPr>
            <a:r>
              <a:rPr lang="en-US" sz="800" dirty="0">
                <a:solidFill>
                  <a:srgbClr val="CCEEFF"/>
                </a:solidFill>
                <a:latin typeface="Calibri" pitchFamily="34" charset="0"/>
                <a:ea typeface="Calibri" pitchFamily="34" charset="-122"/>
                <a:cs typeface="Calibri" pitchFamily="34" charset="-120"/>
              </a:rPr>
              <a:t>3 / Architecture</a:t>
            </a:r>
            <a:endParaRPr lang="en-US" sz="800" dirty="0"/>
          </a:p>
        </p:txBody>
      </p:sp>
      <p:sp>
        <p:nvSpPr>
          <p:cNvPr id="7" name="Shape 5"/>
          <p:cNvSpPr/>
          <p:nvPr/>
        </p:nvSpPr>
        <p:spPr>
          <a:xfrm>
            <a:off x="365760" y="987552"/>
            <a:ext cx="1920240" cy="3200400"/>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8" name="Shape 6"/>
          <p:cNvSpPr/>
          <p:nvPr/>
        </p:nvSpPr>
        <p:spPr>
          <a:xfrm>
            <a:off x="365760" y="987552"/>
            <a:ext cx="1920240" cy="457200"/>
          </a:xfrm>
          <a:prstGeom prst="rect">
            <a:avLst/>
          </a:prstGeom>
          <a:solidFill>
            <a:srgbClr val="065A82"/>
          </a:solidFill>
          <a:ln w="12700">
            <a:solidFill>
              <a:srgbClr val="065A82"/>
            </a:solidFill>
            <a:prstDash val="solid"/>
          </a:ln>
        </p:spPr>
      </p:sp>
      <p:sp>
        <p:nvSpPr>
          <p:cNvPr id="9" name="Text 7"/>
          <p:cNvSpPr/>
          <p:nvPr/>
        </p:nvSpPr>
        <p:spPr>
          <a:xfrm>
            <a:off x="365760" y="987552"/>
            <a:ext cx="1920240"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STORAGE</a:t>
            </a:r>
            <a:endParaRPr lang="en-US" sz="900" dirty="0"/>
          </a:p>
        </p:txBody>
      </p:sp>
      <p:sp>
        <p:nvSpPr>
          <p:cNvPr id="10" name="Shape 8"/>
          <p:cNvSpPr/>
          <p:nvPr/>
        </p:nvSpPr>
        <p:spPr>
          <a:xfrm>
            <a:off x="868680" y="1536192"/>
            <a:ext cx="914400" cy="365760"/>
          </a:xfrm>
          <a:prstGeom prst="rect">
            <a:avLst/>
          </a:prstGeom>
          <a:solidFill>
            <a:srgbClr val="065A82"/>
          </a:solidFill>
          <a:ln w="12700">
            <a:solidFill>
              <a:srgbClr val="065A82"/>
            </a:solidFill>
            <a:prstDash val="solid"/>
          </a:ln>
        </p:spPr>
      </p:sp>
      <p:sp>
        <p:nvSpPr>
          <p:cNvPr id="11" name="Text 9"/>
          <p:cNvSpPr/>
          <p:nvPr/>
        </p:nvSpPr>
        <p:spPr>
          <a:xfrm>
            <a:off x="868680" y="1536192"/>
            <a:ext cx="91440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DB</a:t>
            </a:r>
            <a:endParaRPr lang="en-US" sz="1500" dirty="0"/>
          </a:p>
        </p:txBody>
      </p:sp>
      <p:sp>
        <p:nvSpPr>
          <p:cNvPr id="12" name="Text 10"/>
          <p:cNvSpPr/>
          <p:nvPr/>
        </p:nvSpPr>
        <p:spPr>
          <a:xfrm>
            <a:off x="457200" y="1993392"/>
            <a:ext cx="1737360" cy="347472"/>
          </a:xfrm>
          <a:prstGeom prst="rect">
            <a:avLst/>
          </a:prstGeom>
          <a:noFill/>
          <a:ln/>
        </p:spPr>
        <p:txBody>
          <a:bodyPr wrap="square" lIns="0" tIns="0" rIns="0" bIns="0" rtlCol="0" anchor="ctr"/>
          <a:lstStyle/>
          <a:p>
            <a:pPr algn="ctr" indent="0" marL="0">
              <a:buNone/>
            </a:pPr>
            <a:r>
              <a:rPr lang="en-US" sz="1250" b="1" dirty="0">
                <a:solidFill>
                  <a:srgbClr val="1A2E3B"/>
                </a:solidFill>
                <a:latin typeface="Georgia" pitchFamily="34" charset="0"/>
                <a:ea typeface="Georgia" pitchFamily="34" charset="-122"/>
                <a:cs typeface="Georgia" pitchFamily="34" charset="-120"/>
              </a:rPr>
              <a:t>PostgreSQL</a:t>
            </a:r>
            <a:endParaRPr lang="en-US" sz="1250" dirty="0"/>
          </a:p>
        </p:txBody>
      </p:sp>
      <p:sp>
        <p:nvSpPr>
          <p:cNvPr id="13" name="Text 11"/>
          <p:cNvSpPr/>
          <p:nvPr/>
        </p:nvSpPr>
        <p:spPr>
          <a:xfrm>
            <a:off x="457200" y="2377440"/>
            <a:ext cx="1737360" cy="1371600"/>
          </a:xfrm>
          <a:prstGeom prst="rect">
            <a:avLst/>
          </a:prstGeom>
          <a:noFill/>
          <a:ln/>
        </p:spPr>
        <p:txBody>
          <a:bodyPr wrap="square" lIns="0" tIns="0" rIns="0" bIns="0" rtlCol="0" anchor="t"/>
          <a:lstStyle/>
          <a:p>
            <a:pPr algn="ctr" indent="0" marL="0">
              <a:buNone/>
            </a:pPr>
            <a:r>
              <a:rPr lang="en-US" sz="1000" dirty="0">
                <a:solidFill>
                  <a:srgbClr val="4A6278"/>
                </a:solidFill>
                <a:latin typeface="Calibri" pitchFamily="34" charset="0"/>
                <a:ea typeface="Calibri" pitchFamily="34" charset="-122"/>
                <a:cs typeface="Calibri" pitchFamily="34" charset="-120"/>
              </a:rPr>
              <a:t>3 EAV tables</a:t>
            </a:r>
            <a:endParaRPr lang="en-US" sz="1000" dirty="0"/>
          </a:p>
          <a:p>
            <a:pPr algn="ctr" indent="0" marL="0">
              <a:buNone/>
            </a:pPr>
            <a:r>
              <a:rPr lang="en-US" sz="1000" dirty="0">
                <a:solidFill>
                  <a:srgbClr val="4A6278"/>
                </a:solidFill>
                <a:latin typeface="Calibri" pitchFamily="34" charset="0"/>
                <a:ea typeface="Calibri" pitchFamily="34" charset="-122"/>
                <a:cs typeface="Calibri" pitchFamily="34" charset="-120"/>
              </a:rPr>
              <a:t>Polymers | Fibers</a:t>
            </a:r>
            <a:endParaRPr lang="en-US" sz="1000" dirty="0"/>
          </a:p>
          <a:p>
            <a:pPr algn="ctr" indent="0" marL="0">
              <a:buNone/>
            </a:pPr>
            <a:r>
              <a:rPr lang="en-US" sz="1000" dirty="0">
                <a:solidFill>
                  <a:srgbClr val="4A6278"/>
                </a:solidFill>
                <a:latin typeface="Calibri" pitchFamily="34" charset="0"/>
                <a:ea typeface="Calibri" pitchFamily="34" charset="-122"/>
                <a:cs typeface="Calibri" pitchFamily="34" charset="-120"/>
              </a:rPr>
              <a:t>Composites</a:t>
            </a:r>
            <a:endParaRPr lang="en-US" sz="1000" dirty="0"/>
          </a:p>
        </p:txBody>
      </p:sp>
      <p:sp>
        <p:nvSpPr>
          <p:cNvPr id="14" name="Text 12"/>
          <p:cNvSpPr/>
          <p:nvPr/>
        </p:nvSpPr>
        <p:spPr>
          <a:xfrm>
            <a:off x="2304288" y="2304288"/>
            <a:ext cx="210312" cy="347472"/>
          </a:xfrm>
          <a:prstGeom prst="rect">
            <a:avLst/>
          </a:prstGeom>
          <a:noFill/>
          <a:ln/>
        </p:spPr>
        <p:txBody>
          <a:bodyPr wrap="square" lIns="0" tIns="0" rIns="0" bIns="0" rtlCol="0" anchor="ctr"/>
          <a:lstStyle/>
          <a:p>
            <a:pPr algn="ctr" indent="0" marL="0">
              <a:buNone/>
            </a:pPr>
            <a:r>
              <a:rPr lang="en-US" sz="1800" b="1" dirty="0">
                <a:solidFill>
                  <a:srgbClr val="02C39A"/>
                </a:solidFill>
                <a:latin typeface="Calibri" pitchFamily="34" charset="0"/>
                <a:ea typeface="Calibri" pitchFamily="34" charset="-122"/>
                <a:cs typeface="Calibri" pitchFamily="34" charset="-120"/>
              </a:rPr>
              <a:t>-&gt;</a:t>
            </a:r>
            <a:endParaRPr lang="en-US" sz="1800" dirty="0"/>
          </a:p>
        </p:txBody>
      </p:sp>
      <p:sp>
        <p:nvSpPr>
          <p:cNvPr id="15" name="Shape 13"/>
          <p:cNvSpPr/>
          <p:nvPr/>
        </p:nvSpPr>
        <p:spPr>
          <a:xfrm>
            <a:off x="2514600" y="987552"/>
            <a:ext cx="1920240" cy="3200400"/>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16" name="Shape 14"/>
          <p:cNvSpPr/>
          <p:nvPr/>
        </p:nvSpPr>
        <p:spPr>
          <a:xfrm>
            <a:off x="2514600" y="987552"/>
            <a:ext cx="1920240" cy="457200"/>
          </a:xfrm>
          <a:prstGeom prst="rect">
            <a:avLst/>
          </a:prstGeom>
          <a:solidFill>
            <a:srgbClr val="1C7293"/>
          </a:solidFill>
          <a:ln w="12700">
            <a:solidFill>
              <a:srgbClr val="1C7293"/>
            </a:solidFill>
            <a:prstDash val="solid"/>
          </a:ln>
        </p:spPr>
      </p:sp>
      <p:sp>
        <p:nvSpPr>
          <p:cNvPr id="17" name="Text 15"/>
          <p:cNvSpPr/>
          <p:nvPr/>
        </p:nvSpPr>
        <p:spPr>
          <a:xfrm>
            <a:off x="2514600" y="987552"/>
            <a:ext cx="1920240"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APPLICATION</a:t>
            </a:r>
            <a:endParaRPr lang="en-US" sz="900" dirty="0"/>
          </a:p>
        </p:txBody>
      </p:sp>
      <p:sp>
        <p:nvSpPr>
          <p:cNvPr id="18" name="Shape 16"/>
          <p:cNvSpPr/>
          <p:nvPr/>
        </p:nvSpPr>
        <p:spPr>
          <a:xfrm>
            <a:off x="3017520" y="1536192"/>
            <a:ext cx="914400" cy="365760"/>
          </a:xfrm>
          <a:prstGeom prst="rect">
            <a:avLst/>
          </a:prstGeom>
          <a:solidFill>
            <a:srgbClr val="1C7293"/>
          </a:solidFill>
          <a:ln w="12700">
            <a:solidFill>
              <a:srgbClr val="1C7293"/>
            </a:solidFill>
            <a:prstDash val="solid"/>
          </a:ln>
        </p:spPr>
      </p:sp>
      <p:sp>
        <p:nvSpPr>
          <p:cNvPr id="19" name="Text 17"/>
          <p:cNvSpPr/>
          <p:nvPr/>
        </p:nvSpPr>
        <p:spPr>
          <a:xfrm>
            <a:off x="3017520" y="1536192"/>
            <a:ext cx="91440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APP</a:t>
            </a:r>
            <a:endParaRPr lang="en-US" sz="1500" dirty="0"/>
          </a:p>
        </p:txBody>
      </p:sp>
      <p:sp>
        <p:nvSpPr>
          <p:cNvPr id="20" name="Text 18"/>
          <p:cNvSpPr/>
          <p:nvPr/>
        </p:nvSpPr>
        <p:spPr>
          <a:xfrm>
            <a:off x="2606040" y="1993392"/>
            <a:ext cx="1737360" cy="347472"/>
          </a:xfrm>
          <a:prstGeom prst="rect">
            <a:avLst/>
          </a:prstGeom>
          <a:noFill/>
          <a:ln/>
        </p:spPr>
        <p:txBody>
          <a:bodyPr wrap="square" lIns="0" tIns="0" rIns="0" bIns="0" rtlCol="0" anchor="ctr"/>
          <a:lstStyle/>
          <a:p>
            <a:pPr algn="ctr" indent="0" marL="0">
              <a:buNone/>
            </a:pPr>
            <a:r>
              <a:rPr lang="en-US" sz="1250" b="1" dirty="0">
                <a:solidFill>
                  <a:srgbClr val="1A2E3B"/>
                </a:solidFill>
                <a:latin typeface="Georgia" pitchFamily="34" charset="0"/>
                <a:ea typeface="Georgia" pitchFamily="34" charset="-122"/>
                <a:cs typeface="Georgia" pitchFamily="34" charset="-120"/>
              </a:rPr>
              <a:t>Streamlit</a:t>
            </a:r>
            <a:endParaRPr lang="en-US" sz="1250" dirty="0"/>
          </a:p>
        </p:txBody>
      </p:sp>
      <p:sp>
        <p:nvSpPr>
          <p:cNvPr id="21" name="Text 19"/>
          <p:cNvSpPr/>
          <p:nvPr/>
        </p:nvSpPr>
        <p:spPr>
          <a:xfrm>
            <a:off x="2606040" y="2377440"/>
            <a:ext cx="1737360" cy="1371600"/>
          </a:xfrm>
          <a:prstGeom prst="rect">
            <a:avLst/>
          </a:prstGeom>
          <a:noFill/>
          <a:ln/>
        </p:spPr>
        <p:txBody>
          <a:bodyPr wrap="square" lIns="0" tIns="0" rIns="0" bIns="0" rtlCol="0" anchor="t"/>
          <a:lstStyle/>
          <a:p>
            <a:pPr algn="ctr" indent="0" marL="0">
              <a:buNone/>
            </a:pPr>
            <a:r>
              <a:rPr lang="en-US" sz="1000" dirty="0">
                <a:solidFill>
                  <a:srgbClr val="4A6278"/>
                </a:solidFill>
                <a:latin typeface="Calibri" pitchFamily="34" charset="0"/>
                <a:ea typeface="Calibri" pitchFamily="34" charset="-122"/>
                <a:cs typeface="Calibri" pitchFamily="34" charset="-120"/>
              </a:rPr>
              <a:t>Home | Search</a:t>
            </a:r>
            <a:endParaRPr lang="en-US" sz="1000" dirty="0"/>
          </a:p>
          <a:p>
            <a:pPr algn="ctr" indent="0" marL="0">
              <a:buNone/>
            </a:pPr>
            <a:r>
              <a:rPr lang="en-US" sz="1000" dirty="0">
                <a:solidFill>
                  <a:srgbClr val="4A6278"/>
                </a:solidFill>
                <a:latin typeface="Calibri" pitchFamily="34" charset="0"/>
                <a:ea typeface="Calibri" pitchFamily="34" charset="-122"/>
                <a:cs typeface="Calibri" pitchFamily="34" charset="-120"/>
              </a:rPr>
              <a:t>Upload | Contact</a:t>
            </a:r>
            <a:endParaRPr lang="en-US" sz="1000" dirty="0"/>
          </a:p>
          <a:p>
            <a:pPr algn="ctr" indent="0" marL="0">
              <a:buNone/>
            </a:pPr>
            <a:r>
              <a:rPr lang="en-US" sz="1000" dirty="0">
                <a:solidFill>
                  <a:srgbClr val="4A6278"/>
                </a:solidFill>
                <a:latin typeface="Calibri" pitchFamily="34" charset="0"/>
                <a:ea typeface="Calibri" pitchFamily="34" charset="-122"/>
                <a:cs typeface="Calibri" pitchFamily="34" charset="-120"/>
              </a:rPr>
              <a:t>SQLAlchemy layer</a:t>
            </a:r>
            <a:endParaRPr lang="en-US" sz="1000" dirty="0"/>
          </a:p>
        </p:txBody>
      </p:sp>
      <p:sp>
        <p:nvSpPr>
          <p:cNvPr id="22" name="Text 20"/>
          <p:cNvSpPr/>
          <p:nvPr/>
        </p:nvSpPr>
        <p:spPr>
          <a:xfrm>
            <a:off x="4453128" y="2304288"/>
            <a:ext cx="210312" cy="347472"/>
          </a:xfrm>
          <a:prstGeom prst="rect">
            <a:avLst/>
          </a:prstGeom>
          <a:noFill/>
          <a:ln/>
        </p:spPr>
        <p:txBody>
          <a:bodyPr wrap="square" lIns="0" tIns="0" rIns="0" bIns="0" rtlCol="0" anchor="ctr"/>
          <a:lstStyle/>
          <a:p>
            <a:pPr algn="ctr" indent="0" marL="0">
              <a:buNone/>
            </a:pPr>
            <a:r>
              <a:rPr lang="en-US" sz="1800" b="1" dirty="0">
                <a:solidFill>
                  <a:srgbClr val="02C39A"/>
                </a:solidFill>
                <a:latin typeface="Calibri" pitchFamily="34" charset="0"/>
                <a:ea typeface="Calibri" pitchFamily="34" charset="-122"/>
                <a:cs typeface="Calibri" pitchFamily="34" charset="-120"/>
              </a:rPr>
              <a:t>-&gt;</a:t>
            </a:r>
            <a:endParaRPr lang="en-US" sz="1800" dirty="0"/>
          </a:p>
        </p:txBody>
      </p:sp>
      <p:sp>
        <p:nvSpPr>
          <p:cNvPr id="23" name="Shape 21"/>
          <p:cNvSpPr/>
          <p:nvPr/>
        </p:nvSpPr>
        <p:spPr>
          <a:xfrm>
            <a:off x="4663440" y="987552"/>
            <a:ext cx="1920240" cy="3200400"/>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24" name="Shape 22"/>
          <p:cNvSpPr/>
          <p:nvPr/>
        </p:nvSpPr>
        <p:spPr>
          <a:xfrm>
            <a:off x="4663440" y="987552"/>
            <a:ext cx="1920240" cy="457200"/>
          </a:xfrm>
          <a:prstGeom prst="rect">
            <a:avLst/>
          </a:prstGeom>
          <a:solidFill>
            <a:srgbClr val="028090"/>
          </a:solidFill>
          <a:ln w="12700">
            <a:solidFill>
              <a:srgbClr val="028090"/>
            </a:solidFill>
            <a:prstDash val="solid"/>
          </a:ln>
        </p:spPr>
      </p:sp>
      <p:sp>
        <p:nvSpPr>
          <p:cNvPr id="25" name="Text 23"/>
          <p:cNvSpPr/>
          <p:nvPr/>
        </p:nvSpPr>
        <p:spPr>
          <a:xfrm>
            <a:off x="4663440" y="987552"/>
            <a:ext cx="1920240"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AI PIPELINE</a:t>
            </a:r>
            <a:endParaRPr lang="en-US" sz="900" dirty="0"/>
          </a:p>
        </p:txBody>
      </p:sp>
      <p:sp>
        <p:nvSpPr>
          <p:cNvPr id="26" name="Shape 24"/>
          <p:cNvSpPr/>
          <p:nvPr/>
        </p:nvSpPr>
        <p:spPr>
          <a:xfrm>
            <a:off x="5166360" y="1536192"/>
            <a:ext cx="914400" cy="365760"/>
          </a:xfrm>
          <a:prstGeom prst="rect">
            <a:avLst/>
          </a:prstGeom>
          <a:solidFill>
            <a:srgbClr val="028090"/>
          </a:solidFill>
          <a:ln w="12700">
            <a:solidFill>
              <a:srgbClr val="028090"/>
            </a:solidFill>
            <a:prstDash val="solid"/>
          </a:ln>
        </p:spPr>
      </p:sp>
      <p:sp>
        <p:nvSpPr>
          <p:cNvPr id="27" name="Text 25"/>
          <p:cNvSpPr/>
          <p:nvPr/>
        </p:nvSpPr>
        <p:spPr>
          <a:xfrm>
            <a:off x="5166360" y="1536192"/>
            <a:ext cx="91440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AI</a:t>
            </a:r>
            <a:endParaRPr lang="en-US" sz="1500" dirty="0"/>
          </a:p>
        </p:txBody>
      </p:sp>
      <p:sp>
        <p:nvSpPr>
          <p:cNvPr id="28" name="Text 26"/>
          <p:cNvSpPr/>
          <p:nvPr/>
        </p:nvSpPr>
        <p:spPr>
          <a:xfrm>
            <a:off x="4754880" y="1993392"/>
            <a:ext cx="1737360" cy="347472"/>
          </a:xfrm>
          <a:prstGeom prst="rect">
            <a:avLst/>
          </a:prstGeom>
          <a:noFill/>
          <a:ln/>
        </p:spPr>
        <p:txBody>
          <a:bodyPr wrap="square" lIns="0" tIns="0" rIns="0" bIns="0" rtlCol="0" anchor="ctr"/>
          <a:lstStyle/>
          <a:p>
            <a:pPr algn="ctr" indent="0" marL="0">
              <a:buNone/>
            </a:pPr>
            <a:r>
              <a:rPr lang="en-US" sz="1250" b="1" dirty="0">
                <a:solidFill>
                  <a:srgbClr val="1A2E3B"/>
                </a:solidFill>
                <a:latin typeface="Georgia" pitchFamily="34" charset="0"/>
                <a:ea typeface="Georgia" pitchFamily="34" charset="-122"/>
                <a:cs typeface="Georgia" pitchFamily="34" charset="-120"/>
              </a:rPr>
              <a:t>Gemini 2.5 Flash</a:t>
            </a:r>
            <a:endParaRPr lang="en-US" sz="1250" dirty="0"/>
          </a:p>
        </p:txBody>
      </p:sp>
      <p:sp>
        <p:nvSpPr>
          <p:cNvPr id="29" name="Text 27"/>
          <p:cNvSpPr/>
          <p:nvPr/>
        </p:nvSpPr>
        <p:spPr>
          <a:xfrm>
            <a:off x="4754880" y="2377440"/>
            <a:ext cx="1737360" cy="1371600"/>
          </a:xfrm>
          <a:prstGeom prst="rect">
            <a:avLst/>
          </a:prstGeom>
          <a:noFill/>
          <a:ln/>
        </p:spPr>
        <p:txBody>
          <a:bodyPr wrap="square" lIns="0" tIns="0" rIns="0" bIns="0" rtlCol="0" anchor="t"/>
          <a:lstStyle/>
          <a:p>
            <a:pPr algn="ctr" indent="0" marL="0">
              <a:buNone/>
            </a:pPr>
            <a:r>
              <a:rPr lang="en-US" sz="1000" dirty="0">
                <a:solidFill>
                  <a:srgbClr val="4A6278"/>
                </a:solidFill>
                <a:latin typeface="Calibri" pitchFamily="34" charset="0"/>
                <a:ea typeface="Calibri" pitchFamily="34" charset="-122"/>
                <a:cs typeface="Calibri" pitchFamily="34" charset="-120"/>
              </a:rPr>
              <a:t>PDF to JSON</a:t>
            </a:r>
            <a:endParaRPr lang="en-US" sz="1000" dirty="0"/>
          </a:p>
          <a:p>
            <a:pPr algn="ctr" indent="0" marL="0">
              <a:buNone/>
            </a:pPr>
            <a:r>
              <a:rPr lang="en-US" sz="1000" dirty="0">
                <a:solidFill>
                  <a:srgbClr val="4A6278"/>
                </a:solidFill>
                <a:latin typeface="Calibri" pitchFamily="34" charset="0"/>
                <a:ea typeface="Calibri" pitchFamily="34" charset="-122"/>
                <a:cs typeface="Calibri" pitchFamily="34" charset="-120"/>
              </a:rPr>
              <a:t>Schema-typed output</a:t>
            </a:r>
            <a:endParaRPr lang="en-US" sz="1000" dirty="0"/>
          </a:p>
          <a:p>
            <a:pPr algn="ctr" indent="0" marL="0">
              <a:buNone/>
            </a:pPr>
            <a:r>
              <a:rPr lang="en-US" sz="1000" dirty="0">
                <a:solidFill>
                  <a:srgbClr val="4A6278"/>
                </a:solidFill>
                <a:latin typeface="Calibri" pitchFamily="34" charset="0"/>
                <a:ea typeface="Calibri" pitchFamily="34" charset="-122"/>
                <a:cs typeface="Calibri" pitchFamily="34" charset="-120"/>
              </a:rPr>
              <a:t>Temp = 0, structured</a:t>
            </a:r>
            <a:endParaRPr lang="en-US" sz="1000" dirty="0"/>
          </a:p>
        </p:txBody>
      </p:sp>
      <p:sp>
        <p:nvSpPr>
          <p:cNvPr id="30" name="Text 28"/>
          <p:cNvSpPr/>
          <p:nvPr/>
        </p:nvSpPr>
        <p:spPr>
          <a:xfrm>
            <a:off x="6601968" y="2304288"/>
            <a:ext cx="210312" cy="347472"/>
          </a:xfrm>
          <a:prstGeom prst="rect">
            <a:avLst/>
          </a:prstGeom>
          <a:noFill/>
          <a:ln/>
        </p:spPr>
        <p:txBody>
          <a:bodyPr wrap="square" lIns="0" tIns="0" rIns="0" bIns="0" rtlCol="0" anchor="ctr"/>
          <a:lstStyle/>
          <a:p>
            <a:pPr algn="ctr" indent="0" marL="0">
              <a:buNone/>
            </a:pPr>
            <a:r>
              <a:rPr lang="en-US" sz="1800" b="1" dirty="0">
                <a:solidFill>
                  <a:srgbClr val="02C39A"/>
                </a:solidFill>
                <a:latin typeface="Calibri" pitchFamily="34" charset="0"/>
                <a:ea typeface="Calibri" pitchFamily="34" charset="-122"/>
                <a:cs typeface="Calibri" pitchFamily="34" charset="-120"/>
              </a:rPr>
              <a:t>-&gt;</a:t>
            </a:r>
            <a:endParaRPr lang="en-US" sz="1800" dirty="0"/>
          </a:p>
        </p:txBody>
      </p:sp>
      <p:sp>
        <p:nvSpPr>
          <p:cNvPr id="31" name="Shape 29"/>
          <p:cNvSpPr/>
          <p:nvPr/>
        </p:nvSpPr>
        <p:spPr>
          <a:xfrm>
            <a:off x="6812280" y="987552"/>
            <a:ext cx="1920240" cy="3200400"/>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32" name="Shape 30"/>
          <p:cNvSpPr/>
          <p:nvPr/>
        </p:nvSpPr>
        <p:spPr>
          <a:xfrm>
            <a:off x="6812280" y="987552"/>
            <a:ext cx="1920240" cy="457200"/>
          </a:xfrm>
          <a:prstGeom prst="rect">
            <a:avLst/>
          </a:prstGeom>
          <a:solidFill>
            <a:srgbClr val="02C39A"/>
          </a:solidFill>
          <a:ln w="12700">
            <a:solidFill>
              <a:srgbClr val="02C39A"/>
            </a:solidFill>
            <a:prstDash val="solid"/>
          </a:ln>
        </p:spPr>
      </p:sp>
      <p:sp>
        <p:nvSpPr>
          <p:cNvPr id="33" name="Text 31"/>
          <p:cNvSpPr/>
          <p:nvPr/>
        </p:nvSpPr>
        <p:spPr>
          <a:xfrm>
            <a:off x="6812280" y="987552"/>
            <a:ext cx="1920240"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DEPLOYMENT</a:t>
            </a:r>
            <a:endParaRPr lang="en-US" sz="900" dirty="0"/>
          </a:p>
        </p:txBody>
      </p:sp>
      <p:sp>
        <p:nvSpPr>
          <p:cNvPr id="34" name="Shape 32"/>
          <p:cNvSpPr/>
          <p:nvPr/>
        </p:nvSpPr>
        <p:spPr>
          <a:xfrm>
            <a:off x="7315200" y="1536192"/>
            <a:ext cx="914400" cy="365760"/>
          </a:xfrm>
          <a:prstGeom prst="rect">
            <a:avLst/>
          </a:prstGeom>
          <a:solidFill>
            <a:srgbClr val="02C39A"/>
          </a:solidFill>
          <a:ln w="12700">
            <a:solidFill>
              <a:srgbClr val="02C39A"/>
            </a:solidFill>
            <a:prstDash val="solid"/>
          </a:ln>
        </p:spPr>
      </p:sp>
      <p:sp>
        <p:nvSpPr>
          <p:cNvPr id="35" name="Text 33"/>
          <p:cNvSpPr/>
          <p:nvPr/>
        </p:nvSpPr>
        <p:spPr>
          <a:xfrm>
            <a:off x="7315200" y="1536192"/>
            <a:ext cx="91440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HF</a:t>
            </a:r>
            <a:endParaRPr lang="en-US" sz="1500" dirty="0"/>
          </a:p>
        </p:txBody>
      </p:sp>
      <p:sp>
        <p:nvSpPr>
          <p:cNvPr id="36" name="Text 34"/>
          <p:cNvSpPr/>
          <p:nvPr/>
        </p:nvSpPr>
        <p:spPr>
          <a:xfrm>
            <a:off x="6903720" y="1993392"/>
            <a:ext cx="1737360" cy="347472"/>
          </a:xfrm>
          <a:prstGeom prst="rect">
            <a:avLst/>
          </a:prstGeom>
          <a:noFill/>
          <a:ln/>
        </p:spPr>
        <p:txBody>
          <a:bodyPr wrap="square" lIns="0" tIns="0" rIns="0" bIns="0" rtlCol="0" anchor="ctr"/>
          <a:lstStyle/>
          <a:p>
            <a:pPr algn="ctr" indent="0" marL="0">
              <a:buNone/>
            </a:pPr>
            <a:r>
              <a:rPr lang="en-US" sz="1250" b="1" dirty="0">
                <a:solidFill>
                  <a:srgbClr val="1A2E3B"/>
                </a:solidFill>
                <a:latin typeface="Georgia" pitchFamily="34" charset="0"/>
                <a:ea typeface="Georgia" pitchFamily="34" charset="-122"/>
                <a:cs typeface="Georgia" pitchFamily="34" charset="-120"/>
              </a:rPr>
              <a:t>Hugging Face Spaces</a:t>
            </a:r>
            <a:endParaRPr lang="en-US" sz="1250" dirty="0"/>
          </a:p>
        </p:txBody>
      </p:sp>
      <p:sp>
        <p:nvSpPr>
          <p:cNvPr id="37" name="Text 35"/>
          <p:cNvSpPr/>
          <p:nvPr/>
        </p:nvSpPr>
        <p:spPr>
          <a:xfrm>
            <a:off x="6903720" y="2377440"/>
            <a:ext cx="1737360" cy="1371600"/>
          </a:xfrm>
          <a:prstGeom prst="rect">
            <a:avLst/>
          </a:prstGeom>
          <a:noFill/>
          <a:ln/>
        </p:spPr>
        <p:txBody>
          <a:bodyPr wrap="square" lIns="0" tIns="0" rIns="0" bIns="0" rtlCol="0" anchor="t"/>
          <a:lstStyle/>
          <a:p>
            <a:pPr algn="ctr" indent="0" marL="0">
              <a:buNone/>
            </a:pPr>
            <a:r>
              <a:rPr lang="en-US" sz="1000" dirty="0">
                <a:solidFill>
                  <a:srgbClr val="4A6278"/>
                </a:solidFill>
                <a:latin typeface="Calibri" pitchFamily="34" charset="0"/>
                <a:ea typeface="Calibri" pitchFamily="34" charset="-122"/>
                <a:cs typeface="Calibri" pitchFamily="34" charset="-120"/>
              </a:rPr>
              <a:t>Docker container</a:t>
            </a:r>
            <a:endParaRPr lang="en-US" sz="1000" dirty="0"/>
          </a:p>
          <a:p>
            <a:pPr algn="ctr" indent="0" marL="0">
              <a:buNone/>
            </a:pPr>
            <a:r>
              <a:rPr lang="en-US" sz="1000" dirty="0">
                <a:solidFill>
                  <a:srgbClr val="4A6278"/>
                </a:solidFill>
                <a:latin typeface="Calibri" pitchFamily="34" charset="0"/>
                <a:ea typeface="Calibri" pitchFamily="34" charset="-122"/>
                <a:cs typeface="Calibri" pitchFamily="34" charset="-120"/>
              </a:rPr>
              <a:t>python:3.11-slim</a:t>
            </a:r>
            <a:endParaRPr lang="en-US" sz="1000" dirty="0"/>
          </a:p>
          <a:p>
            <a:pPr algn="ctr" indent="0" marL="0">
              <a:buNone/>
            </a:pPr>
            <a:r>
              <a:rPr lang="en-US" sz="1000" dirty="0">
                <a:solidFill>
                  <a:srgbClr val="4A6278"/>
                </a:solidFill>
                <a:latin typeface="Calibri" pitchFamily="34" charset="0"/>
                <a:ea typeface="Calibri" pitchFamily="34" charset="-122"/>
                <a:cs typeface="Calibri" pitchFamily="34" charset="-120"/>
              </a:rPr>
              <a:t>Public &amp; open-source</a:t>
            </a:r>
            <a:endParaRPr lang="en-US" sz="1000" dirty="0"/>
          </a:p>
        </p:txBody>
      </p:sp>
      <p:sp>
        <p:nvSpPr>
          <p:cNvPr id="38" name="Shape 36"/>
          <p:cNvSpPr/>
          <p:nvPr/>
        </p:nvSpPr>
        <p:spPr>
          <a:xfrm>
            <a:off x="365760" y="4315968"/>
            <a:ext cx="8412480" cy="548640"/>
          </a:xfrm>
          <a:prstGeom prst="rect">
            <a:avLst/>
          </a:prstGeom>
          <a:solidFill>
            <a:srgbClr val="065A82"/>
          </a:solidFill>
          <a:ln w="12700">
            <a:solidFill>
              <a:srgbClr val="065A82"/>
            </a:solidFill>
            <a:prstDash val="solid"/>
          </a:ln>
        </p:spPr>
      </p:sp>
      <p:sp>
        <p:nvSpPr>
          <p:cNvPr id="39" name="Text 37"/>
          <p:cNvSpPr/>
          <p:nvPr/>
        </p:nvSpPr>
        <p:spPr>
          <a:xfrm>
            <a:off x="457200" y="4315968"/>
            <a:ext cx="2011680" cy="548640"/>
          </a:xfrm>
          <a:prstGeom prst="rect">
            <a:avLst/>
          </a:prstGeom>
          <a:noFill/>
          <a:ln/>
        </p:spPr>
        <p:txBody>
          <a:bodyPr wrap="square" lIns="0" tIns="0" rIns="0" bIns="0" rtlCol="0" anchor="ctr"/>
          <a:lstStyle/>
          <a:p>
            <a:pPr algn="ctr" indent="0" marL="0">
              <a:buNone/>
            </a:pPr>
            <a:r>
              <a:rPr lang="en-US" sz="1000" b="1" dirty="0">
                <a:solidFill>
                  <a:srgbClr val="02C39A"/>
                </a:solidFill>
                <a:latin typeface="Calibri" pitchFamily="34" charset="0"/>
                <a:ea typeface="Calibri" pitchFamily="34" charset="-122"/>
                <a:cs typeface="Calibri" pitchFamily="34" charset="-120"/>
              </a:rPr>
              <a:t>Public on HF Spaces</a:t>
            </a:r>
            <a:endParaRPr lang="en-US" sz="1000" dirty="0"/>
          </a:p>
        </p:txBody>
      </p:sp>
      <p:sp>
        <p:nvSpPr>
          <p:cNvPr id="40" name="Text 38"/>
          <p:cNvSpPr/>
          <p:nvPr/>
        </p:nvSpPr>
        <p:spPr>
          <a:xfrm>
            <a:off x="2377440" y="4315968"/>
            <a:ext cx="182880" cy="548640"/>
          </a:xfrm>
          <a:prstGeom prst="rect">
            <a:avLst/>
          </a:prstGeom>
          <a:noFill/>
          <a:ln/>
        </p:spPr>
        <p:txBody>
          <a:bodyPr wrap="square" lIns="0" tIns="0" rIns="0" bIns="0" rtlCol="0" anchor="ctr"/>
          <a:lstStyle/>
          <a:p>
            <a:pPr algn="ctr" indent="0" marL="0">
              <a:buNone/>
            </a:pPr>
            <a:r>
              <a:rPr lang="en-US" sz="1400" dirty="0">
                <a:solidFill>
                  <a:srgbClr val="1C7293"/>
                </a:solidFill>
                <a:latin typeface="Calibri" pitchFamily="34" charset="0"/>
                <a:ea typeface="Calibri" pitchFamily="34" charset="-122"/>
                <a:cs typeface="Calibri" pitchFamily="34" charset="-120"/>
              </a:rPr>
              <a:t>|</a:t>
            </a:r>
            <a:endParaRPr lang="en-US" sz="1400" dirty="0"/>
          </a:p>
        </p:txBody>
      </p:sp>
      <p:sp>
        <p:nvSpPr>
          <p:cNvPr id="41" name="Text 39"/>
          <p:cNvSpPr/>
          <p:nvPr/>
        </p:nvSpPr>
        <p:spPr>
          <a:xfrm>
            <a:off x="2560320" y="4315968"/>
            <a:ext cx="2011680" cy="548640"/>
          </a:xfrm>
          <a:prstGeom prst="rect">
            <a:avLst/>
          </a:prstGeom>
          <a:noFill/>
          <a:ln/>
        </p:spPr>
        <p:txBody>
          <a:bodyPr wrap="square" lIns="0" tIns="0" rIns="0" bIns="0" rtlCol="0" anchor="ctr"/>
          <a:lstStyle/>
          <a:p>
            <a:pPr algn="ctr" indent="0" marL="0">
              <a:buNone/>
            </a:pPr>
            <a:r>
              <a:rPr lang="en-US" sz="1000" b="1" dirty="0">
                <a:solidFill>
                  <a:srgbClr val="02C39A"/>
                </a:solidFill>
                <a:latin typeface="Calibri" pitchFamily="34" charset="0"/>
                <a:ea typeface="Calibri" pitchFamily="34" charset="-122"/>
                <a:cs typeface="Calibri" pitchFamily="34" charset="-120"/>
              </a:rPr>
              <a:t>289 property rows loaded</a:t>
            </a:r>
            <a:endParaRPr lang="en-US" sz="1000" dirty="0"/>
          </a:p>
        </p:txBody>
      </p:sp>
      <p:sp>
        <p:nvSpPr>
          <p:cNvPr id="42" name="Text 40"/>
          <p:cNvSpPr/>
          <p:nvPr/>
        </p:nvSpPr>
        <p:spPr>
          <a:xfrm>
            <a:off x="4480560" y="4315968"/>
            <a:ext cx="182880" cy="548640"/>
          </a:xfrm>
          <a:prstGeom prst="rect">
            <a:avLst/>
          </a:prstGeom>
          <a:noFill/>
          <a:ln/>
        </p:spPr>
        <p:txBody>
          <a:bodyPr wrap="square" lIns="0" tIns="0" rIns="0" bIns="0" rtlCol="0" anchor="ctr"/>
          <a:lstStyle/>
          <a:p>
            <a:pPr algn="ctr" indent="0" marL="0">
              <a:buNone/>
            </a:pPr>
            <a:r>
              <a:rPr lang="en-US" sz="1400" dirty="0">
                <a:solidFill>
                  <a:srgbClr val="1C7293"/>
                </a:solidFill>
                <a:latin typeface="Calibri" pitchFamily="34" charset="0"/>
                <a:ea typeface="Calibri" pitchFamily="34" charset="-122"/>
                <a:cs typeface="Calibri" pitchFamily="34" charset="-120"/>
              </a:rPr>
              <a:t>|</a:t>
            </a:r>
            <a:endParaRPr lang="en-US" sz="1400" dirty="0"/>
          </a:p>
        </p:txBody>
      </p:sp>
      <p:sp>
        <p:nvSpPr>
          <p:cNvPr id="43" name="Text 41"/>
          <p:cNvSpPr/>
          <p:nvPr/>
        </p:nvSpPr>
        <p:spPr>
          <a:xfrm>
            <a:off x="4663440" y="4315968"/>
            <a:ext cx="2011680" cy="548640"/>
          </a:xfrm>
          <a:prstGeom prst="rect">
            <a:avLst/>
          </a:prstGeom>
          <a:noFill/>
          <a:ln/>
        </p:spPr>
        <p:txBody>
          <a:bodyPr wrap="square" lIns="0" tIns="0" rIns="0" bIns="0" rtlCol="0" anchor="ctr"/>
          <a:lstStyle/>
          <a:p>
            <a:pPr algn="ctr" indent="0" marL="0">
              <a:buNone/>
            </a:pPr>
            <a:r>
              <a:rPr lang="en-US" sz="1000" b="1" dirty="0">
                <a:solidFill>
                  <a:srgbClr val="02C39A"/>
                </a:solidFill>
                <a:latin typeface="Calibri" pitchFamily="34" charset="0"/>
                <a:ea typeface="Calibri" pitchFamily="34" charset="-122"/>
                <a:cs typeface="Calibri" pitchFamily="34" charset="-120"/>
              </a:rPr>
              <a:t>4 polymer materials</a:t>
            </a:r>
            <a:endParaRPr lang="en-US" sz="1000" dirty="0"/>
          </a:p>
        </p:txBody>
      </p:sp>
      <p:sp>
        <p:nvSpPr>
          <p:cNvPr id="44" name="Text 42"/>
          <p:cNvSpPr/>
          <p:nvPr/>
        </p:nvSpPr>
        <p:spPr>
          <a:xfrm>
            <a:off x="6583680" y="4315968"/>
            <a:ext cx="182880" cy="548640"/>
          </a:xfrm>
          <a:prstGeom prst="rect">
            <a:avLst/>
          </a:prstGeom>
          <a:noFill/>
          <a:ln/>
        </p:spPr>
        <p:txBody>
          <a:bodyPr wrap="square" lIns="0" tIns="0" rIns="0" bIns="0" rtlCol="0" anchor="ctr"/>
          <a:lstStyle/>
          <a:p>
            <a:pPr algn="ctr" indent="0" marL="0">
              <a:buNone/>
            </a:pPr>
            <a:r>
              <a:rPr lang="en-US" sz="1400" dirty="0">
                <a:solidFill>
                  <a:srgbClr val="1C7293"/>
                </a:solidFill>
                <a:latin typeface="Calibri" pitchFamily="34" charset="0"/>
                <a:ea typeface="Calibri" pitchFamily="34" charset="-122"/>
                <a:cs typeface="Calibri" pitchFamily="34" charset="-120"/>
              </a:rPr>
              <a:t>|</a:t>
            </a:r>
            <a:endParaRPr lang="en-US" sz="1400" dirty="0"/>
          </a:p>
        </p:txBody>
      </p:sp>
      <p:sp>
        <p:nvSpPr>
          <p:cNvPr id="45" name="Text 43"/>
          <p:cNvSpPr/>
          <p:nvPr/>
        </p:nvSpPr>
        <p:spPr>
          <a:xfrm>
            <a:off x="6766560" y="4315968"/>
            <a:ext cx="2011680" cy="548640"/>
          </a:xfrm>
          <a:prstGeom prst="rect">
            <a:avLst/>
          </a:prstGeom>
          <a:noFill/>
          <a:ln/>
        </p:spPr>
        <p:txBody>
          <a:bodyPr wrap="square" lIns="0" tIns="0" rIns="0" bIns="0" rtlCol="0" anchor="ctr"/>
          <a:lstStyle/>
          <a:p>
            <a:pPr algn="ctr" indent="0" marL="0">
              <a:buNone/>
            </a:pPr>
            <a:r>
              <a:rPr lang="en-US" sz="1000" b="1" dirty="0">
                <a:solidFill>
                  <a:srgbClr val="02C39A"/>
                </a:solidFill>
                <a:latin typeface="Calibri" pitchFamily="34" charset="0"/>
                <a:ea typeface="Calibri" pitchFamily="34" charset="-122"/>
                <a:cs typeface="Calibri" pitchFamily="34" charset="-120"/>
              </a:rPr>
              <a:t>Open-source repo</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F5FA"/>
        </a:solidFill>
      </p:bgPr>
    </p:bg>
    <p:spTree>
      <p:nvGrpSpPr>
        <p:cNvPr id="1" name=""/>
        <p:cNvGrpSpPr/>
        <p:nvPr/>
      </p:nvGrpSpPr>
      <p:grpSpPr>
        <a:xfrm>
          <a:off x="0" y="0"/>
          <a:ext cx="0" cy="0"/>
          <a:chOff x="0" y="0"/>
          <a:chExt cx="0" cy="0"/>
        </a:xfrm>
      </p:grpSpPr>
      <p:sp>
        <p:nvSpPr>
          <p:cNvPr id="2" name="Shape 0"/>
          <p:cNvSpPr/>
          <p:nvPr/>
        </p:nvSpPr>
        <p:spPr>
          <a:xfrm>
            <a:off x="365760" y="256032"/>
            <a:ext cx="64008" cy="438912"/>
          </a:xfrm>
          <a:prstGeom prst="rect">
            <a:avLst/>
          </a:prstGeom>
          <a:solidFill>
            <a:srgbClr val="02C39A"/>
          </a:solidFill>
          <a:ln w="12700">
            <a:solidFill>
              <a:srgbClr val="02C39A"/>
            </a:solidFill>
            <a:prstDash val="solid"/>
          </a:ln>
        </p:spPr>
      </p:sp>
      <p:sp>
        <p:nvSpPr>
          <p:cNvPr id="3" name="Text 1"/>
          <p:cNvSpPr/>
          <p:nvPr/>
        </p:nvSpPr>
        <p:spPr>
          <a:xfrm>
            <a:off x="502920" y="201168"/>
            <a:ext cx="8321040" cy="548640"/>
          </a:xfrm>
          <a:prstGeom prst="rect">
            <a:avLst/>
          </a:prstGeom>
          <a:noFill/>
          <a:ln/>
        </p:spPr>
        <p:txBody>
          <a:bodyPr wrap="square" lIns="0" tIns="0" rIns="0" bIns="0" rtlCol="0" anchor="ctr"/>
          <a:lstStyle/>
          <a:p>
            <a:pPr indent="0" marL="0">
              <a:buNone/>
            </a:pPr>
            <a:r>
              <a:rPr lang="en-US" sz="2600" b="1" dirty="0">
                <a:solidFill>
                  <a:srgbClr val="065A82"/>
                </a:solidFill>
                <a:latin typeface="Georgia" pitchFamily="34" charset="0"/>
                <a:ea typeface="Georgia" pitchFamily="34" charset="-122"/>
                <a:cs typeface="Georgia" pitchFamily="34" charset="-120"/>
              </a:rPr>
              <a:t>Database Design -- EAV Schema</a:t>
            </a:r>
            <a:endParaRPr lang="en-US" sz="2600" dirty="0"/>
          </a:p>
        </p:txBody>
      </p:sp>
      <p:sp>
        <p:nvSpPr>
          <p:cNvPr id="4" name="Shape 2"/>
          <p:cNvSpPr/>
          <p:nvPr/>
        </p:nvSpPr>
        <p:spPr>
          <a:xfrm>
            <a:off x="0" y="4887468"/>
            <a:ext cx="9144000" cy="256032"/>
          </a:xfrm>
          <a:prstGeom prst="rect">
            <a:avLst/>
          </a:prstGeom>
          <a:solidFill>
            <a:srgbClr val="1C7293"/>
          </a:solidFill>
          <a:ln w="12700">
            <a:solidFill>
              <a:srgbClr val="1C7293"/>
            </a:solidFill>
            <a:prstDash val="solid"/>
          </a:ln>
        </p:spPr>
      </p:sp>
      <p:sp>
        <p:nvSpPr>
          <p:cNvPr id="5" name="Text 3"/>
          <p:cNvSpPr/>
          <p:nvPr/>
        </p:nvSpPr>
        <p:spPr>
          <a:xfrm>
            <a:off x="274320" y="4905756"/>
            <a:ext cx="5486400" cy="219456"/>
          </a:xfrm>
          <a:prstGeom prst="rect">
            <a:avLst/>
          </a:prstGeom>
          <a:noFill/>
          <a:ln/>
        </p:spPr>
        <p:txBody>
          <a:bodyPr wrap="square" lIns="0" tIns="0" rIns="0" bIns="0" rtlCol="0" anchor="ctr"/>
          <a:lstStyle/>
          <a:p>
            <a:pPr indent="0" marL="0">
              <a:buNone/>
            </a:pPr>
            <a:r>
              <a:rPr lang="en-US" sz="800" dirty="0">
                <a:solidFill>
                  <a:srgbClr val="CCEEFF"/>
                </a:solidFill>
                <a:latin typeface="Calibri" pitchFamily="34" charset="0"/>
                <a:ea typeface="Calibri" pitchFamily="34" charset="-122"/>
                <a:cs typeface="Calibri" pitchFamily="34" charset="-120"/>
              </a:rPr>
              <a:t>Mathias Heider  |  ME8930 Course Project  |  May 2026</a:t>
            </a:r>
            <a:endParaRPr lang="en-US" sz="800" dirty="0"/>
          </a:p>
        </p:txBody>
      </p:sp>
      <p:sp>
        <p:nvSpPr>
          <p:cNvPr id="6" name="Text 4"/>
          <p:cNvSpPr/>
          <p:nvPr/>
        </p:nvSpPr>
        <p:spPr>
          <a:xfrm>
            <a:off x="6858000" y="4905756"/>
            <a:ext cx="2011680" cy="219456"/>
          </a:xfrm>
          <a:prstGeom prst="rect">
            <a:avLst/>
          </a:prstGeom>
          <a:noFill/>
          <a:ln/>
        </p:spPr>
        <p:txBody>
          <a:bodyPr wrap="square" lIns="0" tIns="0" rIns="0" bIns="0" rtlCol="0" anchor="ctr"/>
          <a:lstStyle/>
          <a:p>
            <a:pPr algn="r" indent="0" marL="0">
              <a:buNone/>
            </a:pPr>
            <a:r>
              <a:rPr lang="en-US" sz="800" dirty="0">
                <a:solidFill>
                  <a:srgbClr val="CCEEFF"/>
                </a:solidFill>
                <a:latin typeface="Calibri" pitchFamily="34" charset="0"/>
                <a:ea typeface="Calibri" pitchFamily="34" charset="-122"/>
                <a:cs typeface="Calibri" pitchFamily="34" charset="-120"/>
              </a:rPr>
              <a:t>3 / Architecture</a:t>
            </a:r>
            <a:endParaRPr lang="en-US" sz="800" dirty="0"/>
          </a:p>
        </p:txBody>
      </p:sp>
      <p:sp>
        <p:nvSpPr>
          <p:cNvPr id="7" name="Shape 5"/>
          <p:cNvSpPr/>
          <p:nvPr/>
        </p:nvSpPr>
        <p:spPr>
          <a:xfrm>
            <a:off x="365760" y="960120"/>
            <a:ext cx="4114800" cy="3566160"/>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8" name="Shape 6"/>
          <p:cNvSpPr/>
          <p:nvPr/>
        </p:nvSpPr>
        <p:spPr>
          <a:xfrm>
            <a:off x="365760" y="960120"/>
            <a:ext cx="45720" cy="3566160"/>
          </a:xfrm>
          <a:prstGeom prst="rect">
            <a:avLst/>
          </a:prstGeom>
          <a:solidFill>
            <a:srgbClr val="065A82"/>
          </a:solidFill>
          <a:ln w="12700">
            <a:solidFill>
              <a:srgbClr val="065A82"/>
            </a:solidFill>
            <a:prstDash val="solid"/>
          </a:ln>
        </p:spPr>
      </p:sp>
      <p:sp>
        <p:nvSpPr>
          <p:cNvPr id="9" name="Shape 7"/>
          <p:cNvSpPr/>
          <p:nvPr/>
        </p:nvSpPr>
        <p:spPr>
          <a:xfrm>
            <a:off x="502920" y="1024128"/>
            <a:ext cx="3840480" cy="292608"/>
          </a:xfrm>
          <a:prstGeom prst="rect">
            <a:avLst/>
          </a:prstGeom>
          <a:solidFill>
            <a:srgbClr val="065A82"/>
          </a:solidFill>
          <a:ln w="12700">
            <a:solidFill>
              <a:srgbClr val="065A82"/>
            </a:solidFill>
            <a:prstDash val="solid"/>
          </a:ln>
        </p:spPr>
      </p:sp>
      <p:sp>
        <p:nvSpPr>
          <p:cNvPr id="10" name="Text 8"/>
          <p:cNvSpPr/>
          <p:nvPr/>
        </p:nvSpPr>
        <p:spPr>
          <a:xfrm>
            <a:off x="548640" y="1024128"/>
            <a:ext cx="1554480" cy="29260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Column</a:t>
            </a:r>
            <a:endParaRPr lang="en-US" sz="1000" dirty="0"/>
          </a:p>
        </p:txBody>
      </p:sp>
      <p:sp>
        <p:nvSpPr>
          <p:cNvPr id="11" name="Text 9"/>
          <p:cNvSpPr/>
          <p:nvPr/>
        </p:nvSpPr>
        <p:spPr>
          <a:xfrm>
            <a:off x="2148840" y="1024128"/>
            <a:ext cx="2240280" cy="29260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Description</a:t>
            </a:r>
            <a:endParaRPr lang="en-US" sz="1000" dirty="0"/>
          </a:p>
        </p:txBody>
      </p:sp>
      <p:sp>
        <p:nvSpPr>
          <p:cNvPr id="12" name="Shape 10"/>
          <p:cNvSpPr/>
          <p:nvPr/>
        </p:nvSpPr>
        <p:spPr>
          <a:xfrm>
            <a:off x="502920" y="1353312"/>
            <a:ext cx="3840480" cy="310896"/>
          </a:xfrm>
          <a:prstGeom prst="rect">
            <a:avLst/>
          </a:prstGeom>
          <a:solidFill>
            <a:srgbClr val="F0F7FC"/>
          </a:solidFill>
          <a:ln w="12700">
            <a:solidFill>
              <a:srgbClr val="F0F7FC"/>
            </a:solidFill>
            <a:prstDash val="solid"/>
          </a:ln>
        </p:spPr>
      </p:sp>
      <p:sp>
        <p:nvSpPr>
          <p:cNvPr id="13" name="Text 11"/>
          <p:cNvSpPr/>
          <p:nvPr/>
        </p:nvSpPr>
        <p:spPr>
          <a:xfrm>
            <a:off x="548640" y="1353312"/>
            <a:ext cx="1554480" cy="310896"/>
          </a:xfrm>
          <a:prstGeom prst="rect">
            <a:avLst/>
          </a:prstGeom>
          <a:noFill/>
          <a:ln/>
        </p:spPr>
        <p:txBody>
          <a:bodyPr wrap="square" lIns="0" tIns="0" rIns="0" bIns="0" rtlCol="0" anchor="ctr"/>
          <a:lstStyle/>
          <a:p>
            <a:pPr indent="0" marL="0">
              <a:buNone/>
            </a:pPr>
            <a:r>
              <a:rPr lang="en-US" sz="900" dirty="0">
                <a:solidFill>
                  <a:srgbClr val="065A82"/>
                </a:solidFill>
                <a:latin typeface="Consolas" pitchFamily="34" charset="0"/>
                <a:ea typeface="Consolas" pitchFamily="34" charset="-122"/>
                <a:cs typeface="Consolas" pitchFamily="34" charset="-120"/>
              </a:rPr>
              <a:t>material_name</a:t>
            </a:r>
            <a:endParaRPr lang="en-US" sz="900" dirty="0"/>
          </a:p>
        </p:txBody>
      </p:sp>
      <p:sp>
        <p:nvSpPr>
          <p:cNvPr id="14" name="Text 12"/>
          <p:cNvSpPr/>
          <p:nvPr/>
        </p:nvSpPr>
        <p:spPr>
          <a:xfrm>
            <a:off x="2148840" y="1353312"/>
            <a:ext cx="2194560" cy="310896"/>
          </a:xfrm>
          <a:prstGeom prst="rect">
            <a:avLst/>
          </a:prstGeom>
          <a:noFill/>
          <a:ln/>
        </p:spPr>
        <p:txBody>
          <a:bodyPr wrap="square" lIns="0" tIns="0" rIns="0" bIns="0" rtlCol="0" anchor="ctr"/>
          <a:lstStyle/>
          <a:p>
            <a:pPr indent="0" marL="0">
              <a:buNone/>
            </a:pPr>
            <a:r>
              <a:rPr lang="en-US" sz="900" dirty="0">
                <a:solidFill>
                  <a:srgbClr val="4A6278"/>
                </a:solidFill>
                <a:latin typeface="Calibri" pitchFamily="34" charset="0"/>
                <a:ea typeface="Calibri" pitchFamily="34" charset="-122"/>
                <a:cs typeface="Calibri" pitchFamily="34" charset="-120"/>
              </a:rPr>
              <a:t>Generic material name</a:t>
            </a:r>
            <a:endParaRPr lang="en-US" sz="900" dirty="0"/>
          </a:p>
        </p:txBody>
      </p:sp>
      <p:sp>
        <p:nvSpPr>
          <p:cNvPr id="15" name="Text 13"/>
          <p:cNvSpPr/>
          <p:nvPr/>
        </p:nvSpPr>
        <p:spPr>
          <a:xfrm>
            <a:off x="548640" y="1682496"/>
            <a:ext cx="1554480" cy="310896"/>
          </a:xfrm>
          <a:prstGeom prst="rect">
            <a:avLst/>
          </a:prstGeom>
          <a:noFill/>
          <a:ln/>
        </p:spPr>
        <p:txBody>
          <a:bodyPr wrap="square" lIns="0" tIns="0" rIns="0" bIns="0" rtlCol="0" anchor="ctr"/>
          <a:lstStyle/>
          <a:p>
            <a:pPr indent="0" marL="0">
              <a:buNone/>
            </a:pPr>
            <a:r>
              <a:rPr lang="en-US" sz="900" dirty="0">
                <a:solidFill>
                  <a:srgbClr val="065A82"/>
                </a:solidFill>
                <a:latin typeface="Consolas" pitchFamily="34" charset="0"/>
                <a:ea typeface="Consolas" pitchFamily="34" charset="-122"/>
                <a:cs typeface="Consolas" pitchFamily="34" charset="-120"/>
              </a:rPr>
              <a:t>material_abbreviation</a:t>
            </a:r>
            <a:endParaRPr lang="en-US" sz="900" dirty="0"/>
          </a:p>
        </p:txBody>
      </p:sp>
      <p:sp>
        <p:nvSpPr>
          <p:cNvPr id="16" name="Text 14"/>
          <p:cNvSpPr/>
          <p:nvPr/>
        </p:nvSpPr>
        <p:spPr>
          <a:xfrm>
            <a:off x="2148840" y="1682496"/>
            <a:ext cx="2194560" cy="310896"/>
          </a:xfrm>
          <a:prstGeom prst="rect">
            <a:avLst/>
          </a:prstGeom>
          <a:noFill/>
          <a:ln/>
        </p:spPr>
        <p:txBody>
          <a:bodyPr wrap="square" lIns="0" tIns="0" rIns="0" bIns="0" rtlCol="0" anchor="ctr"/>
          <a:lstStyle/>
          <a:p>
            <a:pPr indent="0" marL="0">
              <a:buNone/>
            </a:pPr>
            <a:r>
              <a:rPr lang="en-US" sz="900" dirty="0">
                <a:solidFill>
                  <a:srgbClr val="4A6278"/>
                </a:solidFill>
                <a:latin typeface="Calibri" pitchFamily="34" charset="0"/>
                <a:ea typeface="Calibri" pitchFamily="34" charset="-122"/>
                <a:cs typeface="Calibri" pitchFamily="34" charset="-120"/>
              </a:rPr>
              <a:t>Short ID (e.g., PEEK)</a:t>
            </a:r>
            <a:endParaRPr lang="en-US" sz="900" dirty="0"/>
          </a:p>
        </p:txBody>
      </p:sp>
      <p:sp>
        <p:nvSpPr>
          <p:cNvPr id="17" name="Shape 15"/>
          <p:cNvSpPr/>
          <p:nvPr/>
        </p:nvSpPr>
        <p:spPr>
          <a:xfrm>
            <a:off x="502920" y="2011680"/>
            <a:ext cx="3840480" cy="310896"/>
          </a:xfrm>
          <a:prstGeom prst="rect">
            <a:avLst/>
          </a:prstGeom>
          <a:solidFill>
            <a:srgbClr val="F0F7FC"/>
          </a:solidFill>
          <a:ln w="12700">
            <a:solidFill>
              <a:srgbClr val="F0F7FC"/>
            </a:solidFill>
            <a:prstDash val="solid"/>
          </a:ln>
        </p:spPr>
      </p:sp>
      <p:sp>
        <p:nvSpPr>
          <p:cNvPr id="18" name="Text 16"/>
          <p:cNvSpPr/>
          <p:nvPr/>
        </p:nvSpPr>
        <p:spPr>
          <a:xfrm>
            <a:off x="548640" y="2011680"/>
            <a:ext cx="1554480" cy="310896"/>
          </a:xfrm>
          <a:prstGeom prst="rect">
            <a:avLst/>
          </a:prstGeom>
          <a:noFill/>
          <a:ln/>
        </p:spPr>
        <p:txBody>
          <a:bodyPr wrap="square" lIns="0" tIns="0" rIns="0" bIns="0" rtlCol="0" anchor="ctr"/>
          <a:lstStyle/>
          <a:p>
            <a:pPr indent="0" marL="0">
              <a:buNone/>
            </a:pPr>
            <a:r>
              <a:rPr lang="en-US" sz="900" dirty="0">
                <a:solidFill>
                  <a:srgbClr val="065A82"/>
                </a:solidFill>
                <a:latin typeface="Consolas" pitchFamily="34" charset="0"/>
                <a:ea typeface="Consolas" pitchFamily="34" charset="-122"/>
                <a:cs typeface="Consolas" pitchFamily="34" charset="-120"/>
              </a:rPr>
              <a:t>section</a:t>
            </a:r>
            <a:endParaRPr lang="en-US" sz="900" dirty="0"/>
          </a:p>
        </p:txBody>
      </p:sp>
      <p:sp>
        <p:nvSpPr>
          <p:cNvPr id="19" name="Text 17"/>
          <p:cNvSpPr/>
          <p:nvPr/>
        </p:nvSpPr>
        <p:spPr>
          <a:xfrm>
            <a:off x="2148840" y="2011680"/>
            <a:ext cx="2194560" cy="310896"/>
          </a:xfrm>
          <a:prstGeom prst="rect">
            <a:avLst/>
          </a:prstGeom>
          <a:noFill/>
          <a:ln/>
        </p:spPr>
        <p:txBody>
          <a:bodyPr wrap="square" lIns="0" tIns="0" rIns="0" bIns="0" rtlCol="0" anchor="ctr"/>
          <a:lstStyle/>
          <a:p>
            <a:pPr indent="0" marL="0">
              <a:buNone/>
            </a:pPr>
            <a:r>
              <a:rPr lang="en-US" sz="900" dirty="0">
                <a:solidFill>
                  <a:srgbClr val="4A6278"/>
                </a:solidFill>
                <a:latin typeface="Calibri" pitchFamily="34" charset="0"/>
                <a:ea typeface="Calibri" pitchFamily="34" charset="-122"/>
                <a:cs typeface="Calibri" pitchFamily="34" charset="-120"/>
              </a:rPr>
              <a:t>Property category (Mechanical, Thermal, ...)</a:t>
            </a:r>
            <a:endParaRPr lang="en-US" sz="900" dirty="0"/>
          </a:p>
        </p:txBody>
      </p:sp>
      <p:sp>
        <p:nvSpPr>
          <p:cNvPr id="20" name="Text 18"/>
          <p:cNvSpPr/>
          <p:nvPr/>
        </p:nvSpPr>
        <p:spPr>
          <a:xfrm>
            <a:off x="548640" y="2340864"/>
            <a:ext cx="1554480" cy="310896"/>
          </a:xfrm>
          <a:prstGeom prst="rect">
            <a:avLst/>
          </a:prstGeom>
          <a:noFill/>
          <a:ln/>
        </p:spPr>
        <p:txBody>
          <a:bodyPr wrap="square" lIns="0" tIns="0" rIns="0" bIns="0" rtlCol="0" anchor="ctr"/>
          <a:lstStyle/>
          <a:p>
            <a:pPr indent="0" marL="0">
              <a:buNone/>
            </a:pPr>
            <a:r>
              <a:rPr lang="en-US" sz="900" dirty="0">
                <a:solidFill>
                  <a:srgbClr val="065A82"/>
                </a:solidFill>
                <a:latin typeface="Consolas" pitchFamily="34" charset="0"/>
                <a:ea typeface="Consolas" pitchFamily="34" charset="-122"/>
                <a:cs typeface="Consolas" pitchFamily="34" charset="-120"/>
              </a:rPr>
              <a:t>property_name</a:t>
            </a:r>
            <a:endParaRPr lang="en-US" sz="900" dirty="0"/>
          </a:p>
        </p:txBody>
      </p:sp>
      <p:sp>
        <p:nvSpPr>
          <p:cNvPr id="21" name="Text 19"/>
          <p:cNvSpPr/>
          <p:nvPr/>
        </p:nvSpPr>
        <p:spPr>
          <a:xfrm>
            <a:off x="2148840" y="2340864"/>
            <a:ext cx="2194560" cy="310896"/>
          </a:xfrm>
          <a:prstGeom prst="rect">
            <a:avLst/>
          </a:prstGeom>
          <a:noFill/>
          <a:ln/>
        </p:spPr>
        <p:txBody>
          <a:bodyPr wrap="square" lIns="0" tIns="0" rIns="0" bIns="0" rtlCol="0" anchor="ctr"/>
          <a:lstStyle/>
          <a:p>
            <a:pPr indent="0" marL="0">
              <a:buNone/>
            </a:pPr>
            <a:r>
              <a:rPr lang="en-US" sz="900" dirty="0">
                <a:solidFill>
                  <a:srgbClr val="4A6278"/>
                </a:solidFill>
                <a:latin typeface="Calibri" pitchFamily="34" charset="0"/>
                <a:ea typeface="Calibri" pitchFamily="34" charset="-122"/>
                <a:cs typeface="Calibri" pitchFamily="34" charset="-120"/>
              </a:rPr>
              <a:t>Canonical or free-text property</a:t>
            </a:r>
            <a:endParaRPr lang="en-US" sz="900" dirty="0"/>
          </a:p>
        </p:txBody>
      </p:sp>
      <p:sp>
        <p:nvSpPr>
          <p:cNvPr id="22" name="Shape 20"/>
          <p:cNvSpPr/>
          <p:nvPr/>
        </p:nvSpPr>
        <p:spPr>
          <a:xfrm>
            <a:off x="502920" y="2670048"/>
            <a:ext cx="3840480" cy="310896"/>
          </a:xfrm>
          <a:prstGeom prst="rect">
            <a:avLst/>
          </a:prstGeom>
          <a:solidFill>
            <a:srgbClr val="F0F7FC"/>
          </a:solidFill>
          <a:ln w="12700">
            <a:solidFill>
              <a:srgbClr val="F0F7FC"/>
            </a:solidFill>
            <a:prstDash val="solid"/>
          </a:ln>
        </p:spPr>
      </p:sp>
      <p:sp>
        <p:nvSpPr>
          <p:cNvPr id="23" name="Text 21"/>
          <p:cNvSpPr/>
          <p:nvPr/>
        </p:nvSpPr>
        <p:spPr>
          <a:xfrm>
            <a:off x="548640" y="2670048"/>
            <a:ext cx="1554480" cy="310896"/>
          </a:xfrm>
          <a:prstGeom prst="rect">
            <a:avLst/>
          </a:prstGeom>
          <a:noFill/>
          <a:ln/>
        </p:spPr>
        <p:txBody>
          <a:bodyPr wrap="square" lIns="0" tIns="0" rIns="0" bIns="0" rtlCol="0" anchor="ctr"/>
          <a:lstStyle/>
          <a:p>
            <a:pPr indent="0" marL="0">
              <a:buNone/>
            </a:pPr>
            <a:r>
              <a:rPr lang="en-US" sz="900" dirty="0">
                <a:solidFill>
                  <a:srgbClr val="065A82"/>
                </a:solidFill>
                <a:latin typeface="Consolas" pitchFamily="34" charset="0"/>
                <a:ea typeface="Consolas" pitchFamily="34" charset="-122"/>
                <a:cs typeface="Consolas" pitchFamily="34" charset="-120"/>
              </a:rPr>
              <a:t>value</a:t>
            </a:r>
            <a:endParaRPr lang="en-US" sz="900" dirty="0"/>
          </a:p>
        </p:txBody>
      </p:sp>
      <p:sp>
        <p:nvSpPr>
          <p:cNvPr id="24" name="Text 22"/>
          <p:cNvSpPr/>
          <p:nvPr/>
        </p:nvSpPr>
        <p:spPr>
          <a:xfrm>
            <a:off x="2148840" y="2670048"/>
            <a:ext cx="2194560" cy="310896"/>
          </a:xfrm>
          <a:prstGeom prst="rect">
            <a:avLst/>
          </a:prstGeom>
          <a:noFill/>
          <a:ln/>
        </p:spPr>
        <p:txBody>
          <a:bodyPr wrap="square" lIns="0" tIns="0" rIns="0" bIns="0" rtlCol="0" anchor="ctr"/>
          <a:lstStyle/>
          <a:p>
            <a:pPr indent="0" marL="0">
              <a:buNone/>
            </a:pPr>
            <a:r>
              <a:rPr lang="en-US" sz="900" dirty="0">
                <a:solidFill>
                  <a:srgbClr val="4A6278"/>
                </a:solidFill>
                <a:latin typeface="Calibri" pitchFamily="34" charset="0"/>
                <a:ea typeface="Calibri" pitchFamily="34" charset="-122"/>
                <a:cs typeface="Calibri" pitchFamily="34" charset="-120"/>
              </a:rPr>
              <a:t>Measured value or range (text)</a:t>
            </a:r>
            <a:endParaRPr lang="en-US" sz="900" dirty="0"/>
          </a:p>
        </p:txBody>
      </p:sp>
      <p:sp>
        <p:nvSpPr>
          <p:cNvPr id="25" name="Text 23"/>
          <p:cNvSpPr/>
          <p:nvPr/>
        </p:nvSpPr>
        <p:spPr>
          <a:xfrm>
            <a:off x="548640" y="2999232"/>
            <a:ext cx="1554480" cy="310896"/>
          </a:xfrm>
          <a:prstGeom prst="rect">
            <a:avLst/>
          </a:prstGeom>
          <a:noFill/>
          <a:ln/>
        </p:spPr>
        <p:txBody>
          <a:bodyPr wrap="square" lIns="0" tIns="0" rIns="0" bIns="0" rtlCol="0" anchor="ctr"/>
          <a:lstStyle/>
          <a:p>
            <a:pPr indent="0" marL="0">
              <a:buNone/>
            </a:pPr>
            <a:r>
              <a:rPr lang="en-US" sz="900" dirty="0">
                <a:solidFill>
                  <a:srgbClr val="065A82"/>
                </a:solidFill>
                <a:latin typeface="Consolas" pitchFamily="34" charset="0"/>
                <a:ea typeface="Consolas" pitchFamily="34" charset="-122"/>
                <a:cs typeface="Consolas" pitchFamily="34" charset="-120"/>
              </a:rPr>
              <a:t>unit</a:t>
            </a:r>
            <a:endParaRPr lang="en-US" sz="900" dirty="0"/>
          </a:p>
        </p:txBody>
      </p:sp>
      <p:sp>
        <p:nvSpPr>
          <p:cNvPr id="26" name="Text 24"/>
          <p:cNvSpPr/>
          <p:nvPr/>
        </p:nvSpPr>
        <p:spPr>
          <a:xfrm>
            <a:off x="2148840" y="2999232"/>
            <a:ext cx="2194560" cy="310896"/>
          </a:xfrm>
          <a:prstGeom prst="rect">
            <a:avLst/>
          </a:prstGeom>
          <a:noFill/>
          <a:ln/>
        </p:spPr>
        <p:txBody>
          <a:bodyPr wrap="square" lIns="0" tIns="0" rIns="0" bIns="0" rtlCol="0" anchor="ctr"/>
          <a:lstStyle/>
          <a:p>
            <a:pPr indent="0" marL="0">
              <a:buNone/>
            </a:pPr>
            <a:r>
              <a:rPr lang="en-US" sz="900" dirty="0">
                <a:solidFill>
                  <a:srgbClr val="4A6278"/>
                </a:solidFill>
                <a:latin typeface="Calibri" pitchFamily="34" charset="0"/>
                <a:ea typeface="Calibri" pitchFamily="34" charset="-122"/>
                <a:cs typeface="Calibri" pitchFamily="34" charset="-120"/>
              </a:rPr>
              <a:t>SI unit string</a:t>
            </a:r>
            <a:endParaRPr lang="en-US" sz="900" dirty="0"/>
          </a:p>
        </p:txBody>
      </p:sp>
      <p:sp>
        <p:nvSpPr>
          <p:cNvPr id="27" name="Shape 25"/>
          <p:cNvSpPr/>
          <p:nvPr/>
        </p:nvSpPr>
        <p:spPr>
          <a:xfrm>
            <a:off x="502920" y="3328416"/>
            <a:ext cx="3840480" cy="310896"/>
          </a:xfrm>
          <a:prstGeom prst="rect">
            <a:avLst/>
          </a:prstGeom>
          <a:solidFill>
            <a:srgbClr val="F0F7FC"/>
          </a:solidFill>
          <a:ln w="12700">
            <a:solidFill>
              <a:srgbClr val="F0F7FC"/>
            </a:solidFill>
            <a:prstDash val="solid"/>
          </a:ln>
        </p:spPr>
      </p:sp>
      <p:sp>
        <p:nvSpPr>
          <p:cNvPr id="28" name="Text 26"/>
          <p:cNvSpPr/>
          <p:nvPr/>
        </p:nvSpPr>
        <p:spPr>
          <a:xfrm>
            <a:off x="548640" y="3328416"/>
            <a:ext cx="1554480" cy="310896"/>
          </a:xfrm>
          <a:prstGeom prst="rect">
            <a:avLst/>
          </a:prstGeom>
          <a:noFill/>
          <a:ln/>
        </p:spPr>
        <p:txBody>
          <a:bodyPr wrap="square" lIns="0" tIns="0" rIns="0" bIns="0" rtlCol="0" anchor="ctr"/>
          <a:lstStyle/>
          <a:p>
            <a:pPr indent="0" marL="0">
              <a:buNone/>
            </a:pPr>
            <a:r>
              <a:rPr lang="en-US" sz="900" dirty="0">
                <a:solidFill>
                  <a:srgbClr val="065A82"/>
                </a:solidFill>
                <a:latin typeface="Consolas" pitchFamily="34" charset="0"/>
                <a:ea typeface="Consolas" pitchFamily="34" charset="-122"/>
                <a:cs typeface="Consolas" pitchFamily="34" charset="-120"/>
              </a:rPr>
              <a:t>english</a:t>
            </a:r>
            <a:endParaRPr lang="en-US" sz="900" dirty="0"/>
          </a:p>
        </p:txBody>
      </p:sp>
      <p:sp>
        <p:nvSpPr>
          <p:cNvPr id="29" name="Text 27"/>
          <p:cNvSpPr/>
          <p:nvPr/>
        </p:nvSpPr>
        <p:spPr>
          <a:xfrm>
            <a:off x="2148840" y="3328416"/>
            <a:ext cx="2194560" cy="310896"/>
          </a:xfrm>
          <a:prstGeom prst="rect">
            <a:avLst/>
          </a:prstGeom>
          <a:noFill/>
          <a:ln/>
        </p:spPr>
        <p:txBody>
          <a:bodyPr wrap="square" lIns="0" tIns="0" rIns="0" bIns="0" rtlCol="0" anchor="ctr"/>
          <a:lstStyle/>
          <a:p>
            <a:pPr indent="0" marL="0">
              <a:buNone/>
            </a:pPr>
            <a:r>
              <a:rPr lang="en-US" sz="900" dirty="0">
                <a:solidFill>
                  <a:srgbClr val="4A6278"/>
                </a:solidFill>
                <a:latin typeface="Calibri" pitchFamily="34" charset="0"/>
                <a:ea typeface="Calibri" pitchFamily="34" charset="-122"/>
                <a:cs typeface="Calibri" pitchFamily="34" charset="-120"/>
              </a:rPr>
              <a:t>Imperial equivalent, when reported</a:t>
            </a:r>
            <a:endParaRPr lang="en-US" sz="900" dirty="0"/>
          </a:p>
        </p:txBody>
      </p:sp>
      <p:sp>
        <p:nvSpPr>
          <p:cNvPr id="30" name="Text 28"/>
          <p:cNvSpPr/>
          <p:nvPr/>
        </p:nvSpPr>
        <p:spPr>
          <a:xfrm>
            <a:off x="548640" y="3657600"/>
            <a:ext cx="1554480" cy="310896"/>
          </a:xfrm>
          <a:prstGeom prst="rect">
            <a:avLst/>
          </a:prstGeom>
          <a:noFill/>
          <a:ln/>
        </p:spPr>
        <p:txBody>
          <a:bodyPr wrap="square" lIns="0" tIns="0" rIns="0" bIns="0" rtlCol="0" anchor="ctr"/>
          <a:lstStyle/>
          <a:p>
            <a:pPr indent="0" marL="0">
              <a:buNone/>
            </a:pPr>
            <a:r>
              <a:rPr lang="en-US" sz="900" dirty="0">
                <a:solidFill>
                  <a:srgbClr val="065A82"/>
                </a:solidFill>
                <a:latin typeface="Consolas" pitchFamily="34" charset="0"/>
                <a:ea typeface="Consolas" pitchFamily="34" charset="-122"/>
                <a:cs typeface="Consolas" pitchFamily="34" charset="-120"/>
              </a:rPr>
              <a:t>test_condition</a:t>
            </a:r>
            <a:endParaRPr lang="en-US" sz="900" dirty="0"/>
          </a:p>
        </p:txBody>
      </p:sp>
      <p:sp>
        <p:nvSpPr>
          <p:cNvPr id="31" name="Text 29"/>
          <p:cNvSpPr/>
          <p:nvPr/>
        </p:nvSpPr>
        <p:spPr>
          <a:xfrm>
            <a:off x="2148840" y="3657600"/>
            <a:ext cx="2194560" cy="310896"/>
          </a:xfrm>
          <a:prstGeom prst="rect">
            <a:avLst/>
          </a:prstGeom>
          <a:noFill/>
          <a:ln/>
        </p:spPr>
        <p:txBody>
          <a:bodyPr wrap="square" lIns="0" tIns="0" rIns="0" bIns="0" rtlCol="0" anchor="ctr"/>
          <a:lstStyle/>
          <a:p>
            <a:pPr indent="0" marL="0">
              <a:buNone/>
            </a:pPr>
            <a:r>
              <a:rPr lang="en-US" sz="900" dirty="0">
                <a:solidFill>
                  <a:srgbClr val="4A6278"/>
                </a:solidFill>
                <a:latin typeface="Calibri" pitchFamily="34" charset="0"/>
                <a:ea typeface="Calibri" pitchFamily="34" charset="-122"/>
                <a:cs typeface="Calibri" pitchFamily="34" charset="-120"/>
              </a:rPr>
              <a:t>Temp, strain rate, standard, geometry</a:t>
            </a:r>
            <a:endParaRPr lang="en-US" sz="900" dirty="0"/>
          </a:p>
        </p:txBody>
      </p:sp>
      <p:sp>
        <p:nvSpPr>
          <p:cNvPr id="32" name="Shape 30"/>
          <p:cNvSpPr/>
          <p:nvPr/>
        </p:nvSpPr>
        <p:spPr>
          <a:xfrm>
            <a:off x="502920" y="3986784"/>
            <a:ext cx="3840480" cy="310896"/>
          </a:xfrm>
          <a:prstGeom prst="rect">
            <a:avLst/>
          </a:prstGeom>
          <a:solidFill>
            <a:srgbClr val="F0F7FC"/>
          </a:solidFill>
          <a:ln w="12700">
            <a:solidFill>
              <a:srgbClr val="F0F7FC"/>
            </a:solidFill>
            <a:prstDash val="solid"/>
          </a:ln>
        </p:spPr>
      </p:sp>
      <p:sp>
        <p:nvSpPr>
          <p:cNvPr id="33" name="Text 31"/>
          <p:cNvSpPr/>
          <p:nvPr/>
        </p:nvSpPr>
        <p:spPr>
          <a:xfrm>
            <a:off x="548640" y="3986784"/>
            <a:ext cx="1554480" cy="310896"/>
          </a:xfrm>
          <a:prstGeom prst="rect">
            <a:avLst/>
          </a:prstGeom>
          <a:noFill/>
          <a:ln/>
        </p:spPr>
        <p:txBody>
          <a:bodyPr wrap="square" lIns="0" tIns="0" rIns="0" bIns="0" rtlCol="0" anchor="ctr"/>
          <a:lstStyle/>
          <a:p>
            <a:pPr indent="0" marL="0">
              <a:buNone/>
            </a:pPr>
            <a:r>
              <a:rPr lang="en-US" sz="900" dirty="0">
                <a:solidFill>
                  <a:srgbClr val="065A82"/>
                </a:solidFill>
                <a:latin typeface="Consolas" pitchFamily="34" charset="0"/>
                <a:ea typeface="Consolas" pitchFamily="34" charset="-122"/>
                <a:cs typeface="Consolas" pitchFamily="34" charset="-120"/>
              </a:rPr>
              <a:t>comments</a:t>
            </a:r>
            <a:endParaRPr lang="en-US" sz="900" dirty="0"/>
          </a:p>
        </p:txBody>
      </p:sp>
      <p:sp>
        <p:nvSpPr>
          <p:cNvPr id="34" name="Text 32"/>
          <p:cNvSpPr/>
          <p:nvPr/>
        </p:nvSpPr>
        <p:spPr>
          <a:xfrm>
            <a:off x="2148840" y="3986784"/>
            <a:ext cx="2194560" cy="310896"/>
          </a:xfrm>
          <a:prstGeom prst="rect">
            <a:avLst/>
          </a:prstGeom>
          <a:noFill/>
          <a:ln/>
        </p:spPr>
        <p:txBody>
          <a:bodyPr wrap="square" lIns="0" tIns="0" rIns="0" bIns="0" rtlCol="0" anchor="ctr"/>
          <a:lstStyle/>
          <a:p>
            <a:pPr indent="0" marL="0">
              <a:buNone/>
            </a:pPr>
            <a:r>
              <a:rPr lang="en-US" sz="900" dirty="0">
                <a:solidFill>
                  <a:srgbClr val="4A6278"/>
                </a:solidFill>
                <a:latin typeface="Calibri" pitchFamily="34" charset="0"/>
                <a:ea typeface="Calibri" pitchFamily="34" charset="-122"/>
                <a:cs typeface="Calibri" pitchFamily="34" charset="-120"/>
              </a:rPr>
              <a:t>Notes, footnotes, standard references</a:t>
            </a:r>
            <a:endParaRPr lang="en-US" sz="900" dirty="0"/>
          </a:p>
        </p:txBody>
      </p:sp>
      <p:sp>
        <p:nvSpPr>
          <p:cNvPr id="35" name="Shape 33"/>
          <p:cNvSpPr/>
          <p:nvPr/>
        </p:nvSpPr>
        <p:spPr>
          <a:xfrm>
            <a:off x="4709160" y="960120"/>
            <a:ext cx="4069080" cy="3566160"/>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36" name="Shape 34"/>
          <p:cNvSpPr/>
          <p:nvPr/>
        </p:nvSpPr>
        <p:spPr>
          <a:xfrm>
            <a:off x="4709160" y="960120"/>
            <a:ext cx="45720" cy="3566160"/>
          </a:xfrm>
          <a:prstGeom prst="rect">
            <a:avLst/>
          </a:prstGeom>
          <a:solidFill>
            <a:srgbClr val="02C39A"/>
          </a:solidFill>
          <a:ln w="12700">
            <a:solidFill>
              <a:srgbClr val="02C39A"/>
            </a:solidFill>
            <a:prstDash val="solid"/>
          </a:ln>
        </p:spPr>
      </p:sp>
      <p:sp>
        <p:nvSpPr>
          <p:cNvPr id="37" name="Text 35"/>
          <p:cNvSpPr/>
          <p:nvPr/>
        </p:nvSpPr>
        <p:spPr>
          <a:xfrm>
            <a:off x="4846320" y="1024128"/>
            <a:ext cx="3749040" cy="347472"/>
          </a:xfrm>
          <a:prstGeom prst="rect">
            <a:avLst/>
          </a:prstGeom>
          <a:noFill/>
          <a:ln/>
        </p:spPr>
        <p:txBody>
          <a:bodyPr wrap="square" lIns="0" tIns="0" rIns="0" bIns="0" rtlCol="0" anchor="ctr"/>
          <a:lstStyle/>
          <a:p>
            <a:pPr indent="0" marL="0">
              <a:buNone/>
            </a:pPr>
            <a:r>
              <a:rPr lang="en-US" sz="1500" b="1" dirty="0">
                <a:solidFill>
                  <a:srgbClr val="065A82"/>
                </a:solidFill>
                <a:latin typeface="Georgia" pitchFamily="34" charset="0"/>
                <a:ea typeface="Georgia" pitchFamily="34" charset="-122"/>
                <a:cs typeface="Georgia" pitchFamily="34" charset="-120"/>
              </a:rPr>
              <a:t>Why EAV?</a:t>
            </a:r>
            <a:endParaRPr lang="en-US" sz="1500" dirty="0"/>
          </a:p>
        </p:txBody>
      </p:sp>
      <p:sp>
        <p:nvSpPr>
          <p:cNvPr id="38" name="Text 36"/>
          <p:cNvSpPr/>
          <p:nvPr/>
        </p:nvSpPr>
        <p:spPr>
          <a:xfrm>
            <a:off x="4846320" y="1481328"/>
            <a:ext cx="3749040" cy="256032"/>
          </a:xfrm>
          <a:prstGeom prst="rect">
            <a:avLst/>
          </a:prstGeom>
          <a:noFill/>
          <a:ln/>
        </p:spPr>
        <p:txBody>
          <a:bodyPr wrap="square" lIns="0" tIns="0" rIns="0" bIns="0" rtlCol="0" anchor="ctr"/>
          <a:lstStyle/>
          <a:p>
            <a:pPr indent="0" marL="0">
              <a:buNone/>
            </a:pPr>
            <a:r>
              <a:rPr lang="en-US" sz="1100" b="1" dirty="0">
                <a:solidFill>
                  <a:srgbClr val="1C7293"/>
                </a:solidFill>
                <a:latin typeface="Calibri" pitchFamily="34" charset="0"/>
                <a:ea typeface="Calibri" pitchFamily="34" charset="-122"/>
                <a:cs typeface="Calibri" pitchFamily="34" charset="-120"/>
              </a:rPr>
              <a:t>&gt; Sparse data</a:t>
            </a:r>
            <a:endParaRPr lang="en-US" sz="1100" dirty="0"/>
          </a:p>
        </p:txBody>
      </p:sp>
      <p:sp>
        <p:nvSpPr>
          <p:cNvPr id="39" name="Text 37"/>
          <p:cNvSpPr/>
          <p:nvPr/>
        </p:nvSpPr>
        <p:spPr>
          <a:xfrm>
            <a:off x="4846320" y="1737360"/>
            <a:ext cx="3749040" cy="438912"/>
          </a:xfrm>
          <a:prstGeom prst="rect">
            <a:avLst/>
          </a:prstGeom>
          <a:noFill/>
          <a:ln/>
        </p:spPr>
        <p:txBody>
          <a:bodyPr wrap="square" lIns="0" tIns="0" rIns="0" bIns="0" rtlCol="0" anchor="ctr"/>
          <a:lstStyle/>
          <a:p>
            <a:pPr indent="0" marL="0">
              <a:buNone/>
            </a:pPr>
            <a:r>
              <a:rPr lang="en-US" sz="1000" dirty="0">
                <a:solidFill>
                  <a:srgbClr val="4A6278"/>
                </a:solidFill>
                <a:latin typeface="Calibri" pitchFamily="34" charset="0"/>
                <a:ea typeface="Calibri" pitchFamily="34" charset="-122"/>
                <a:cs typeface="Calibri" pitchFamily="34" charset="-120"/>
              </a:rPr>
              <a:t>Any given datasheet covers only a subset of properties. Wide tables would be mostly NULLs.</a:t>
            </a:r>
            <a:endParaRPr lang="en-US" sz="1000" dirty="0"/>
          </a:p>
        </p:txBody>
      </p:sp>
      <p:sp>
        <p:nvSpPr>
          <p:cNvPr id="40" name="Text 38"/>
          <p:cNvSpPr/>
          <p:nvPr/>
        </p:nvSpPr>
        <p:spPr>
          <a:xfrm>
            <a:off x="4846320" y="2267712"/>
            <a:ext cx="3749040" cy="256032"/>
          </a:xfrm>
          <a:prstGeom prst="rect">
            <a:avLst/>
          </a:prstGeom>
          <a:noFill/>
          <a:ln/>
        </p:spPr>
        <p:txBody>
          <a:bodyPr wrap="square" lIns="0" tIns="0" rIns="0" bIns="0" rtlCol="0" anchor="ctr"/>
          <a:lstStyle/>
          <a:p>
            <a:pPr indent="0" marL="0">
              <a:buNone/>
            </a:pPr>
            <a:r>
              <a:rPr lang="en-US" sz="1100" b="1" dirty="0">
                <a:solidFill>
                  <a:srgbClr val="1C7293"/>
                </a:solidFill>
                <a:latin typeface="Calibri" pitchFamily="34" charset="0"/>
                <a:ea typeface="Calibri" pitchFamily="34" charset="-122"/>
                <a:cs typeface="Calibri" pitchFamily="34" charset="-120"/>
              </a:rPr>
              <a:t>&gt; Open taxonomy</a:t>
            </a:r>
            <a:endParaRPr lang="en-US" sz="1100" dirty="0"/>
          </a:p>
        </p:txBody>
      </p:sp>
      <p:sp>
        <p:nvSpPr>
          <p:cNvPr id="41" name="Text 39"/>
          <p:cNvSpPr/>
          <p:nvPr/>
        </p:nvSpPr>
        <p:spPr>
          <a:xfrm>
            <a:off x="4846320" y="2523744"/>
            <a:ext cx="3749040" cy="438912"/>
          </a:xfrm>
          <a:prstGeom prst="rect">
            <a:avLst/>
          </a:prstGeom>
          <a:noFill/>
          <a:ln/>
        </p:spPr>
        <p:txBody>
          <a:bodyPr wrap="square" lIns="0" tIns="0" rIns="0" bIns="0" rtlCol="0" anchor="ctr"/>
          <a:lstStyle/>
          <a:p>
            <a:pPr indent="0" marL="0">
              <a:buNone/>
            </a:pPr>
            <a:r>
              <a:rPr lang="en-US" sz="1000" dirty="0">
                <a:solidFill>
                  <a:srgbClr val="4A6278"/>
                </a:solidFill>
                <a:latin typeface="Calibri" pitchFamily="34" charset="0"/>
                <a:ea typeface="Calibri" pitchFamily="34" charset="-122"/>
                <a:cs typeface="Calibri" pitchFamily="34" charset="-120"/>
              </a:rPr>
              <a:t>New properties appear routinely. EAV adds rows; wide tables require schema migrations.</a:t>
            </a:r>
            <a:endParaRPr lang="en-US" sz="1000" dirty="0"/>
          </a:p>
        </p:txBody>
      </p:sp>
      <p:sp>
        <p:nvSpPr>
          <p:cNvPr id="42" name="Text 40"/>
          <p:cNvSpPr/>
          <p:nvPr/>
        </p:nvSpPr>
        <p:spPr>
          <a:xfrm>
            <a:off x="4846320" y="3054096"/>
            <a:ext cx="3749040" cy="256032"/>
          </a:xfrm>
          <a:prstGeom prst="rect">
            <a:avLst/>
          </a:prstGeom>
          <a:noFill/>
          <a:ln/>
        </p:spPr>
        <p:txBody>
          <a:bodyPr wrap="square" lIns="0" tIns="0" rIns="0" bIns="0" rtlCol="0" anchor="ctr"/>
          <a:lstStyle/>
          <a:p>
            <a:pPr indent="0" marL="0">
              <a:buNone/>
            </a:pPr>
            <a:r>
              <a:rPr lang="en-US" sz="1100" b="1" dirty="0">
                <a:solidFill>
                  <a:srgbClr val="1C7293"/>
                </a:solidFill>
                <a:latin typeface="Calibri" pitchFamily="34" charset="0"/>
                <a:ea typeface="Calibri" pitchFamily="34" charset="-122"/>
                <a:cs typeface="Calibri" pitchFamily="34" charset="-120"/>
              </a:rPr>
              <a:t>&gt; Per-row provenance</a:t>
            </a:r>
            <a:endParaRPr lang="en-US" sz="1100" dirty="0"/>
          </a:p>
        </p:txBody>
      </p:sp>
      <p:sp>
        <p:nvSpPr>
          <p:cNvPr id="43" name="Text 41"/>
          <p:cNvSpPr/>
          <p:nvPr/>
        </p:nvSpPr>
        <p:spPr>
          <a:xfrm>
            <a:off x="4846320" y="3310128"/>
            <a:ext cx="3749040" cy="438912"/>
          </a:xfrm>
          <a:prstGeom prst="rect">
            <a:avLst/>
          </a:prstGeom>
          <a:noFill/>
          <a:ln/>
        </p:spPr>
        <p:txBody>
          <a:bodyPr wrap="square" lIns="0" tIns="0" rIns="0" bIns="0" rtlCol="0" anchor="ctr"/>
          <a:lstStyle/>
          <a:p>
            <a:pPr indent="0" marL="0">
              <a:buNone/>
            </a:pPr>
            <a:r>
              <a:rPr lang="en-US" sz="1000" dirty="0">
                <a:solidFill>
                  <a:srgbClr val="4A6278"/>
                </a:solidFill>
                <a:latin typeface="Calibri" pitchFamily="34" charset="0"/>
                <a:ea typeface="Calibri" pitchFamily="34" charset="-122"/>
                <a:cs typeface="Calibri" pitchFamily="34" charset="-120"/>
              </a:rPr>
              <a:t>Each observation has its own test conditions and source -- keeping them in-row avoids a messy join.</a:t>
            </a:r>
            <a:endParaRPr lang="en-US" sz="1000" dirty="0"/>
          </a:p>
        </p:txBody>
      </p:sp>
      <p:sp>
        <p:nvSpPr>
          <p:cNvPr id="44" name="Text 42"/>
          <p:cNvSpPr/>
          <p:nvPr/>
        </p:nvSpPr>
        <p:spPr>
          <a:xfrm>
            <a:off x="4846320" y="3840480"/>
            <a:ext cx="3749040" cy="256032"/>
          </a:xfrm>
          <a:prstGeom prst="rect">
            <a:avLst/>
          </a:prstGeom>
          <a:noFill/>
          <a:ln/>
        </p:spPr>
        <p:txBody>
          <a:bodyPr wrap="square" lIns="0" tIns="0" rIns="0" bIns="0" rtlCol="0" anchor="ctr"/>
          <a:lstStyle/>
          <a:p>
            <a:pPr indent="0" marL="0">
              <a:buNone/>
            </a:pPr>
            <a:r>
              <a:rPr lang="en-US" sz="1100" b="1" dirty="0">
                <a:solidFill>
                  <a:srgbClr val="1C7293"/>
                </a:solidFill>
                <a:latin typeface="Calibri" pitchFamily="34" charset="0"/>
                <a:ea typeface="Calibri" pitchFamily="34" charset="-122"/>
                <a:cs typeface="Calibri" pitchFamily="34" charset="-120"/>
              </a:rPr>
              <a:t>&gt; Three material classes</a:t>
            </a:r>
            <a:endParaRPr lang="en-US" sz="1100" dirty="0"/>
          </a:p>
        </p:txBody>
      </p:sp>
      <p:sp>
        <p:nvSpPr>
          <p:cNvPr id="45" name="Text 43"/>
          <p:cNvSpPr/>
          <p:nvPr/>
        </p:nvSpPr>
        <p:spPr>
          <a:xfrm>
            <a:off x="4846320" y="4096512"/>
            <a:ext cx="3749040" cy="438912"/>
          </a:xfrm>
          <a:prstGeom prst="rect">
            <a:avLst/>
          </a:prstGeom>
          <a:noFill/>
          <a:ln/>
        </p:spPr>
        <p:txBody>
          <a:bodyPr wrap="square" lIns="0" tIns="0" rIns="0" bIns="0" rtlCol="0" anchor="ctr"/>
          <a:lstStyle/>
          <a:p>
            <a:pPr indent="0" marL="0">
              <a:buNone/>
            </a:pPr>
            <a:r>
              <a:rPr lang="en-US" sz="1000" dirty="0">
                <a:solidFill>
                  <a:srgbClr val="4A6278"/>
                </a:solidFill>
                <a:latin typeface="Calibri" pitchFamily="34" charset="0"/>
                <a:ea typeface="Calibri" pitchFamily="34" charset="-122"/>
                <a:cs typeface="Calibri" pitchFamily="34" charset="-120"/>
              </a:rPr>
              <a:t>Polymers, Fibers, Composites each map to a table; class encoded by table membership.</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F5FA"/>
        </a:solidFill>
      </p:bgPr>
    </p:bg>
    <p:spTree>
      <p:nvGrpSpPr>
        <p:cNvPr id="1" name=""/>
        <p:cNvGrpSpPr/>
        <p:nvPr/>
      </p:nvGrpSpPr>
      <p:grpSpPr>
        <a:xfrm>
          <a:off x="0" y="0"/>
          <a:ext cx="0" cy="0"/>
          <a:chOff x="0" y="0"/>
          <a:chExt cx="0" cy="0"/>
        </a:xfrm>
      </p:grpSpPr>
      <p:sp>
        <p:nvSpPr>
          <p:cNvPr id="2" name="Shape 0"/>
          <p:cNvSpPr/>
          <p:nvPr/>
        </p:nvSpPr>
        <p:spPr>
          <a:xfrm>
            <a:off x="365760" y="256032"/>
            <a:ext cx="64008" cy="438912"/>
          </a:xfrm>
          <a:prstGeom prst="rect">
            <a:avLst/>
          </a:prstGeom>
          <a:solidFill>
            <a:srgbClr val="02C39A"/>
          </a:solidFill>
          <a:ln w="12700">
            <a:solidFill>
              <a:srgbClr val="02C39A"/>
            </a:solidFill>
            <a:prstDash val="solid"/>
          </a:ln>
        </p:spPr>
      </p:sp>
      <p:sp>
        <p:nvSpPr>
          <p:cNvPr id="3" name="Text 1"/>
          <p:cNvSpPr/>
          <p:nvPr/>
        </p:nvSpPr>
        <p:spPr>
          <a:xfrm>
            <a:off x="502920" y="201168"/>
            <a:ext cx="8321040" cy="548640"/>
          </a:xfrm>
          <a:prstGeom prst="rect">
            <a:avLst/>
          </a:prstGeom>
          <a:noFill/>
          <a:ln/>
        </p:spPr>
        <p:txBody>
          <a:bodyPr wrap="square" lIns="0" tIns="0" rIns="0" bIns="0" rtlCol="0" anchor="ctr"/>
          <a:lstStyle/>
          <a:p>
            <a:pPr indent="0" marL="0">
              <a:buNone/>
            </a:pPr>
            <a:r>
              <a:rPr lang="en-US" sz="2600" b="1" dirty="0">
                <a:solidFill>
                  <a:srgbClr val="065A82"/>
                </a:solidFill>
                <a:latin typeface="Georgia" pitchFamily="34" charset="0"/>
                <a:ea typeface="Georgia" pitchFamily="34" charset="-122"/>
                <a:cs typeface="Georgia" pitchFamily="34" charset="-120"/>
              </a:rPr>
              <a:t>PDF to Structured Rows via Gemini 2.5 Flash</a:t>
            </a:r>
            <a:endParaRPr lang="en-US" sz="2600" dirty="0"/>
          </a:p>
        </p:txBody>
      </p:sp>
      <p:sp>
        <p:nvSpPr>
          <p:cNvPr id="4" name="Shape 2"/>
          <p:cNvSpPr/>
          <p:nvPr/>
        </p:nvSpPr>
        <p:spPr>
          <a:xfrm>
            <a:off x="0" y="4887468"/>
            <a:ext cx="9144000" cy="256032"/>
          </a:xfrm>
          <a:prstGeom prst="rect">
            <a:avLst/>
          </a:prstGeom>
          <a:solidFill>
            <a:srgbClr val="1C7293"/>
          </a:solidFill>
          <a:ln w="12700">
            <a:solidFill>
              <a:srgbClr val="1C7293"/>
            </a:solidFill>
            <a:prstDash val="solid"/>
          </a:ln>
        </p:spPr>
      </p:sp>
      <p:sp>
        <p:nvSpPr>
          <p:cNvPr id="5" name="Text 3"/>
          <p:cNvSpPr/>
          <p:nvPr/>
        </p:nvSpPr>
        <p:spPr>
          <a:xfrm>
            <a:off x="274320" y="4905756"/>
            <a:ext cx="5486400" cy="219456"/>
          </a:xfrm>
          <a:prstGeom prst="rect">
            <a:avLst/>
          </a:prstGeom>
          <a:noFill/>
          <a:ln/>
        </p:spPr>
        <p:txBody>
          <a:bodyPr wrap="square" lIns="0" tIns="0" rIns="0" bIns="0" rtlCol="0" anchor="ctr"/>
          <a:lstStyle/>
          <a:p>
            <a:pPr indent="0" marL="0">
              <a:buNone/>
            </a:pPr>
            <a:r>
              <a:rPr lang="en-US" sz="800" dirty="0">
                <a:solidFill>
                  <a:srgbClr val="CCEEFF"/>
                </a:solidFill>
                <a:latin typeface="Calibri" pitchFamily="34" charset="0"/>
                <a:ea typeface="Calibri" pitchFamily="34" charset="-122"/>
                <a:cs typeface="Calibri" pitchFamily="34" charset="-120"/>
              </a:rPr>
              <a:t>Mathias Heider  |  ME8930 Course Project  |  May 2026</a:t>
            </a:r>
            <a:endParaRPr lang="en-US" sz="800" dirty="0"/>
          </a:p>
        </p:txBody>
      </p:sp>
      <p:sp>
        <p:nvSpPr>
          <p:cNvPr id="6" name="Text 4"/>
          <p:cNvSpPr/>
          <p:nvPr/>
        </p:nvSpPr>
        <p:spPr>
          <a:xfrm>
            <a:off x="6858000" y="4905756"/>
            <a:ext cx="2011680" cy="219456"/>
          </a:xfrm>
          <a:prstGeom prst="rect">
            <a:avLst/>
          </a:prstGeom>
          <a:noFill/>
          <a:ln/>
        </p:spPr>
        <p:txBody>
          <a:bodyPr wrap="square" lIns="0" tIns="0" rIns="0" bIns="0" rtlCol="0" anchor="ctr"/>
          <a:lstStyle/>
          <a:p>
            <a:pPr algn="r" indent="0" marL="0">
              <a:buNone/>
            </a:pPr>
            <a:r>
              <a:rPr lang="en-US" sz="800" dirty="0">
                <a:solidFill>
                  <a:srgbClr val="CCEEFF"/>
                </a:solidFill>
                <a:latin typeface="Calibri" pitchFamily="34" charset="0"/>
                <a:ea typeface="Calibri" pitchFamily="34" charset="-122"/>
                <a:cs typeface="Calibri" pitchFamily="34" charset="-120"/>
              </a:rPr>
              <a:t>4 / Extraction Pipeline</a:t>
            </a:r>
            <a:endParaRPr lang="en-US" sz="800" dirty="0"/>
          </a:p>
        </p:txBody>
      </p:sp>
      <p:sp>
        <p:nvSpPr>
          <p:cNvPr id="7" name="Shape 5"/>
          <p:cNvSpPr/>
          <p:nvPr/>
        </p:nvSpPr>
        <p:spPr>
          <a:xfrm>
            <a:off x="320040" y="960120"/>
            <a:ext cx="1938528" cy="2560320"/>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8" name="Shape 6"/>
          <p:cNvSpPr/>
          <p:nvPr/>
        </p:nvSpPr>
        <p:spPr>
          <a:xfrm>
            <a:off x="320040" y="960120"/>
            <a:ext cx="1938528" cy="475488"/>
          </a:xfrm>
          <a:prstGeom prst="rect">
            <a:avLst/>
          </a:prstGeom>
          <a:solidFill>
            <a:srgbClr val="065A82"/>
          </a:solidFill>
          <a:ln w="12700">
            <a:solidFill>
              <a:srgbClr val="065A82"/>
            </a:solidFill>
            <a:prstDash val="solid"/>
          </a:ln>
        </p:spPr>
      </p:sp>
      <p:sp>
        <p:nvSpPr>
          <p:cNvPr id="9" name="Text 7"/>
          <p:cNvSpPr/>
          <p:nvPr/>
        </p:nvSpPr>
        <p:spPr>
          <a:xfrm>
            <a:off x="320040" y="960120"/>
            <a:ext cx="1938528" cy="475488"/>
          </a:xfrm>
          <a:prstGeom prst="rect">
            <a:avLst/>
          </a:prstGeom>
          <a:noFill/>
          <a:ln/>
        </p:spPr>
        <p:txBody>
          <a:bodyPr wrap="square" lIns="0" tIns="0" rIns="0" bIns="0" rtlCol="0" anchor="ctr"/>
          <a:lstStyle/>
          <a:p>
            <a:pPr algn="ctr" indent="0" marL="0">
              <a:buNone/>
            </a:pPr>
            <a:r>
              <a:rPr lang="en-US" sz="2200" b="1" dirty="0">
                <a:solidFill>
                  <a:srgbClr val="02C39A"/>
                </a:solidFill>
                <a:latin typeface="Georgia" pitchFamily="34" charset="0"/>
                <a:ea typeface="Georgia" pitchFamily="34" charset="-122"/>
                <a:cs typeface="Georgia" pitchFamily="34" charset="-120"/>
              </a:rPr>
              <a:t>1</a:t>
            </a:r>
            <a:endParaRPr lang="en-US" sz="2200" dirty="0"/>
          </a:p>
        </p:txBody>
      </p:sp>
      <p:sp>
        <p:nvSpPr>
          <p:cNvPr id="10" name="Text 8"/>
          <p:cNvSpPr/>
          <p:nvPr/>
        </p:nvSpPr>
        <p:spPr>
          <a:xfrm>
            <a:off x="411480" y="1508760"/>
            <a:ext cx="1755648" cy="438912"/>
          </a:xfrm>
          <a:prstGeom prst="rect">
            <a:avLst/>
          </a:prstGeom>
          <a:noFill/>
          <a:ln/>
        </p:spPr>
        <p:txBody>
          <a:bodyPr wrap="square" lIns="0" tIns="0" rIns="0" bIns="0" rtlCol="0" anchor="t"/>
          <a:lstStyle/>
          <a:p>
            <a:pPr algn="ctr" indent="0" marL="0">
              <a:buNone/>
            </a:pPr>
            <a:r>
              <a:rPr lang="en-US" sz="1150" b="1" dirty="0">
                <a:solidFill>
                  <a:srgbClr val="1A2E3B"/>
                </a:solidFill>
                <a:latin typeface="Georgia" pitchFamily="34" charset="0"/>
                <a:ea typeface="Georgia" pitchFamily="34" charset="-122"/>
                <a:cs typeface="Georgia" pitchFamily="34" charset="-120"/>
              </a:rPr>
              <a:t>PDF In</a:t>
            </a:r>
            <a:endParaRPr lang="en-US" sz="1150" dirty="0"/>
          </a:p>
        </p:txBody>
      </p:sp>
      <p:sp>
        <p:nvSpPr>
          <p:cNvPr id="11" name="Text 9"/>
          <p:cNvSpPr/>
          <p:nvPr/>
        </p:nvSpPr>
        <p:spPr>
          <a:xfrm>
            <a:off x="411480" y="1975104"/>
            <a:ext cx="1755648" cy="1371600"/>
          </a:xfrm>
          <a:prstGeom prst="rect">
            <a:avLst/>
          </a:prstGeom>
          <a:noFill/>
          <a:ln/>
        </p:spPr>
        <p:txBody>
          <a:bodyPr wrap="square" lIns="0" tIns="0" rIns="0" bIns="0" rtlCol="0" anchor="t"/>
          <a:lstStyle/>
          <a:p>
            <a:pPr algn="l" indent="0" marL="0">
              <a:buNone/>
            </a:pPr>
            <a:r>
              <a:rPr lang="en-US" sz="950" dirty="0">
                <a:solidFill>
                  <a:srgbClr val="4A6278"/>
                </a:solidFill>
                <a:latin typeface="Calibri" pitchFamily="34" charset="0"/>
                <a:ea typeface="Calibri" pitchFamily="34" charset="-122"/>
                <a:cs typeface="Calibri" pitchFamily="34" charset="-120"/>
              </a:rPr>
              <a:t>User drops datasheet or paper.</a:t>
            </a:r>
            <a:endParaRPr lang="en-US" sz="950" dirty="0"/>
          </a:p>
          <a:p>
            <a:pPr algn="l" indent="0" marL="0">
              <a:buNone/>
            </a:pPr>
            <a:r>
              <a:rPr lang="en-US" sz="950" dirty="0">
                <a:solidFill>
                  <a:srgbClr val="4A6278"/>
                </a:solidFill>
                <a:latin typeface="Calibri" pitchFamily="34" charset="0"/>
                <a:ea typeface="Calibri" pitchFamily="34" charset="-122"/>
                <a:cs typeface="Calibri" pitchFamily="34" charset="-120"/>
              </a:rPr>
              <a:t>Base64-encoded and sent inline.</a:t>
            </a:r>
            <a:endParaRPr lang="en-US" sz="950" dirty="0"/>
          </a:p>
        </p:txBody>
      </p:sp>
      <p:sp>
        <p:nvSpPr>
          <p:cNvPr id="12" name="Text 10"/>
          <p:cNvSpPr/>
          <p:nvPr/>
        </p:nvSpPr>
        <p:spPr>
          <a:xfrm>
            <a:off x="2258568" y="1783080"/>
            <a:ext cx="237744" cy="457200"/>
          </a:xfrm>
          <a:prstGeom prst="rect">
            <a:avLst/>
          </a:prstGeom>
          <a:noFill/>
          <a:ln/>
        </p:spPr>
        <p:txBody>
          <a:bodyPr wrap="square" lIns="0" tIns="0" rIns="0" bIns="0" rtlCol="0" anchor="ctr"/>
          <a:lstStyle/>
          <a:p>
            <a:pPr algn="ctr" indent="0" marL="0">
              <a:buNone/>
            </a:pPr>
            <a:r>
              <a:rPr lang="en-US" sz="2000" b="1" dirty="0">
                <a:solidFill>
                  <a:srgbClr val="02C39A"/>
                </a:solidFill>
                <a:latin typeface="Calibri" pitchFamily="34" charset="0"/>
                <a:ea typeface="Calibri" pitchFamily="34" charset="-122"/>
                <a:cs typeface="Calibri" pitchFamily="34" charset="-120"/>
              </a:rPr>
              <a:t>-&gt;</a:t>
            </a:r>
            <a:endParaRPr lang="en-US" sz="2000" dirty="0"/>
          </a:p>
        </p:txBody>
      </p:sp>
      <p:sp>
        <p:nvSpPr>
          <p:cNvPr id="13" name="Shape 11"/>
          <p:cNvSpPr/>
          <p:nvPr/>
        </p:nvSpPr>
        <p:spPr>
          <a:xfrm>
            <a:off x="2496312" y="960120"/>
            <a:ext cx="1938528" cy="2560320"/>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14" name="Shape 12"/>
          <p:cNvSpPr/>
          <p:nvPr/>
        </p:nvSpPr>
        <p:spPr>
          <a:xfrm>
            <a:off x="2496312" y="960120"/>
            <a:ext cx="1938528" cy="475488"/>
          </a:xfrm>
          <a:prstGeom prst="rect">
            <a:avLst/>
          </a:prstGeom>
          <a:solidFill>
            <a:srgbClr val="065A82"/>
          </a:solidFill>
          <a:ln w="12700">
            <a:solidFill>
              <a:srgbClr val="065A82"/>
            </a:solidFill>
            <a:prstDash val="solid"/>
          </a:ln>
        </p:spPr>
      </p:sp>
      <p:sp>
        <p:nvSpPr>
          <p:cNvPr id="15" name="Text 13"/>
          <p:cNvSpPr/>
          <p:nvPr/>
        </p:nvSpPr>
        <p:spPr>
          <a:xfrm>
            <a:off x="2496312" y="960120"/>
            <a:ext cx="1938528" cy="475488"/>
          </a:xfrm>
          <a:prstGeom prst="rect">
            <a:avLst/>
          </a:prstGeom>
          <a:noFill/>
          <a:ln/>
        </p:spPr>
        <p:txBody>
          <a:bodyPr wrap="square" lIns="0" tIns="0" rIns="0" bIns="0" rtlCol="0" anchor="ctr"/>
          <a:lstStyle/>
          <a:p>
            <a:pPr algn="ctr" indent="0" marL="0">
              <a:buNone/>
            </a:pPr>
            <a:r>
              <a:rPr lang="en-US" sz="2200" b="1" dirty="0">
                <a:solidFill>
                  <a:srgbClr val="02C39A"/>
                </a:solidFill>
                <a:latin typeface="Georgia" pitchFamily="34" charset="0"/>
                <a:ea typeface="Georgia" pitchFamily="34" charset="-122"/>
                <a:cs typeface="Georgia" pitchFamily="34" charset="-120"/>
              </a:rPr>
              <a:t>2</a:t>
            </a:r>
            <a:endParaRPr lang="en-US" sz="2200" dirty="0"/>
          </a:p>
        </p:txBody>
      </p:sp>
      <p:sp>
        <p:nvSpPr>
          <p:cNvPr id="16" name="Text 14"/>
          <p:cNvSpPr/>
          <p:nvPr/>
        </p:nvSpPr>
        <p:spPr>
          <a:xfrm>
            <a:off x="2587752" y="1508760"/>
            <a:ext cx="1755648" cy="438912"/>
          </a:xfrm>
          <a:prstGeom prst="rect">
            <a:avLst/>
          </a:prstGeom>
          <a:noFill/>
          <a:ln/>
        </p:spPr>
        <p:txBody>
          <a:bodyPr wrap="square" lIns="0" tIns="0" rIns="0" bIns="0" rtlCol="0" anchor="t"/>
          <a:lstStyle/>
          <a:p>
            <a:pPr algn="ctr" indent="0" marL="0">
              <a:buNone/>
            </a:pPr>
            <a:r>
              <a:rPr lang="en-US" sz="1150" b="1" dirty="0">
                <a:solidFill>
                  <a:srgbClr val="1A2E3B"/>
                </a:solidFill>
                <a:latin typeface="Georgia" pitchFamily="34" charset="0"/>
                <a:ea typeface="Georgia" pitchFamily="34" charset="-122"/>
                <a:cs typeface="Georgia" pitchFamily="34" charset="-120"/>
              </a:rPr>
              <a:t>Schema-typed Prompt</a:t>
            </a:r>
            <a:endParaRPr lang="en-US" sz="1150" dirty="0"/>
          </a:p>
        </p:txBody>
      </p:sp>
      <p:sp>
        <p:nvSpPr>
          <p:cNvPr id="17" name="Text 15"/>
          <p:cNvSpPr/>
          <p:nvPr/>
        </p:nvSpPr>
        <p:spPr>
          <a:xfrm>
            <a:off x="2587752" y="1975104"/>
            <a:ext cx="1755648" cy="1371600"/>
          </a:xfrm>
          <a:prstGeom prst="rect">
            <a:avLst/>
          </a:prstGeom>
          <a:noFill/>
          <a:ln/>
        </p:spPr>
        <p:txBody>
          <a:bodyPr wrap="square" lIns="0" tIns="0" rIns="0" bIns="0" rtlCol="0" anchor="t"/>
          <a:lstStyle/>
          <a:p>
            <a:pPr algn="l" indent="0" marL="0">
              <a:buNone/>
            </a:pPr>
            <a:r>
              <a:rPr lang="en-US" sz="950" dirty="0">
                <a:solidFill>
                  <a:srgbClr val="4A6278"/>
                </a:solidFill>
                <a:latin typeface="Calibri" pitchFamily="34" charset="0"/>
                <a:ea typeface="Calibri" pitchFamily="34" charset="-122"/>
                <a:cs typeface="Calibri" pitchFamily="34" charset="-120"/>
              </a:rPr>
              <a:t>responseSchema enforces fixed JSON shape.</a:t>
            </a:r>
            <a:endParaRPr lang="en-US" sz="950" dirty="0"/>
          </a:p>
          <a:p>
            <a:pPr algn="l" indent="0" marL="0">
              <a:buNone/>
            </a:pPr>
            <a:r>
              <a:rPr lang="en-US" sz="950" dirty="0">
                <a:solidFill>
                  <a:srgbClr val="4A6278"/>
                </a:solidFill>
                <a:latin typeface="Calibri" pitchFamily="34" charset="0"/>
                <a:ea typeface="Calibri" pitchFamily="34" charset="-122"/>
                <a:cs typeface="Calibri" pitchFamily="34" charset="-120"/>
              </a:rPr>
              <a:t>Temp = 0 for determinism.</a:t>
            </a:r>
            <a:endParaRPr lang="en-US" sz="950" dirty="0"/>
          </a:p>
        </p:txBody>
      </p:sp>
      <p:sp>
        <p:nvSpPr>
          <p:cNvPr id="18" name="Text 16"/>
          <p:cNvSpPr/>
          <p:nvPr/>
        </p:nvSpPr>
        <p:spPr>
          <a:xfrm>
            <a:off x="4434840" y="1783080"/>
            <a:ext cx="237744" cy="457200"/>
          </a:xfrm>
          <a:prstGeom prst="rect">
            <a:avLst/>
          </a:prstGeom>
          <a:noFill/>
          <a:ln/>
        </p:spPr>
        <p:txBody>
          <a:bodyPr wrap="square" lIns="0" tIns="0" rIns="0" bIns="0" rtlCol="0" anchor="ctr"/>
          <a:lstStyle/>
          <a:p>
            <a:pPr algn="ctr" indent="0" marL="0">
              <a:buNone/>
            </a:pPr>
            <a:r>
              <a:rPr lang="en-US" sz="2000" b="1" dirty="0">
                <a:solidFill>
                  <a:srgbClr val="02C39A"/>
                </a:solidFill>
                <a:latin typeface="Calibri" pitchFamily="34" charset="0"/>
                <a:ea typeface="Calibri" pitchFamily="34" charset="-122"/>
                <a:cs typeface="Calibri" pitchFamily="34" charset="-120"/>
              </a:rPr>
              <a:t>-&gt;</a:t>
            </a:r>
            <a:endParaRPr lang="en-US" sz="2000" dirty="0"/>
          </a:p>
        </p:txBody>
      </p:sp>
      <p:sp>
        <p:nvSpPr>
          <p:cNvPr id="19" name="Shape 17"/>
          <p:cNvSpPr/>
          <p:nvPr/>
        </p:nvSpPr>
        <p:spPr>
          <a:xfrm>
            <a:off x="4672584" y="960120"/>
            <a:ext cx="1938528" cy="2560320"/>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20" name="Shape 18"/>
          <p:cNvSpPr/>
          <p:nvPr/>
        </p:nvSpPr>
        <p:spPr>
          <a:xfrm>
            <a:off x="4672584" y="960120"/>
            <a:ext cx="1938528" cy="475488"/>
          </a:xfrm>
          <a:prstGeom prst="rect">
            <a:avLst/>
          </a:prstGeom>
          <a:solidFill>
            <a:srgbClr val="065A82"/>
          </a:solidFill>
          <a:ln w="12700">
            <a:solidFill>
              <a:srgbClr val="065A82"/>
            </a:solidFill>
            <a:prstDash val="solid"/>
          </a:ln>
        </p:spPr>
      </p:sp>
      <p:sp>
        <p:nvSpPr>
          <p:cNvPr id="21" name="Text 19"/>
          <p:cNvSpPr/>
          <p:nvPr/>
        </p:nvSpPr>
        <p:spPr>
          <a:xfrm>
            <a:off x="4672584" y="960120"/>
            <a:ext cx="1938528" cy="475488"/>
          </a:xfrm>
          <a:prstGeom prst="rect">
            <a:avLst/>
          </a:prstGeom>
          <a:noFill/>
          <a:ln/>
        </p:spPr>
        <p:txBody>
          <a:bodyPr wrap="square" lIns="0" tIns="0" rIns="0" bIns="0" rtlCol="0" anchor="ctr"/>
          <a:lstStyle/>
          <a:p>
            <a:pPr algn="ctr" indent="0" marL="0">
              <a:buNone/>
            </a:pPr>
            <a:r>
              <a:rPr lang="en-US" sz="2200" b="1" dirty="0">
                <a:solidFill>
                  <a:srgbClr val="02C39A"/>
                </a:solidFill>
                <a:latin typeface="Georgia" pitchFamily="34" charset="0"/>
                <a:ea typeface="Georgia" pitchFamily="34" charset="-122"/>
                <a:cs typeface="Georgia" pitchFamily="34" charset="-120"/>
              </a:rPr>
              <a:t>3</a:t>
            </a:r>
            <a:endParaRPr lang="en-US" sz="2200" dirty="0"/>
          </a:p>
        </p:txBody>
      </p:sp>
      <p:sp>
        <p:nvSpPr>
          <p:cNvPr id="22" name="Text 20"/>
          <p:cNvSpPr/>
          <p:nvPr/>
        </p:nvSpPr>
        <p:spPr>
          <a:xfrm>
            <a:off x="4764024" y="1508760"/>
            <a:ext cx="1755648" cy="438912"/>
          </a:xfrm>
          <a:prstGeom prst="rect">
            <a:avLst/>
          </a:prstGeom>
          <a:noFill/>
          <a:ln/>
        </p:spPr>
        <p:txBody>
          <a:bodyPr wrap="square" lIns="0" tIns="0" rIns="0" bIns="0" rtlCol="0" anchor="t"/>
          <a:lstStyle/>
          <a:p>
            <a:pPr algn="ctr" indent="0" marL="0">
              <a:buNone/>
            </a:pPr>
            <a:r>
              <a:rPr lang="en-US" sz="1150" b="1" dirty="0">
                <a:solidFill>
                  <a:srgbClr val="1A2E3B"/>
                </a:solidFill>
                <a:latin typeface="Georgia" pitchFamily="34" charset="0"/>
                <a:ea typeface="Georgia" pitchFamily="34" charset="-122"/>
                <a:cs typeface="Georgia" pitchFamily="34" charset="-120"/>
              </a:rPr>
              <a:t>Expert Prompt</a:t>
            </a:r>
            <a:endParaRPr lang="en-US" sz="1150" dirty="0"/>
          </a:p>
        </p:txBody>
      </p:sp>
      <p:sp>
        <p:nvSpPr>
          <p:cNvPr id="23" name="Text 21"/>
          <p:cNvSpPr/>
          <p:nvPr/>
        </p:nvSpPr>
        <p:spPr>
          <a:xfrm>
            <a:off x="4764024" y="1975104"/>
            <a:ext cx="1755648" cy="1371600"/>
          </a:xfrm>
          <a:prstGeom prst="rect">
            <a:avLst/>
          </a:prstGeom>
          <a:noFill/>
          <a:ln/>
        </p:spPr>
        <p:txBody>
          <a:bodyPr wrap="square" lIns="0" tIns="0" rIns="0" bIns="0" rtlCol="0" anchor="t"/>
          <a:lstStyle/>
          <a:p>
            <a:pPr algn="l" indent="0" marL="0">
              <a:buNone/>
            </a:pPr>
            <a:r>
              <a:rPr lang="en-US" sz="950" dirty="0">
                <a:solidFill>
                  <a:srgbClr val="4A6278"/>
                </a:solidFill>
                <a:latin typeface="Calibri" pitchFamily="34" charset="0"/>
                <a:ea typeface="Calibri" pitchFamily="34" charset="-122"/>
                <a:cs typeface="Calibri" pitchFamily="34" charset="-120"/>
              </a:rPr>
              <a:t>Frames model as materials scientist; enumerates all per-property fields across Mechanical, Thermal, Electrical, Physical, Optical, Rheological.</a:t>
            </a:r>
            <a:endParaRPr lang="en-US" sz="950" dirty="0"/>
          </a:p>
        </p:txBody>
      </p:sp>
      <p:sp>
        <p:nvSpPr>
          <p:cNvPr id="24" name="Text 22"/>
          <p:cNvSpPr/>
          <p:nvPr/>
        </p:nvSpPr>
        <p:spPr>
          <a:xfrm>
            <a:off x="6611112" y="1783080"/>
            <a:ext cx="237744" cy="457200"/>
          </a:xfrm>
          <a:prstGeom prst="rect">
            <a:avLst/>
          </a:prstGeom>
          <a:noFill/>
          <a:ln/>
        </p:spPr>
        <p:txBody>
          <a:bodyPr wrap="square" lIns="0" tIns="0" rIns="0" bIns="0" rtlCol="0" anchor="ctr"/>
          <a:lstStyle/>
          <a:p>
            <a:pPr algn="ctr" indent="0" marL="0">
              <a:buNone/>
            </a:pPr>
            <a:r>
              <a:rPr lang="en-US" sz="2000" b="1" dirty="0">
                <a:solidFill>
                  <a:srgbClr val="02C39A"/>
                </a:solidFill>
                <a:latin typeface="Calibri" pitchFamily="34" charset="0"/>
                <a:ea typeface="Calibri" pitchFamily="34" charset="-122"/>
                <a:cs typeface="Calibri" pitchFamily="34" charset="-120"/>
              </a:rPr>
              <a:t>-&gt;</a:t>
            </a:r>
            <a:endParaRPr lang="en-US" sz="2000" dirty="0"/>
          </a:p>
        </p:txBody>
      </p:sp>
      <p:sp>
        <p:nvSpPr>
          <p:cNvPr id="25" name="Shape 23"/>
          <p:cNvSpPr/>
          <p:nvPr/>
        </p:nvSpPr>
        <p:spPr>
          <a:xfrm>
            <a:off x="6848856" y="960120"/>
            <a:ext cx="1938528" cy="2560320"/>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26" name="Shape 24"/>
          <p:cNvSpPr/>
          <p:nvPr/>
        </p:nvSpPr>
        <p:spPr>
          <a:xfrm>
            <a:off x="6848856" y="960120"/>
            <a:ext cx="1938528" cy="475488"/>
          </a:xfrm>
          <a:prstGeom prst="rect">
            <a:avLst/>
          </a:prstGeom>
          <a:solidFill>
            <a:srgbClr val="065A82"/>
          </a:solidFill>
          <a:ln w="12700">
            <a:solidFill>
              <a:srgbClr val="065A82"/>
            </a:solidFill>
            <a:prstDash val="solid"/>
          </a:ln>
        </p:spPr>
      </p:sp>
      <p:sp>
        <p:nvSpPr>
          <p:cNvPr id="27" name="Text 25"/>
          <p:cNvSpPr/>
          <p:nvPr/>
        </p:nvSpPr>
        <p:spPr>
          <a:xfrm>
            <a:off x="6848856" y="960120"/>
            <a:ext cx="1938528" cy="475488"/>
          </a:xfrm>
          <a:prstGeom prst="rect">
            <a:avLst/>
          </a:prstGeom>
          <a:noFill/>
          <a:ln/>
        </p:spPr>
        <p:txBody>
          <a:bodyPr wrap="square" lIns="0" tIns="0" rIns="0" bIns="0" rtlCol="0" anchor="ctr"/>
          <a:lstStyle/>
          <a:p>
            <a:pPr algn="ctr" indent="0" marL="0">
              <a:buNone/>
            </a:pPr>
            <a:r>
              <a:rPr lang="en-US" sz="2200" b="1" dirty="0">
                <a:solidFill>
                  <a:srgbClr val="02C39A"/>
                </a:solidFill>
                <a:latin typeface="Georgia" pitchFamily="34" charset="0"/>
                <a:ea typeface="Georgia" pitchFamily="34" charset="-122"/>
                <a:cs typeface="Georgia" pitchFamily="34" charset="-120"/>
              </a:rPr>
              <a:t>4</a:t>
            </a:r>
            <a:endParaRPr lang="en-US" sz="2200" dirty="0"/>
          </a:p>
        </p:txBody>
      </p:sp>
      <p:sp>
        <p:nvSpPr>
          <p:cNvPr id="28" name="Text 26"/>
          <p:cNvSpPr/>
          <p:nvPr/>
        </p:nvSpPr>
        <p:spPr>
          <a:xfrm>
            <a:off x="6940296" y="1508760"/>
            <a:ext cx="1755648" cy="438912"/>
          </a:xfrm>
          <a:prstGeom prst="rect">
            <a:avLst/>
          </a:prstGeom>
          <a:noFill/>
          <a:ln/>
        </p:spPr>
        <p:txBody>
          <a:bodyPr wrap="square" lIns="0" tIns="0" rIns="0" bIns="0" rtlCol="0" anchor="t"/>
          <a:lstStyle/>
          <a:p>
            <a:pPr algn="ctr" indent="0" marL="0">
              <a:buNone/>
            </a:pPr>
            <a:r>
              <a:rPr lang="en-US" sz="1150" b="1" dirty="0">
                <a:solidFill>
                  <a:srgbClr val="1A2E3B"/>
                </a:solidFill>
                <a:latin typeface="Georgia" pitchFamily="34" charset="0"/>
                <a:ea typeface="Georgia" pitchFamily="34" charset="-122"/>
                <a:cs typeface="Georgia" pitchFamily="34" charset="-120"/>
              </a:rPr>
              <a:t>Flatten to DataFrame</a:t>
            </a:r>
            <a:endParaRPr lang="en-US" sz="1150" dirty="0"/>
          </a:p>
        </p:txBody>
      </p:sp>
      <p:sp>
        <p:nvSpPr>
          <p:cNvPr id="29" name="Text 27"/>
          <p:cNvSpPr/>
          <p:nvPr/>
        </p:nvSpPr>
        <p:spPr>
          <a:xfrm>
            <a:off x="6940296" y="1975104"/>
            <a:ext cx="1755648" cy="1371600"/>
          </a:xfrm>
          <a:prstGeom prst="rect">
            <a:avLst/>
          </a:prstGeom>
          <a:noFill/>
          <a:ln/>
        </p:spPr>
        <p:txBody>
          <a:bodyPr wrap="square" lIns="0" tIns="0" rIns="0" bIns="0" rtlCol="0" anchor="t"/>
          <a:lstStyle/>
          <a:p>
            <a:pPr algn="l" indent="0" marL="0">
              <a:buNone/>
            </a:pPr>
            <a:r>
              <a:rPr lang="en-US" sz="950" dirty="0">
                <a:solidFill>
                  <a:srgbClr val="4A6278"/>
                </a:solidFill>
                <a:latin typeface="Calibri" pitchFamily="34" charset="0"/>
                <a:ea typeface="Calibri" pitchFamily="34" charset="-122"/>
                <a:cs typeface="Calibri" pitchFamily="34" charset="-120"/>
              </a:rPr>
              <a:t>Response flattened to DataFrame matching EAV schema. Plot images extracted in parallel via PyMuPDF + OpenCV.</a:t>
            </a:r>
            <a:endParaRPr lang="en-US" sz="950" dirty="0"/>
          </a:p>
        </p:txBody>
      </p:sp>
      <p:sp>
        <p:nvSpPr>
          <p:cNvPr id="30" name="Shape 28"/>
          <p:cNvSpPr/>
          <p:nvPr/>
        </p:nvSpPr>
        <p:spPr>
          <a:xfrm>
            <a:off x="320040" y="3703320"/>
            <a:ext cx="8503920" cy="1115568"/>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31" name="Shape 29"/>
          <p:cNvSpPr/>
          <p:nvPr/>
        </p:nvSpPr>
        <p:spPr>
          <a:xfrm>
            <a:off x="320040" y="3703320"/>
            <a:ext cx="45720" cy="1115568"/>
          </a:xfrm>
          <a:prstGeom prst="rect">
            <a:avLst/>
          </a:prstGeom>
          <a:solidFill>
            <a:srgbClr val="1C7293"/>
          </a:solidFill>
          <a:ln w="12700">
            <a:solidFill>
              <a:srgbClr val="1C7293"/>
            </a:solidFill>
            <a:prstDash val="solid"/>
          </a:ln>
        </p:spPr>
      </p:sp>
      <p:sp>
        <p:nvSpPr>
          <p:cNvPr id="32" name="Text 30"/>
          <p:cNvSpPr/>
          <p:nvPr/>
        </p:nvSpPr>
        <p:spPr>
          <a:xfrm>
            <a:off x="502920" y="3749040"/>
            <a:ext cx="8138160" cy="274320"/>
          </a:xfrm>
          <a:prstGeom prst="rect">
            <a:avLst/>
          </a:prstGeom>
          <a:noFill/>
          <a:ln/>
        </p:spPr>
        <p:txBody>
          <a:bodyPr wrap="square" lIns="0" tIns="0" rIns="0" bIns="0" rtlCol="0" anchor="ctr"/>
          <a:lstStyle/>
          <a:p>
            <a:pPr indent="0" marL="0">
              <a:buNone/>
            </a:pPr>
            <a:r>
              <a:rPr lang="en-US" sz="1200" b="1" dirty="0">
                <a:solidFill>
                  <a:srgbClr val="065A82"/>
                </a:solidFill>
                <a:latin typeface="Georgia" pitchFamily="34" charset="0"/>
                <a:ea typeface="Georgia" pitchFamily="34" charset="-122"/>
                <a:cs typeface="Georgia" pitchFamily="34" charset="-120"/>
              </a:rPr>
              <a:t>Key implementation details</a:t>
            </a:r>
            <a:endParaRPr lang="en-US" sz="1200" dirty="0"/>
          </a:p>
        </p:txBody>
      </p:sp>
      <p:sp>
        <p:nvSpPr>
          <p:cNvPr id="33" name="Text 31"/>
          <p:cNvSpPr/>
          <p:nvPr/>
        </p:nvSpPr>
        <p:spPr>
          <a:xfrm>
            <a:off x="502920" y="4059936"/>
            <a:ext cx="8138160" cy="658368"/>
          </a:xfrm>
          <a:prstGeom prst="rect">
            <a:avLst/>
          </a:prstGeom>
          <a:noFill/>
          <a:ln/>
        </p:spPr>
        <p:txBody>
          <a:bodyPr wrap="square" lIns="0" tIns="0" rIns="0" bIns="0" rtlCol="0" anchor="t"/>
          <a:lstStyle/>
          <a:p>
            <a:pPr indent="0" marL="0">
              <a:buNone/>
            </a:pPr>
            <a:r>
              <a:rPr lang="en-US" sz="1000" dirty="0">
                <a:solidFill>
                  <a:srgbClr val="4A6278"/>
                </a:solidFill>
                <a:latin typeface="Calibri" pitchFamily="34" charset="0"/>
                <a:ea typeface="Calibri" pitchFamily="34" charset="-122"/>
                <a:cs typeface="Calibri" pitchFamily="34" charset="-120"/>
              </a:rPr>
              <a:t>responseMimeType: application/json -- forces valid JSON. temperature: 0 -- deterministic extraction. Required fields -- model emits empty string for missing values, never null. english field -- passthrough for imperial values when source reports both.</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5FA"/>
        </a:solidFill>
      </p:bgPr>
    </p:bg>
    <p:spTree>
      <p:nvGrpSpPr>
        <p:cNvPr id="1" name=""/>
        <p:cNvGrpSpPr/>
        <p:nvPr/>
      </p:nvGrpSpPr>
      <p:grpSpPr>
        <a:xfrm>
          <a:off x="0" y="0"/>
          <a:ext cx="0" cy="0"/>
          <a:chOff x="0" y="0"/>
          <a:chExt cx="0" cy="0"/>
        </a:xfrm>
      </p:grpSpPr>
      <p:sp>
        <p:nvSpPr>
          <p:cNvPr id="2" name="Shape 0"/>
          <p:cNvSpPr/>
          <p:nvPr/>
        </p:nvSpPr>
        <p:spPr>
          <a:xfrm>
            <a:off x="365760" y="256032"/>
            <a:ext cx="64008" cy="438912"/>
          </a:xfrm>
          <a:prstGeom prst="rect">
            <a:avLst/>
          </a:prstGeom>
          <a:solidFill>
            <a:srgbClr val="02C39A"/>
          </a:solidFill>
          <a:ln w="12700">
            <a:solidFill>
              <a:srgbClr val="02C39A"/>
            </a:solidFill>
            <a:prstDash val="solid"/>
          </a:ln>
        </p:spPr>
      </p:sp>
      <p:sp>
        <p:nvSpPr>
          <p:cNvPr id="3" name="Text 1"/>
          <p:cNvSpPr/>
          <p:nvPr/>
        </p:nvSpPr>
        <p:spPr>
          <a:xfrm>
            <a:off x="502920" y="201168"/>
            <a:ext cx="8321040" cy="548640"/>
          </a:xfrm>
          <a:prstGeom prst="rect">
            <a:avLst/>
          </a:prstGeom>
          <a:noFill/>
          <a:ln/>
        </p:spPr>
        <p:txBody>
          <a:bodyPr wrap="square" lIns="0" tIns="0" rIns="0" bIns="0" rtlCol="0" anchor="ctr"/>
          <a:lstStyle/>
          <a:p>
            <a:pPr indent="0" marL="0">
              <a:buNone/>
            </a:pPr>
            <a:r>
              <a:rPr lang="en-US" sz="2600" b="1" dirty="0">
                <a:solidFill>
                  <a:srgbClr val="065A82"/>
                </a:solidFill>
                <a:latin typeface="Georgia" pitchFamily="34" charset="0"/>
                <a:ea typeface="Georgia" pitchFamily="34" charset="-122"/>
                <a:cs typeface="Georgia" pitchFamily="34" charset="-120"/>
              </a:rPr>
              <a:t>User-Facing Workflows</a:t>
            </a:r>
            <a:endParaRPr lang="en-US" sz="2600" dirty="0"/>
          </a:p>
        </p:txBody>
      </p:sp>
      <p:sp>
        <p:nvSpPr>
          <p:cNvPr id="4" name="Shape 2"/>
          <p:cNvSpPr/>
          <p:nvPr/>
        </p:nvSpPr>
        <p:spPr>
          <a:xfrm>
            <a:off x="0" y="4887468"/>
            <a:ext cx="9144000" cy="256032"/>
          </a:xfrm>
          <a:prstGeom prst="rect">
            <a:avLst/>
          </a:prstGeom>
          <a:solidFill>
            <a:srgbClr val="1C7293"/>
          </a:solidFill>
          <a:ln w="12700">
            <a:solidFill>
              <a:srgbClr val="1C7293"/>
            </a:solidFill>
            <a:prstDash val="solid"/>
          </a:ln>
        </p:spPr>
      </p:sp>
      <p:sp>
        <p:nvSpPr>
          <p:cNvPr id="5" name="Text 3"/>
          <p:cNvSpPr/>
          <p:nvPr/>
        </p:nvSpPr>
        <p:spPr>
          <a:xfrm>
            <a:off x="274320" y="4905756"/>
            <a:ext cx="5486400" cy="219456"/>
          </a:xfrm>
          <a:prstGeom prst="rect">
            <a:avLst/>
          </a:prstGeom>
          <a:noFill/>
          <a:ln/>
        </p:spPr>
        <p:txBody>
          <a:bodyPr wrap="square" lIns="0" tIns="0" rIns="0" bIns="0" rtlCol="0" anchor="ctr"/>
          <a:lstStyle/>
          <a:p>
            <a:pPr indent="0" marL="0">
              <a:buNone/>
            </a:pPr>
            <a:r>
              <a:rPr lang="en-US" sz="800" dirty="0">
                <a:solidFill>
                  <a:srgbClr val="CCEEFF"/>
                </a:solidFill>
                <a:latin typeface="Calibri" pitchFamily="34" charset="0"/>
                <a:ea typeface="Calibri" pitchFamily="34" charset="-122"/>
                <a:cs typeface="Calibri" pitchFamily="34" charset="-120"/>
              </a:rPr>
              <a:t>Mathias Heider  |  ME8930 Course Project  |  May 2026</a:t>
            </a:r>
            <a:endParaRPr lang="en-US" sz="800" dirty="0"/>
          </a:p>
        </p:txBody>
      </p:sp>
      <p:sp>
        <p:nvSpPr>
          <p:cNvPr id="6" name="Text 4"/>
          <p:cNvSpPr/>
          <p:nvPr/>
        </p:nvSpPr>
        <p:spPr>
          <a:xfrm>
            <a:off x="6858000" y="4905756"/>
            <a:ext cx="2011680" cy="219456"/>
          </a:xfrm>
          <a:prstGeom prst="rect">
            <a:avLst/>
          </a:prstGeom>
          <a:noFill/>
          <a:ln/>
        </p:spPr>
        <p:txBody>
          <a:bodyPr wrap="square" lIns="0" tIns="0" rIns="0" bIns="0" rtlCol="0" anchor="ctr"/>
          <a:lstStyle/>
          <a:p>
            <a:pPr algn="r" indent="0" marL="0">
              <a:buNone/>
            </a:pPr>
            <a:r>
              <a:rPr lang="en-US" sz="800" dirty="0">
                <a:solidFill>
                  <a:srgbClr val="CCEEFF"/>
                </a:solidFill>
                <a:latin typeface="Calibri" pitchFamily="34" charset="0"/>
                <a:ea typeface="Calibri" pitchFamily="34" charset="-122"/>
                <a:cs typeface="Calibri" pitchFamily="34" charset="-120"/>
              </a:rPr>
              <a:t>5 / User Workflows</a:t>
            </a:r>
            <a:endParaRPr lang="en-US" sz="800" dirty="0"/>
          </a:p>
        </p:txBody>
      </p:sp>
      <p:sp>
        <p:nvSpPr>
          <p:cNvPr id="7" name="Shape 5"/>
          <p:cNvSpPr/>
          <p:nvPr/>
        </p:nvSpPr>
        <p:spPr>
          <a:xfrm>
            <a:off x="347472" y="960120"/>
            <a:ext cx="2697480" cy="3639312"/>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8" name="Shape 6"/>
          <p:cNvSpPr/>
          <p:nvPr/>
        </p:nvSpPr>
        <p:spPr>
          <a:xfrm>
            <a:off x="347472" y="960120"/>
            <a:ext cx="2697480" cy="402336"/>
          </a:xfrm>
          <a:prstGeom prst="rect">
            <a:avLst/>
          </a:prstGeom>
          <a:solidFill>
            <a:srgbClr val="065A82"/>
          </a:solidFill>
          <a:ln w="12700">
            <a:solidFill>
              <a:srgbClr val="065A82"/>
            </a:solidFill>
            <a:prstDash val="solid"/>
          </a:ln>
        </p:spPr>
      </p:sp>
      <p:sp>
        <p:nvSpPr>
          <p:cNvPr id="9" name="Text 7"/>
          <p:cNvSpPr/>
          <p:nvPr/>
        </p:nvSpPr>
        <p:spPr>
          <a:xfrm>
            <a:off x="438912" y="960120"/>
            <a:ext cx="251460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Browse / Search</a:t>
            </a:r>
            <a:endParaRPr lang="en-US" sz="1200" dirty="0"/>
          </a:p>
        </p:txBody>
      </p:sp>
      <p:sp>
        <p:nvSpPr>
          <p:cNvPr id="10" name="Shape 8"/>
          <p:cNvSpPr/>
          <p:nvPr/>
        </p:nvSpPr>
        <p:spPr>
          <a:xfrm>
            <a:off x="484632" y="1463040"/>
            <a:ext cx="237744" cy="237744"/>
          </a:xfrm>
          <a:prstGeom prst="rect">
            <a:avLst/>
          </a:prstGeom>
          <a:solidFill>
            <a:srgbClr val="065A82"/>
          </a:solidFill>
          <a:ln w="12700">
            <a:solidFill>
              <a:srgbClr val="065A82"/>
            </a:solidFill>
            <a:prstDash val="solid"/>
          </a:ln>
        </p:spPr>
      </p:sp>
      <p:sp>
        <p:nvSpPr>
          <p:cNvPr id="11" name="Text 9"/>
          <p:cNvSpPr/>
          <p:nvPr/>
        </p:nvSpPr>
        <p:spPr>
          <a:xfrm>
            <a:off x="484632" y="146304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2" name="Text 10"/>
          <p:cNvSpPr/>
          <p:nvPr/>
        </p:nvSpPr>
        <p:spPr>
          <a:xfrm>
            <a:off x="786384" y="1463040"/>
            <a:ext cx="2148840" cy="475488"/>
          </a:xfrm>
          <a:prstGeom prst="rect">
            <a:avLst/>
          </a:prstGeom>
          <a:noFill/>
          <a:ln/>
        </p:spPr>
        <p:txBody>
          <a:bodyPr wrap="square" lIns="0" tIns="0" rIns="0" bIns="0" rtlCol="0" anchor="t"/>
          <a:lstStyle/>
          <a:p>
            <a:pPr indent="0" marL="0">
              <a:buNone/>
            </a:pPr>
            <a:r>
              <a:rPr lang="en-US" sz="1000" dirty="0">
                <a:solidFill>
                  <a:srgbClr val="4A6278"/>
                </a:solidFill>
                <a:latin typeface="Calibri" pitchFamily="34" charset="0"/>
                <a:ea typeface="Calibri" pitchFamily="34" charset="-122"/>
                <a:cs typeface="Calibri" pitchFamily="34" charset="-120"/>
              </a:rPr>
              <a:t>Select material class (Composite / Polymer / Fiber)</a:t>
            </a:r>
            <a:endParaRPr lang="en-US" sz="1000" dirty="0"/>
          </a:p>
        </p:txBody>
      </p:sp>
      <p:sp>
        <p:nvSpPr>
          <p:cNvPr id="13" name="Shape 11"/>
          <p:cNvSpPr/>
          <p:nvPr/>
        </p:nvSpPr>
        <p:spPr>
          <a:xfrm>
            <a:off x="484632" y="2057400"/>
            <a:ext cx="237744" cy="237744"/>
          </a:xfrm>
          <a:prstGeom prst="rect">
            <a:avLst/>
          </a:prstGeom>
          <a:solidFill>
            <a:srgbClr val="065A82"/>
          </a:solidFill>
          <a:ln w="12700">
            <a:solidFill>
              <a:srgbClr val="065A82"/>
            </a:solidFill>
            <a:prstDash val="solid"/>
          </a:ln>
        </p:spPr>
      </p:sp>
      <p:sp>
        <p:nvSpPr>
          <p:cNvPr id="14" name="Text 12"/>
          <p:cNvSpPr/>
          <p:nvPr/>
        </p:nvSpPr>
        <p:spPr>
          <a:xfrm>
            <a:off x="484632" y="205740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5" name="Text 13"/>
          <p:cNvSpPr/>
          <p:nvPr/>
        </p:nvSpPr>
        <p:spPr>
          <a:xfrm>
            <a:off x="786384" y="2057400"/>
            <a:ext cx="2148840" cy="475488"/>
          </a:xfrm>
          <a:prstGeom prst="rect">
            <a:avLst/>
          </a:prstGeom>
          <a:noFill/>
          <a:ln/>
        </p:spPr>
        <p:txBody>
          <a:bodyPr wrap="square" lIns="0" tIns="0" rIns="0" bIns="0" rtlCol="0" anchor="t"/>
          <a:lstStyle/>
          <a:p>
            <a:pPr indent="0" marL="0">
              <a:buNone/>
            </a:pPr>
            <a:r>
              <a:rPr lang="en-US" sz="1000" dirty="0">
                <a:solidFill>
                  <a:srgbClr val="4A6278"/>
                </a:solidFill>
                <a:latin typeface="Calibri" pitchFamily="34" charset="0"/>
                <a:ea typeface="Calibri" pitchFamily="34" charset="-122"/>
                <a:cs typeface="Calibri" pitchFamily="34" charset="-120"/>
              </a:rPr>
              <a:t>Filter by matrix or fiber (composites)</a:t>
            </a:r>
            <a:endParaRPr lang="en-US" sz="1000" dirty="0"/>
          </a:p>
        </p:txBody>
      </p:sp>
      <p:sp>
        <p:nvSpPr>
          <p:cNvPr id="16" name="Shape 14"/>
          <p:cNvSpPr/>
          <p:nvPr/>
        </p:nvSpPr>
        <p:spPr>
          <a:xfrm>
            <a:off x="484632" y="2651760"/>
            <a:ext cx="237744" cy="237744"/>
          </a:xfrm>
          <a:prstGeom prst="rect">
            <a:avLst/>
          </a:prstGeom>
          <a:solidFill>
            <a:srgbClr val="065A82"/>
          </a:solidFill>
          <a:ln w="12700">
            <a:solidFill>
              <a:srgbClr val="065A82"/>
            </a:solidFill>
            <a:prstDash val="solid"/>
          </a:ln>
        </p:spPr>
      </p:sp>
      <p:sp>
        <p:nvSpPr>
          <p:cNvPr id="17" name="Text 15"/>
          <p:cNvSpPr/>
          <p:nvPr/>
        </p:nvSpPr>
        <p:spPr>
          <a:xfrm>
            <a:off x="484632" y="265176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8" name="Text 16"/>
          <p:cNvSpPr/>
          <p:nvPr/>
        </p:nvSpPr>
        <p:spPr>
          <a:xfrm>
            <a:off x="786384" y="2651760"/>
            <a:ext cx="2148840" cy="475488"/>
          </a:xfrm>
          <a:prstGeom prst="rect">
            <a:avLst/>
          </a:prstGeom>
          <a:noFill/>
          <a:ln/>
        </p:spPr>
        <p:txBody>
          <a:bodyPr wrap="square" lIns="0" tIns="0" rIns="0" bIns="0" rtlCol="0" anchor="t"/>
          <a:lstStyle/>
          <a:p>
            <a:pPr indent="0" marL="0">
              <a:buNone/>
            </a:pPr>
            <a:r>
              <a:rPr lang="en-US" sz="1000" dirty="0">
                <a:solidFill>
                  <a:srgbClr val="4A6278"/>
                </a:solidFill>
                <a:latin typeface="Calibri" pitchFamily="34" charset="0"/>
                <a:ea typeface="Calibri" pitchFamily="34" charset="-122"/>
                <a:cs typeface="Calibri" pitchFamily="34" charset="-120"/>
              </a:rPr>
              <a:t>Search by name or abbreviation</a:t>
            </a:r>
            <a:endParaRPr lang="en-US" sz="1000" dirty="0"/>
          </a:p>
        </p:txBody>
      </p:sp>
      <p:sp>
        <p:nvSpPr>
          <p:cNvPr id="19" name="Shape 17"/>
          <p:cNvSpPr/>
          <p:nvPr/>
        </p:nvSpPr>
        <p:spPr>
          <a:xfrm>
            <a:off x="484632" y="3246120"/>
            <a:ext cx="237744" cy="237744"/>
          </a:xfrm>
          <a:prstGeom prst="rect">
            <a:avLst/>
          </a:prstGeom>
          <a:solidFill>
            <a:srgbClr val="065A82"/>
          </a:solidFill>
          <a:ln w="12700">
            <a:solidFill>
              <a:srgbClr val="065A82"/>
            </a:solidFill>
            <a:prstDash val="solid"/>
          </a:ln>
        </p:spPr>
      </p:sp>
      <p:sp>
        <p:nvSpPr>
          <p:cNvPr id="20" name="Text 18"/>
          <p:cNvSpPr/>
          <p:nvPr/>
        </p:nvSpPr>
        <p:spPr>
          <a:xfrm>
            <a:off x="484632" y="324612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1" name="Text 19"/>
          <p:cNvSpPr/>
          <p:nvPr/>
        </p:nvSpPr>
        <p:spPr>
          <a:xfrm>
            <a:off x="786384" y="3246120"/>
            <a:ext cx="2148840" cy="475488"/>
          </a:xfrm>
          <a:prstGeom prst="rect">
            <a:avLst/>
          </a:prstGeom>
          <a:noFill/>
          <a:ln/>
        </p:spPr>
        <p:txBody>
          <a:bodyPr wrap="square" lIns="0" tIns="0" rIns="0" bIns="0" rtlCol="0" anchor="t"/>
          <a:lstStyle/>
          <a:p>
            <a:pPr indent="0" marL="0">
              <a:buNone/>
            </a:pPr>
            <a:r>
              <a:rPr lang="en-US" sz="1000" dirty="0">
                <a:solidFill>
                  <a:srgbClr val="4A6278"/>
                </a:solidFill>
                <a:latin typeface="Calibri" pitchFamily="34" charset="0"/>
                <a:ea typeface="Calibri" pitchFamily="34" charset="-122"/>
                <a:cs typeface="Calibri" pitchFamily="34" charset="-120"/>
              </a:rPr>
              <a:t>Paginated results grid (50 per page)</a:t>
            </a:r>
            <a:endParaRPr lang="en-US" sz="1000" dirty="0"/>
          </a:p>
        </p:txBody>
      </p:sp>
      <p:sp>
        <p:nvSpPr>
          <p:cNvPr id="22" name="Shape 20"/>
          <p:cNvSpPr/>
          <p:nvPr/>
        </p:nvSpPr>
        <p:spPr>
          <a:xfrm>
            <a:off x="484632" y="3840480"/>
            <a:ext cx="237744" cy="237744"/>
          </a:xfrm>
          <a:prstGeom prst="rect">
            <a:avLst/>
          </a:prstGeom>
          <a:solidFill>
            <a:srgbClr val="065A82"/>
          </a:solidFill>
          <a:ln w="12700">
            <a:solidFill>
              <a:srgbClr val="065A82"/>
            </a:solidFill>
            <a:prstDash val="solid"/>
          </a:ln>
        </p:spPr>
      </p:sp>
      <p:sp>
        <p:nvSpPr>
          <p:cNvPr id="23" name="Text 21"/>
          <p:cNvSpPr/>
          <p:nvPr/>
        </p:nvSpPr>
        <p:spPr>
          <a:xfrm>
            <a:off x="484632" y="384048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4" name="Text 22"/>
          <p:cNvSpPr/>
          <p:nvPr/>
        </p:nvSpPr>
        <p:spPr>
          <a:xfrm>
            <a:off x="786384" y="3840480"/>
            <a:ext cx="2148840" cy="475488"/>
          </a:xfrm>
          <a:prstGeom prst="rect">
            <a:avLst/>
          </a:prstGeom>
          <a:noFill/>
          <a:ln/>
        </p:spPr>
        <p:txBody>
          <a:bodyPr wrap="square" lIns="0" tIns="0" rIns="0" bIns="0" rtlCol="0" anchor="t"/>
          <a:lstStyle/>
          <a:p>
            <a:pPr indent="0" marL="0">
              <a:buNone/>
            </a:pPr>
            <a:r>
              <a:rPr lang="en-US" sz="1000" dirty="0">
                <a:solidFill>
                  <a:srgbClr val="4A6278"/>
                </a:solidFill>
                <a:latin typeface="Calibri" pitchFamily="34" charset="0"/>
                <a:ea typeface="Calibri" pitchFamily="34" charset="-122"/>
                <a:cs typeface="Calibri" pitchFamily="34" charset="-120"/>
              </a:rPr>
              <a:t>Inspect tab: property table + plot image</a:t>
            </a:r>
            <a:endParaRPr lang="en-US" sz="1000" dirty="0"/>
          </a:p>
        </p:txBody>
      </p:sp>
      <p:sp>
        <p:nvSpPr>
          <p:cNvPr id="25" name="Shape 23"/>
          <p:cNvSpPr/>
          <p:nvPr/>
        </p:nvSpPr>
        <p:spPr>
          <a:xfrm>
            <a:off x="3227832" y="960120"/>
            <a:ext cx="2697480" cy="3639312"/>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26" name="Shape 24"/>
          <p:cNvSpPr/>
          <p:nvPr/>
        </p:nvSpPr>
        <p:spPr>
          <a:xfrm>
            <a:off x="3227832" y="960120"/>
            <a:ext cx="2697480" cy="402336"/>
          </a:xfrm>
          <a:prstGeom prst="rect">
            <a:avLst/>
          </a:prstGeom>
          <a:solidFill>
            <a:srgbClr val="1C7293"/>
          </a:solidFill>
          <a:ln w="12700">
            <a:solidFill>
              <a:srgbClr val="1C7293"/>
            </a:solidFill>
            <a:prstDash val="solid"/>
          </a:ln>
        </p:spPr>
      </p:sp>
      <p:sp>
        <p:nvSpPr>
          <p:cNvPr id="27" name="Text 25"/>
          <p:cNvSpPr/>
          <p:nvPr/>
        </p:nvSpPr>
        <p:spPr>
          <a:xfrm>
            <a:off x="3319272" y="960120"/>
            <a:ext cx="251460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Manual Upload</a:t>
            </a:r>
            <a:endParaRPr lang="en-US" sz="1200" dirty="0"/>
          </a:p>
        </p:txBody>
      </p:sp>
      <p:sp>
        <p:nvSpPr>
          <p:cNvPr id="28" name="Shape 26"/>
          <p:cNvSpPr/>
          <p:nvPr/>
        </p:nvSpPr>
        <p:spPr>
          <a:xfrm>
            <a:off x="3364992" y="1463040"/>
            <a:ext cx="237744" cy="237744"/>
          </a:xfrm>
          <a:prstGeom prst="rect">
            <a:avLst/>
          </a:prstGeom>
          <a:solidFill>
            <a:srgbClr val="1C7293"/>
          </a:solidFill>
          <a:ln w="12700">
            <a:solidFill>
              <a:srgbClr val="1C7293"/>
            </a:solidFill>
            <a:prstDash val="solid"/>
          </a:ln>
        </p:spPr>
      </p:sp>
      <p:sp>
        <p:nvSpPr>
          <p:cNvPr id="29" name="Text 27"/>
          <p:cNvSpPr/>
          <p:nvPr/>
        </p:nvSpPr>
        <p:spPr>
          <a:xfrm>
            <a:off x="3364992" y="146304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30" name="Text 28"/>
          <p:cNvSpPr/>
          <p:nvPr/>
        </p:nvSpPr>
        <p:spPr>
          <a:xfrm>
            <a:off x="3666744" y="1463040"/>
            <a:ext cx="2148840" cy="475488"/>
          </a:xfrm>
          <a:prstGeom prst="rect">
            <a:avLst/>
          </a:prstGeom>
          <a:noFill/>
          <a:ln/>
        </p:spPr>
        <p:txBody>
          <a:bodyPr wrap="square" lIns="0" tIns="0" rIns="0" bIns="0" rtlCol="0" anchor="t"/>
          <a:lstStyle/>
          <a:p>
            <a:pPr indent="0" marL="0">
              <a:buNone/>
            </a:pPr>
            <a:r>
              <a:rPr lang="en-US" sz="1000" dirty="0">
                <a:solidFill>
                  <a:srgbClr val="4A6278"/>
                </a:solidFill>
                <a:latin typeface="Calibri" pitchFamily="34" charset="0"/>
                <a:ea typeface="Calibri" pitchFamily="34" charset="-122"/>
                <a:cs typeface="Calibri" pitchFamily="34" charset="-120"/>
              </a:rPr>
              <a:t>Pick material class then property category</a:t>
            </a:r>
            <a:endParaRPr lang="en-US" sz="1000" dirty="0"/>
          </a:p>
        </p:txBody>
      </p:sp>
      <p:sp>
        <p:nvSpPr>
          <p:cNvPr id="31" name="Shape 29"/>
          <p:cNvSpPr/>
          <p:nvPr/>
        </p:nvSpPr>
        <p:spPr>
          <a:xfrm>
            <a:off x="3364992" y="2057400"/>
            <a:ext cx="237744" cy="237744"/>
          </a:xfrm>
          <a:prstGeom prst="rect">
            <a:avLst/>
          </a:prstGeom>
          <a:solidFill>
            <a:srgbClr val="1C7293"/>
          </a:solidFill>
          <a:ln w="12700">
            <a:solidFill>
              <a:srgbClr val="1C7293"/>
            </a:solidFill>
            <a:prstDash val="solid"/>
          </a:ln>
        </p:spPr>
      </p:sp>
      <p:sp>
        <p:nvSpPr>
          <p:cNvPr id="32" name="Text 30"/>
          <p:cNvSpPr/>
          <p:nvPr/>
        </p:nvSpPr>
        <p:spPr>
          <a:xfrm>
            <a:off x="3364992" y="205740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33" name="Text 31"/>
          <p:cNvSpPr/>
          <p:nvPr/>
        </p:nvSpPr>
        <p:spPr>
          <a:xfrm>
            <a:off x="3666744" y="2057400"/>
            <a:ext cx="2148840" cy="475488"/>
          </a:xfrm>
          <a:prstGeom prst="rect">
            <a:avLst/>
          </a:prstGeom>
          <a:noFill/>
          <a:ln/>
        </p:spPr>
        <p:txBody>
          <a:bodyPr wrap="square" lIns="0" tIns="0" rIns="0" bIns="0" rtlCol="0" anchor="t"/>
          <a:lstStyle/>
          <a:p>
            <a:pPr indent="0" marL="0">
              <a:buNone/>
            </a:pPr>
            <a:r>
              <a:rPr lang="en-US" sz="1000" dirty="0">
                <a:solidFill>
                  <a:srgbClr val="4A6278"/>
                </a:solidFill>
                <a:latin typeface="Calibri" pitchFamily="34" charset="0"/>
                <a:ea typeface="Calibri" pitchFamily="34" charset="-122"/>
                <a:cs typeface="Calibri" pitchFamily="34" charset="-120"/>
              </a:rPr>
              <a:t>Select canonical property name (or free text)</a:t>
            </a:r>
            <a:endParaRPr lang="en-US" sz="1000" dirty="0"/>
          </a:p>
        </p:txBody>
      </p:sp>
      <p:sp>
        <p:nvSpPr>
          <p:cNvPr id="34" name="Shape 32"/>
          <p:cNvSpPr/>
          <p:nvPr/>
        </p:nvSpPr>
        <p:spPr>
          <a:xfrm>
            <a:off x="3364992" y="2651760"/>
            <a:ext cx="237744" cy="237744"/>
          </a:xfrm>
          <a:prstGeom prst="rect">
            <a:avLst/>
          </a:prstGeom>
          <a:solidFill>
            <a:srgbClr val="1C7293"/>
          </a:solidFill>
          <a:ln w="12700">
            <a:solidFill>
              <a:srgbClr val="1C7293"/>
            </a:solidFill>
            <a:prstDash val="solid"/>
          </a:ln>
        </p:spPr>
      </p:sp>
      <p:sp>
        <p:nvSpPr>
          <p:cNvPr id="35" name="Text 33"/>
          <p:cNvSpPr/>
          <p:nvPr/>
        </p:nvSpPr>
        <p:spPr>
          <a:xfrm>
            <a:off x="3364992" y="265176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36" name="Text 34"/>
          <p:cNvSpPr/>
          <p:nvPr/>
        </p:nvSpPr>
        <p:spPr>
          <a:xfrm>
            <a:off x="3666744" y="2651760"/>
            <a:ext cx="2148840" cy="475488"/>
          </a:xfrm>
          <a:prstGeom prst="rect">
            <a:avLst/>
          </a:prstGeom>
          <a:noFill/>
          <a:ln/>
        </p:spPr>
        <p:txBody>
          <a:bodyPr wrap="square" lIns="0" tIns="0" rIns="0" bIns="0" rtlCol="0" anchor="t"/>
          <a:lstStyle/>
          <a:p>
            <a:pPr indent="0" marL="0">
              <a:buNone/>
            </a:pPr>
            <a:r>
              <a:rPr lang="en-US" sz="1000" dirty="0">
                <a:solidFill>
                  <a:srgbClr val="4A6278"/>
                </a:solidFill>
                <a:latin typeface="Calibri" pitchFamily="34" charset="0"/>
                <a:ea typeface="Calibri" pitchFamily="34" charset="-122"/>
                <a:cs typeface="Calibri" pitchFamily="34" charset="-120"/>
              </a:rPr>
              <a:t>Enter value, unit, English equiv., test condition</a:t>
            </a:r>
            <a:endParaRPr lang="en-US" sz="1000" dirty="0"/>
          </a:p>
        </p:txBody>
      </p:sp>
      <p:sp>
        <p:nvSpPr>
          <p:cNvPr id="37" name="Shape 35"/>
          <p:cNvSpPr/>
          <p:nvPr/>
        </p:nvSpPr>
        <p:spPr>
          <a:xfrm>
            <a:off x="3364992" y="3246120"/>
            <a:ext cx="237744" cy="237744"/>
          </a:xfrm>
          <a:prstGeom prst="rect">
            <a:avLst/>
          </a:prstGeom>
          <a:solidFill>
            <a:srgbClr val="1C7293"/>
          </a:solidFill>
          <a:ln w="12700">
            <a:solidFill>
              <a:srgbClr val="1C7293"/>
            </a:solidFill>
            <a:prstDash val="solid"/>
          </a:ln>
        </p:spPr>
      </p:sp>
      <p:sp>
        <p:nvSpPr>
          <p:cNvPr id="38" name="Text 36"/>
          <p:cNvSpPr/>
          <p:nvPr/>
        </p:nvSpPr>
        <p:spPr>
          <a:xfrm>
            <a:off x="3364992" y="324612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39" name="Text 37"/>
          <p:cNvSpPr/>
          <p:nvPr/>
        </p:nvSpPr>
        <p:spPr>
          <a:xfrm>
            <a:off x="3666744" y="3246120"/>
            <a:ext cx="2148840" cy="475488"/>
          </a:xfrm>
          <a:prstGeom prst="rect">
            <a:avLst/>
          </a:prstGeom>
          <a:noFill/>
          <a:ln/>
        </p:spPr>
        <p:txBody>
          <a:bodyPr wrap="square" lIns="0" tIns="0" rIns="0" bIns="0" rtlCol="0" anchor="t"/>
          <a:lstStyle/>
          <a:p>
            <a:pPr indent="0" marL="0">
              <a:buNone/>
            </a:pPr>
            <a:r>
              <a:rPr lang="en-US" sz="1000" dirty="0">
                <a:solidFill>
                  <a:srgbClr val="4A6278"/>
                </a:solidFill>
                <a:latin typeface="Calibri" pitchFamily="34" charset="0"/>
                <a:ea typeface="Calibri" pitchFamily="34" charset="-122"/>
                <a:cs typeface="Calibri" pitchFamily="34" charset="-120"/>
              </a:rPr>
              <a:t>Comments field for notes &amp; standards</a:t>
            </a:r>
            <a:endParaRPr lang="en-US" sz="1000" dirty="0"/>
          </a:p>
        </p:txBody>
      </p:sp>
      <p:sp>
        <p:nvSpPr>
          <p:cNvPr id="40" name="Shape 38"/>
          <p:cNvSpPr/>
          <p:nvPr/>
        </p:nvSpPr>
        <p:spPr>
          <a:xfrm>
            <a:off x="3364992" y="3840480"/>
            <a:ext cx="237744" cy="237744"/>
          </a:xfrm>
          <a:prstGeom prst="rect">
            <a:avLst/>
          </a:prstGeom>
          <a:solidFill>
            <a:srgbClr val="1C7293"/>
          </a:solidFill>
          <a:ln w="12700">
            <a:solidFill>
              <a:srgbClr val="1C7293"/>
            </a:solidFill>
            <a:prstDash val="solid"/>
          </a:ln>
        </p:spPr>
      </p:sp>
      <p:sp>
        <p:nvSpPr>
          <p:cNvPr id="41" name="Text 39"/>
          <p:cNvSpPr/>
          <p:nvPr/>
        </p:nvSpPr>
        <p:spPr>
          <a:xfrm>
            <a:off x="3364992" y="384048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42" name="Text 40"/>
          <p:cNvSpPr/>
          <p:nvPr/>
        </p:nvSpPr>
        <p:spPr>
          <a:xfrm>
            <a:off x="3666744" y="3840480"/>
            <a:ext cx="2148840" cy="475488"/>
          </a:xfrm>
          <a:prstGeom prst="rect">
            <a:avLst/>
          </a:prstGeom>
          <a:noFill/>
          <a:ln/>
        </p:spPr>
        <p:txBody>
          <a:bodyPr wrap="square" lIns="0" tIns="0" rIns="0" bIns="0" rtlCol="0" anchor="t"/>
          <a:lstStyle/>
          <a:p>
            <a:pPr indent="0" marL="0">
              <a:buNone/>
            </a:pPr>
            <a:r>
              <a:rPr lang="en-US" sz="1000" dirty="0">
                <a:solidFill>
                  <a:srgbClr val="4A6278"/>
                </a:solidFill>
                <a:latin typeface="Calibri" pitchFamily="34" charset="0"/>
                <a:ea typeface="Calibri" pitchFamily="34" charset="-122"/>
                <a:cs typeface="Calibri" pitchFamily="34" charset="-120"/>
              </a:rPr>
              <a:t>Single row written to Postgres</a:t>
            </a:r>
            <a:endParaRPr lang="en-US" sz="1000" dirty="0"/>
          </a:p>
        </p:txBody>
      </p:sp>
      <p:sp>
        <p:nvSpPr>
          <p:cNvPr id="43" name="Shape 41"/>
          <p:cNvSpPr/>
          <p:nvPr/>
        </p:nvSpPr>
        <p:spPr>
          <a:xfrm>
            <a:off x="6108192" y="960120"/>
            <a:ext cx="2697480" cy="3639312"/>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44" name="Shape 42"/>
          <p:cNvSpPr/>
          <p:nvPr/>
        </p:nvSpPr>
        <p:spPr>
          <a:xfrm>
            <a:off x="6108192" y="960120"/>
            <a:ext cx="2697480" cy="402336"/>
          </a:xfrm>
          <a:prstGeom prst="rect">
            <a:avLst/>
          </a:prstGeom>
          <a:solidFill>
            <a:srgbClr val="028090"/>
          </a:solidFill>
          <a:ln w="12700">
            <a:solidFill>
              <a:srgbClr val="028090"/>
            </a:solidFill>
            <a:prstDash val="solid"/>
          </a:ln>
        </p:spPr>
      </p:sp>
      <p:sp>
        <p:nvSpPr>
          <p:cNvPr id="45" name="Text 43"/>
          <p:cNvSpPr/>
          <p:nvPr/>
        </p:nvSpPr>
        <p:spPr>
          <a:xfrm>
            <a:off x="6199632" y="960120"/>
            <a:ext cx="251460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PDF-Assisted Upload</a:t>
            </a:r>
            <a:endParaRPr lang="en-US" sz="1200" dirty="0"/>
          </a:p>
        </p:txBody>
      </p:sp>
      <p:sp>
        <p:nvSpPr>
          <p:cNvPr id="46" name="Shape 44"/>
          <p:cNvSpPr/>
          <p:nvPr/>
        </p:nvSpPr>
        <p:spPr>
          <a:xfrm>
            <a:off x="6245352" y="1463040"/>
            <a:ext cx="237744" cy="237744"/>
          </a:xfrm>
          <a:prstGeom prst="rect">
            <a:avLst/>
          </a:prstGeom>
          <a:solidFill>
            <a:srgbClr val="028090"/>
          </a:solidFill>
          <a:ln w="12700">
            <a:solidFill>
              <a:srgbClr val="028090"/>
            </a:solidFill>
            <a:prstDash val="solid"/>
          </a:ln>
        </p:spPr>
      </p:sp>
      <p:sp>
        <p:nvSpPr>
          <p:cNvPr id="47" name="Text 45"/>
          <p:cNvSpPr/>
          <p:nvPr/>
        </p:nvSpPr>
        <p:spPr>
          <a:xfrm>
            <a:off x="6245352" y="146304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48" name="Text 46"/>
          <p:cNvSpPr/>
          <p:nvPr/>
        </p:nvSpPr>
        <p:spPr>
          <a:xfrm>
            <a:off x="6547104" y="1463040"/>
            <a:ext cx="2148840" cy="475488"/>
          </a:xfrm>
          <a:prstGeom prst="rect">
            <a:avLst/>
          </a:prstGeom>
          <a:noFill/>
          <a:ln/>
        </p:spPr>
        <p:txBody>
          <a:bodyPr wrap="square" lIns="0" tIns="0" rIns="0" bIns="0" rtlCol="0" anchor="t"/>
          <a:lstStyle/>
          <a:p>
            <a:pPr indent="0" marL="0">
              <a:buNone/>
            </a:pPr>
            <a:r>
              <a:rPr lang="en-US" sz="1000" dirty="0">
                <a:solidFill>
                  <a:srgbClr val="4A6278"/>
                </a:solidFill>
                <a:latin typeface="Calibri" pitchFamily="34" charset="0"/>
                <a:ea typeface="Calibri" pitchFamily="34" charset="-122"/>
                <a:cs typeface="Calibri" pitchFamily="34" charset="-120"/>
              </a:rPr>
              <a:t>Drag PDF (datasheet or paper)</a:t>
            </a:r>
            <a:endParaRPr lang="en-US" sz="1000" dirty="0"/>
          </a:p>
        </p:txBody>
      </p:sp>
      <p:sp>
        <p:nvSpPr>
          <p:cNvPr id="49" name="Shape 47"/>
          <p:cNvSpPr/>
          <p:nvPr/>
        </p:nvSpPr>
        <p:spPr>
          <a:xfrm>
            <a:off x="6245352" y="2057400"/>
            <a:ext cx="237744" cy="237744"/>
          </a:xfrm>
          <a:prstGeom prst="rect">
            <a:avLst/>
          </a:prstGeom>
          <a:solidFill>
            <a:srgbClr val="028090"/>
          </a:solidFill>
          <a:ln w="12700">
            <a:solidFill>
              <a:srgbClr val="028090"/>
            </a:solidFill>
            <a:prstDash val="solid"/>
          </a:ln>
        </p:spPr>
      </p:sp>
      <p:sp>
        <p:nvSpPr>
          <p:cNvPr id="50" name="Text 48"/>
          <p:cNvSpPr/>
          <p:nvPr/>
        </p:nvSpPr>
        <p:spPr>
          <a:xfrm>
            <a:off x="6245352" y="205740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51" name="Text 49"/>
          <p:cNvSpPr/>
          <p:nvPr/>
        </p:nvSpPr>
        <p:spPr>
          <a:xfrm>
            <a:off x="6547104" y="2057400"/>
            <a:ext cx="2148840" cy="475488"/>
          </a:xfrm>
          <a:prstGeom prst="rect">
            <a:avLst/>
          </a:prstGeom>
          <a:noFill/>
          <a:ln/>
        </p:spPr>
        <p:txBody>
          <a:bodyPr wrap="square" lIns="0" tIns="0" rIns="0" bIns="0" rtlCol="0" anchor="t"/>
          <a:lstStyle/>
          <a:p>
            <a:pPr indent="0" marL="0">
              <a:buNone/>
            </a:pPr>
            <a:r>
              <a:rPr lang="en-US" sz="1000" dirty="0">
                <a:solidFill>
                  <a:srgbClr val="4A6278"/>
                </a:solidFill>
                <a:latin typeface="Calibri" pitchFamily="34" charset="0"/>
                <a:ea typeface="Calibri" pitchFamily="34" charset="-122"/>
                <a:cs typeface="Calibri" pitchFamily="34" charset="-120"/>
              </a:rPr>
              <a:t>Gemini extracts all properties: preview table</a:t>
            </a:r>
            <a:endParaRPr lang="en-US" sz="1000" dirty="0"/>
          </a:p>
        </p:txBody>
      </p:sp>
      <p:sp>
        <p:nvSpPr>
          <p:cNvPr id="52" name="Shape 50"/>
          <p:cNvSpPr/>
          <p:nvPr/>
        </p:nvSpPr>
        <p:spPr>
          <a:xfrm>
            <a:off x="6245352" y="2651760"/>
            <a:ext cx="237744" cy="237744"/>
          </a:xfrm>
          <a:prstGeom prst="rect">
            <a:avLst/>
          </a:prstGeom>
          <a:solidFill>
            <a:srgbClr val="028090"/>
          </a:solidFill>
          <a:ln w="12700">
            <a:solidFill>
              <a:srgbClr val="028090"/>
            </a:solidFill>
            <a:prstDash val="solid"/>
          </a:ln>
        </p:spPr>
      </p:sp>
      <p:sp>
        <p:nvSpPr>
          <p:cNvPr id="53" name="Text 51"/>
          <p:cNvSpPr/>
          <p:nvPr/>
        </p:nvSpPr>
        <p:spPr>
          <a:xfrm>
            <a:off x="6245352" y="265176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54" name="Text 52"/>
          <p:cNvSpPr/>
          <p:nvPr/>
        </p:nvSpPr>
        <p:spPr>
          <a:xfrm>
            <a:off x="6547104" y="2651760"/>
            <a:ext cx="2148840" cy="475488"/>
          </a:xfrm>
          <a:prstGeom prst="rect">
            <a:avLst/>
          </a:prstGeom>
          <a:noFill/>
          <a:ln/>
        </p:spPr>
        <p:txBody>
          <a:bodyPr wrap="square" lIns="0" tIns="0" rIns="0" bIns="0" rtlCol="0" anchor="t"/>
          <a:lstStyle/>
          <a:p>
            <a:pPr indent="0" marL="0">
              <a:buNone/>
            </a:pPr>
            <a:r>
              <a:rPr lang="en-US" sz="1000" dirty="0">
                <a:solidFill>
                  <a:srgbClr val="4A6278"/>
                </a:solidFill>
                <a:latin typeface="Calibri" pitchFamily="34" charset="0"/>
                <a:ea typeface="Calibri" pitchFamily="34" charset="-122"/>
                <a:cs typeface="Calibri" pitchFamily="34" charset="-120"/>
              </a:rPr>
              <a:t>User assigns material class</a:t>
            </a:r>
            <a:endParaRPr lang="en-US" sz="1000" dirty="0"/>
          </a:p>
        </p:txBody>
      </p:sp>
      <p:sp>
        <p:nvSpPr>
          <p:cNvPr id="55" name="Shape 53"/>
          <p:cNvSpPr/>
          <p:nvPr/>
        </p:nvSpPr>
        <p:spPr>
          <a:xfrm>
            <a:off x="6245352" y="3246120"/>
            <a:ext cx="237744" cy="237744"/>
          </a:xfrm>
          <a:prstGeom prst="rect">
            <a:avLst/>
          </a:prstGeom>
          <a:solidFill>
            <a:srgbClr val="028090"/>
          </a:solidFill>
          <a:ln w="12700">
            <a:solidFill>
              <a:srgbClr val="028090"/>
            </a:solidFill>
            <a:prstDash val="solid"/>
          </a:ln>
        </p:spPr>
      </p:sp>
      <p:sp>
        <p:nvSpPr>
          <p:cNvPr id="56" name="Text 54"/>
          <p:cNvSpPr/>
          <p:nvPr/>
        </p:nvSpPr>
        <p:spPr>
          <a:xfrm>
            <a:off x="6245352" y="324612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57" name="Text 55"/>
          <p:cNvSpPr/>
          <p:nvPr/>
        </p:nvSpPr>
        <p:spPr>
          <a:xfrm>
            <a:off x="6547104" y="3246120"/>
            <a:ext cx="2148840" cy="475488"/>
          </a:xfrm>
          <a:prstGeom prst="rect">
            <a:avLst/>
          </a:prstGeom>
          <a:noFill/>
          <a:ln/>
        </p:spPr>
        <p:txBody>
          <a:bodyPr wrap="square" lIns="0" tIns="0" rIns="0" bIns="0" rtlCol="0" anchor="t"/>
          <a:lstStyle/>
          <a:p>
            <a:pPr indent="0" marL="0">
              <a:buNone/>
            </a:pPr>
            <a:r>
              <a:rPr lang="en-US" sz="1000" dirty="0">
                <a:solidFill>
                  <a:srgbClr val="4A6278"/>
                </a:solidFill>
                <a:latin typeface="Calibri" pitchFamily="34" charset="0"/>
                <a:ea typeface="Calibri" pitchFamily="34" charset="-122"/>
                <a:cs typeface="Calibri" pitchFamily="34" charset="-120"/>
              </a:rPr>
              <a:t>Review rows then click Add to Database</a:t>
            </a:r>
            <a:endParaRPr lang="en-US" sz="1000" dirty="0"/>
          </a:p>
        </p:txBody>
      </p:sp>
      <p:sp>
        <p:nvSpPr>
          <p:cNvPr id="58" name="Shape 56"/>
          <p:cNvSpPr/>
          <p:nvPr/>
        </p:nvSpPr>
        <p:spPr>
          <a:xfrm>
            <a:off x="6245352" y="3840480"/>
            <a:ext cx="237744" cy="237744"/>
          </a:xfrm>
          <a:prstGeom prst="rect">
            <a:avLst/>
          </a:prstGeom>
          <a:solidFill>
            <a:srgbClr val="028090"/>
          </a:solidFill>
          <a:ln w="12700">
            <a:solidFill>
              <a:srgbClr val="028090"/>
            </a:solidFill>
            <a:prstDash val="solid"/>
          </a:ln>
        </p:spPr>
      </p:sp>
      <p:sp>
        <p:nvSpPr>
          <p:cNvPr id="59" name="Text 57"/>
          <p:cNvSpPr/>
          <p:nvPr/>
        </p:nvSpPr>
        <p:spPr>
          <a:xfrm>
            <a:off x="6245352" y="384048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60" name="Text 58"/>
          <p:cNvSpPr/>
          <p:nvPr/>
        </p:nvSpPr>
        <p:spPr>
          <a:xfrm>
            <a:off x="6547104" y="3840480"/>
            <a:ext cx="2148840" cy="475488"/>
          </a:xfrm>
          <a:prstGeom prst="rect">
            <a:avLst/>
          </a:prstGeom>
          <a:noFill/>
          <a:ln/>
        </p:spPr>
        <p:txBody>
          <a:bodyPr wrap="square" lIns="0" tIns="0" rIns="0" bIns="0" rtlCol="0" anchor="t"/>
          <a:lstStyle/>
          <a:p>
            <a:pPr indent="0" marL="0">
              <a:buNone/>
            </a:pPr>
            <a:r>
              <a:rPr lang="en-US" sz="1000" dirty="0">
                <a:solidFill>
                  <a:srgbClr val="4A6278"/>
                </a:solidFill>
                <a:latin typeface="Calibri" pitchFamily="34" charset="0"/>
                <a:ea typeface="Calibri" pitchFamily="34" charset="-122"/>
                <a:cs typeface="Calibri" pitchFamily="34" charset="-120"/>
              </a:rPr>
              <a:t>Plot figures mapped to properties in second tab</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F5FA"/>
        </a:solidFill>
      </p:bgPr>
    </p:bg>
    <p:spTree>
      <p:nvGrpSpPr>
        <p:cNvPr id="1" name=""/>
        <p:cNvGrpSpPr/>
        <p:nvPr/>
      </p:nvGrpSpPr>
      <p:grpSpPr>
        <a:xfrm>
          <a:off x="0" y="0"/>
          <a:ext cx="0" cy="0"/>
          <a:chOff x="0" y="0"/>
          <a:chExt cx="0" cy="0"/>
        </a:xfrm>
      </p:grpSpPr>
      <p:sp>
        <p:nvSpPr>
          <p:cNvPr id="2" name="Shape 0"/>
          <p:cNvSpPr/>
          <p:nvPr/>
        </p:nvSpPr>
        <p:spPr>
          <a:xfrm>
            <a:off x="365760" y="256032"/>
            <a:ext cx="64008" cy="438912"/>
          </a:xfrm>
          <a:prstGeom prst="rect">
            <a:avLst/>
          </a:prstGeom>
          <a:solidFill>
            <a:srgbClr val="02C39A"/>
          </a:solidFill>
          <a:ln w="12700">
            <a:solidFill>
              <a:srgbClr val="02C39A"/>
            </a:solidFill>
            <a:prstDash val="solid"/>
          </a:ln>
        </p:spPr>
      </p:sp>
      <p:sp>
        <p:nvSpPr>
          <p:cNvPr id="3" name="Text 1"/>
          <p:cNvSpPr/>
          <p:nvPr/>
        </p:nvSpPr>
        <p:spPr>
          <a:xfrm>
            <a:off x="502920" y="201168"/>
            <a:ext cx="8321040" cy="548640"/>
          </a:xfrm>
          <a:prstGeom prst="rect">
            <a:avLst/>
          </a:prstGeom>
          <a:noFill/>
          <a:ln/>
        </p:spPr>
        <p:txBody>
          <a:bodyPr wrap="square" lIns="0" tIns="0" rIns="0" bIns="0" rtlCol="0" anchor="ctr"/>
          <a:lstStyle/>
          <a:p>
            <a:pPr indent="0" marL="0">
              <a:buNone/>
            </a:pPr>
            <a:r>
              <a:rPr lang="en-US" sz="2600" b="1" dirty="0">
                <a:solidFill>
                  <a:srgbClr val="065A82"/>
                </a:solidFill>
                <a:latin typeface="Georgia" pitchFamily="34" charset="0"/>
                <a:ea typeface="Georgia" pitchFamily="34" charset="-122"/>
                <a:cs typeface="Georgia" pitchFamily="34" charset="-120"/>
              </a:rPr>
              <a:t>Current Data &amp; Data-Quality Findings</a:t>
            </a:r>
            <a:endParaRPr lang="en-US" sz="2600" dirty="0"/>
          </a:p>
        </p:txBody>
      </p:sp>
      <p:sp>
        <p:nvSpPr>
          <p:cNvPr id="4" name="Shape 2"/>
          <p:cNvSpPr/>
          <p:nvPr/>
        </p:nvSpPr>
        <p:spPr>
          <a:xfrm>
            <a:off x="0" y="4887468"/>
            <a:ext cx="9144000" cy="256032"/>
          </a:xfrm>
          <a:prstGeom prst="rect">
            <a:avLst/>
          </a:prstGeom>
          <a:solidFill>
            <a:srgbClr val="1C7293"/>
          </a:solidFill>
          <a:ln w="12700">
            <a:solidFill>
              <a:srgbClr val="1C7293"/>
            </a:solidFill>
            <a:prstDash val="solid"/>
          </a:ln>
        </p:spPr>
      </p:sp>
      <p:sp>
        <p:nvSpPr>
          <p:cNvPr id="5" name="Text 3"/>
          <p:cNvSpPr/>
          <p:nvPr/>
        </p:nvSpPr>
        <p:spPr>
          <a:xfrm>
            <a:off x="274320" y="4905756"/>
            <a:ext cx="5486400" cy="219456"/>
          </a:xfrm>
          <a:prstGeom prst="rect">
            <a:avLst/>
          </a:prstGeom>
          <a:noFill/>
          <a:ln/>
        </p:spPr>
        <p:txBody>
          <a:bodyPr wrap="square" lIns="0" tIns="0" rIns="0" bIns="0" rtlCol="0" anchor="ctr"/>
          <a:lstStyle/>
          <a:p>
            <a:pPr indent="0" marL="0">
              <a:buNone/>
            </a:pPr>
            <a:r>
              <a:rPr lang="en-US" sz="800" dirty="0">
                <a:solidFill>
                  <a:srgbClr val="CCEEFF"/>
                </a:solidFill>
                <a:latin typeface="Calibri" pitchFamily="34" charset="0"/>
                <a:ea typeface="Calibri" pitchFamily="34" charset="-122"/>
                <a:cs typeface="Calibri" pitchFamily="34" charset="-120"/>
              </a:rPr>
              <a:t>Mathias Heider  |  ME8930 Course Project  |  May 2026</a:t>
            </a:r>
            <a:endParaRPr lang="en-US" sz="800" dirty="0"/>
          </a:p>
        </p:txBody>
      </p:sp>
      <p:sp>
        <p:nvSpPr>
          <p:cNvPr id="6" name="Text 4"/>
          <p:cNvSpPr/>
          <p:nvPr/>
        </p:nvSpPr>
        <p:spPr>
          <a:xfrm>
            <a:off x="6858000" y="4905756"/>
            <a:ext cx="2011680" cy="219456"/>
          </a:xfrm>
          <a:prstGeom prst="rect">
            <a:avLst/>
          </a:prstGeom>
          <a:noFill/>
          <a:ln/>
        </p:spPr>
        <p:txBody>
          <a:bodyPr wrap="square" lIns="0" tIns="0" rIns="0" bIns="0" rtlCol="0" anchor="ctr"/>
          <a:lstStyle/>
          <a:p>
            <a:pPr algn="r" indent="0" marL="0">
              <a:buNone/>
            </a:pPr>
            <a:r>
              <a:rPr lang="en-US" sz="800" dirty="0">
                <a:solidFill>
                  <a:srgbClr val="CCEEFF"/>
                </a:solidFill>
                <a:latin typeface="Calibri" pitchFamily="34" charset="0"/>
                <a:ea typeface="Calibri" pitchFamily="34" charset="-122"/>
                <a:cs typeface="Calibri" pitchFamily="34" charset="-120"/>
              </a:rPr>
              <a:t>6 / Current Data</a:t>
            </a:r>
            <a:endParaRPr lang="en-US" sz="800" dirty="0"/>
          </a:p>
        </p:txBody>
      </p:sp>
      <p:sp>
        <p:nvSpPr>
          <p:cNvPr id="7" name="Shape 5"/>
          <p:cNvSpPr/>
          <p:nvPr/>
        </p:nvSpPr>
        <p:spPr>
          <a:xfrm>
            <a:off x="365760" y="960120"/>
            <a:ext cx="3474720" cy="3566160"/>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8" name="Shape 6"/>
          <p:cNvSpPr/>
          <p:nvPr/>
        </p:nvSpPr>
        <p:spPr>
          <a:xfrm>
            <a:off x="365760" y="960120"/>
            <a:ext cx="45720" cy="3566160"/>
          </a:xfrm>
          <a:prstGeom prst="rect">
            <a:avLst/>
          </a:prstGeom>
          <a:solidFill>
            <a:srgbClr val="065A82"/>
          </a:solidFill>
          <a:ln w="12700">
            <a:solidFill>
              <a:srgbClr val="065A82"/>
            </a:solidFill>
            <a:prstDash val="solid"/>
          </a:ln>
        </p:spPr>
      </p:sp>
      <p:sp>
        <p:nvSpPr>
          <p:cNvPr id="9" name="Text 7"/>
          <p:cNvSpPr/>
          <p:nvPr/>
        </p:nvSpPr>
        <p:spPr>
          <a:xfrm>
            <a:off x="548640" y="1024128"/>
            <a:ext cx="3108960" cy="347472"/>
          </a:xfrm>
          <a:prstGeom prst="rect">
            <a:avLst/>
          </a:prstGeom>
          <a:noFill/>
          <a:ln/>
        </p:spPr>
        <p:txBody>
          <a:bodyPr wrap="square" lIns="0" tIns="0" rIns="0" bIns="0" rtlCol="0" anchor="ctr"/>
          <a:lstStyle/>
          <a:p>
            <a:pPr indent="0" marL="0">
              <a:buNone/>
            </a:pPr>
            <a:r>
              <a:rPr lang="en-US" sz="1400" b="1" dirty="0">
                <a:solidFill>
                  <a:srgbClr val="065A82"/>
                </a:solidFill>
                <a:latin typeface="Georgia" pitchFamily="34" charset="0"/>
                <a:ea typeface="Georgia" pitchFamily="34" charset="-122"/>
                <a:cs typeface="Georgia" pitchFamily="34" charset="-120"/>
              </a:rPr>
              <a:t>Loaded in Seed</a:t>
            </a:r>
            <a:endParaRPr lang="en-US" sz="1400" dirty="0"/>
          </a:p>
        </p:txBody>
      </p:sp>
      <p:sp>
        <p:nvSpPr>
          <p:cNvPr id="10" name="Text 8"/>
          <p:cNvSpPr/>
          <p:nvPr/>
        </p:nvSpPr>
        <p:spPr>
          <a:xfrm>
            <a:off x="640080" y="1508760"/>
            <a:ext cx="1005840" cy="594360"/>
          </a:xfrm>
          <a:prstGeom prst="rect">
            <a:avLst/>
          </a:prstGeom>
          <a:noFill/>
          <a:ln/>
        </p:spPr>
        <p:txBody>
          <a:bodyPr wrap="square" lIns="0" tIns="0" rIns="0" bIns="0" rtlCol="0" anchor="ctr"/>
          <a:lstStyle/>
          <a:p>
            <a:pPr algn="ctr" indent="0" marL="0">
              <a:buNone/>
            </a:pPr>
            <a:r>
              <a:rPr lang="en-US" sz="4200" b="1" dirty="0">
                <a:solidFill>
                  <a:srgbClr val="065A82"/>
                </a:solidFill>
                <a:latin typeface="Georgia" pitchFamily="34" charset="0"/>
                <a:ea typeface="Georgia" pitchFamily="34" charset="-122"/>
                <a:cs typeface="Georgia" pitchFamily="34" charset="-120"/>
              </a:rPr>
              <a:t>4</a:t>
            </a:r>
            <a:endParaRPr lang="en-US" sz="4200" dirty="0"/>
          </a:p>
        </p:txBody>
      </p:sp>
      <p:sp>
        <p:nvSpPr>
          <p:cNvPr id="11" name="Text 9"/>
          <p:cNvSpPr/>
          <p:nvPr/>
        </p:nvSpPr>
        <p:spPr>
          <a:xfrm>
            <a:off x="1691640" y="1627632"/>
            <a:ext cx="1920240" cy="347472"/>
          </a:xfrm>
          <a:prstGeom prst="rect">
            <a:avLst/>
          </a:prstGeom>
          <a:noFill/>
          <a:ln/>
        </p:spPr>
        <p:txBody>
          <a:bodyPr wrap="square" lIns="0" tIns="0" rIns="0" bIns="0" rtlCol="0" anchor="ctr"/>
          <a:lstStyle/>
          <a:p>
            <a:pPr indent="0" marL="0">
              <a:buNone/>
            </a:pPr>
            <a:r>
              <a:rPr lang="en-US" sz="1100" dirty="0">
                <a:solidFill>
                  <a:srgbClr val="4A6278"/>
                </a:solidFill>
                <a:latin typeface="Calibri" pitchFamily="34" charset="0"/>
                <a:ea typeface="Calibri" pitchFamily="34" charset="-122"/>
                <a:cs typeface="Calibri" pitchFamily="34" charset="-120"/>
              </a:rPr>
              <a:t>Polymer materials</a:t>
            </a:r>
            <a:endParaRPr lang="en-US" sz="1100" dirty="0"/>
          </a:p>
        </p:txBody>
      </p:sp>
      <p:sp>
        <p:nvSpPr>
          <p:cNvPr id="12" name="Text 10"/>
          <p:cNvSpPr/>
          <p:nvPr/>
        </p:nvSpPr>
        <p:spPr>
          <a:xfrm>
            <a:off x="640080" y="2286000"/>
            <a:ext cx="1005840" cy="594360"/>
          </a:xfrm>
          <a:prstGeom prst="rect">
            <a:avLst/>
          </a:prstGeom>
          <a:noFill/>
          <a:ln/>
        </p:spPr>
        <p:txBody>
          <a:bodyPr wrap="square" lIns="0" tIns="0" rIns="0" bIns="0" rtlCol="0" anchor="ctr"/>
          <a:lstStyle/>
          <a:p>
            <a:pPr algn="ctr" indent="0" marL="0">
              <a:buNone/>
            </a:pPr>
            <a:r>
              <a:rPr lang="en-US" sz="4200" b="1" dirty="0">
                <a:solidFill>
                  <a:srgbClr val="065A82"/>
                </a:solidFill>
                <a:latin typeface="Georgia" pitchFamily="34" charset="0"/>
                <a:ea typeface="Georgia" pitchFamily="34" charset="-122"/>
                <a:cs typeface="Georgia" pitchFamily="34" charset="-120"/>
              </a:rPr>
              <a:t>289</a:t>
            </a:r>
            <a:endParaRPr lang="en-US" sz="4200" dirty="0"/>
          </a:p>
        </p:txBody>
      </p:sp>
      <p:sp>
        <p:nvSpPr>
          <p:cNvPr id="13" name="Text 11"/>
          <p:cNvSpPr/>
          <p:nvPr/>
        </p:nvSpPr>
        <p:spPr>
          <a:xfrm>
            <a:off x="1691640" y="2404872"/>
            <a:ext cx="1920240" cy="347472"/>
          </a:xfrm>
          <a:prstGeom prst="rect">
            <a:avLst/>
          </a:prstGeom>
          <a:noFill/>
          <a:ln/>
        </p:spPr>
        <p:txBody>
          <a:bodyPr wrap="square" lIns="0" tIns="0" rIns="0" bIns="0" rtlCol="0" anchor="ctr"/>
          <a:lstStyle/>
          <a:p>
            <a:pPr indent="0" marL="0">
              <a:buNone/>
            </a:pPr>
            <a:r>
              <a:rPr lang="en-US" sz="1100" dirty="0">
                <a:solidFill>
                  <a:srgbClr val="4A6278"/>
                </a:solidFill>
                <a:latin typeface="Calibri" pitchFamily="34" charset="0"/>
                <a:ea typeface="Calibri" pitchFamily="34" charset="-122"/>
                <a:cs typeface="Calibri" pitchFamily="34" charset="-120"/>
              </a:rPr>
              <a:t>Property rows</a:t>
            </a:r>
            <a:endParaRPr lang="en-US" sz="1100" dirty="0"/>
          </a:p>
        </p:txBody>
      </p:sp>
      <p:sp>
        <p:nvSpPr>
          <p:cNvPr id="14" name="Text 12"/>
          <p:cNvSpPr/>
          <p:nvPr/>
        </p:nvSpPr>
        <p:spPr>
          <a:xfrm>
            <a:off x="640080" y="3063240"/>
            <a:ext cx="1005840" cy="594360"/>
          </a:xfrm>
          <a:prstGeom prst="rect">
            <a:avLst/>
          </a:prstGeom>
          <a:noFill/>
          <a:ln/>
        </p:spPr>
        <p:txBody>
          <a:bodyPr wrap="square" lIns="0" tIns="0" rIns="0" bIns="0" rtlCol="0" anchor="ctr"/>
          <a:lstStyle/>
          <a:p>
            <a:pPr algn="ctr" indent="0" marL="0">
              <a:buNone/>
            </a:pPr>
            <a:r>
              <a:rPr lang="en-US" sz="4200" b="1" dirty="0">
                <a:solidFill>
                  <a:srgbClr val="065A82"/>
                </a:solidFill>
                <a:latin typeface="Georgia" pitchFamily="34" charset="0"/>
                <a:ea typeface="Georgia" pitchFamily="34" charset="-122"/>
                <a:cs typeface="Georgia" pitchFamily="34" charset="-120"/>
              </a:rPr>
              <a:t>6</a:t>
            </a:r>
            <a:endParaRPr lang="en-US" sz="4200" dirty="0"/>
          </a:p>
        </p:txBody>
      </p:sp>
      <p:sp>
        <p:nvSpPr>
          <p:cNvPr id="15" name="Text 13"/>
          <p:cNvSpPr/>
          <p:nvPr/>
        </p:nvSpPr>
        <p:spPr>
          <a:xfrm>
            <a:off x="1691640" y="3182112"/>
            <a:ext cx="1920240" cy="347472"/>
          </a:xfrm>
          <a:prstGeom prst="rect">
            <a:avLst/>
          </a:prstGeom>
          <a:noFill/>
          <a:ln/>
        </p:spPr>
        <p:txBody>
          <a:bodyPr wrap="square" lIns="0" tIns="0" rIns="0" bIns="0" rtlCol="0" anchor="ctr"/>
          <a:lstStyle/>
          <a:p>
            <a:pPr indent="0" marL="0">
              <a:buNone/>
            </a:pPr>
            <a:r>
              <a:rPr lang="en-US" sz="1100" dirty="0">
                <a:solidFill>
                  <a:srgbClr val="4A6278"/>
                </a:solidFill>
                <a:latin typeface="Calibri" pitchFamily="34" charset="0"/>
                <a:ea typeface="Calibri" pitchFamily="34" charset="-122"/>
                <a:cs typeface="Calibri" pitchFamily="34" charset="-120"/>
              </a:rPr>
              <a:t>Sections observed</a:t>
            </a:r>
            <a:endParaRPr lang="en-US" sz="1100" dirty="0"/>
          </a:p>
        </p:txBody>
      </p:sp>
      <p:sp>
        <p:nvSpPr>
          <p:cNvPr id="16" name="Shape 14"/>
          <p:cNvSpPr/>
          <p:nvPr/>
        </p:nvSpPr>
        <p:spPr>
          <a:xfrm>
            <a:off x="548640" y="3822192"/>
            <a:ext cx="3108960" cy="54864"/>
          </a:xfrm>
          <a:prstGeom prst="rect">
            <a:avLst/>
          </a:prstGeom>
          <a:solidFill>
            <a:srgbClr val="02C39A"/>
          </a:solidFill>
          <a:ln w="12700">
            <a:solidFill>
              <a:srgbClr val="02C39A"/>
            </a:solidFill>
            <a:prstDash val="solid"/>
          </a:ln>
        </p:spPr>
      </p:sp>
      <p:sp>
        <p:nvSpPr>
          <p:cNvPr id="17" name="Text 15"/>
          <p:cNvSpPr/>
          <p:nvPr/>
        </p:nvSpPr>
        <p:spPr>
          <a:xfrm>
            <a:off x="548640" y="3913632"/>
            <a:ext cx="3108960" cy="548640"/>
          </a:xfrm>
          <a:prstGeom prst="rect">
            <a:avLst/>
          </a:prstGeom>
          <a:noFill/>
          <a:ln/>
        </p:spPr>
        <p:txBody>
          <a:bodyPr wrap="square" lIns="0" tIns="0" rIns="0" bIns="0" rtlCol="0" anchor="ctr"/>
          <a:lstStyle/>
          <a:p>
            <a:pPr algn="ctr" indent="0" marL="0">
              <a:buNone/>
            </a:pPr>
            <a:r>
              <a:rPr lang="en-US" sz="1000" dirty="0">
                <a:solidFill>
                  <a:srgbClr val="4A6278"/>
                </a:solidFill>
                <a:latin typeface="Calibri" pitchFamily="34" charset="0"/>
                <a:ea typeface="Calibri" pitchFamily="34" charset="-122"/>
                <a:cs typeface="Calibri" pitchFamily="34" charset="-120"/>
              </a:rPr>
              <a:t>PTFE  |  ABS  |  PEKK  |  Nylon 66</a:t>
            </a:r>
            <a:endParaRPr lang="en-US" sz="1000" dirty="0"/>
          </a:p>
          <a:p>
            <a:pPr algn="ctr" indent="0" marL="0">
              <a:buNone/>
            </a:pPr>
            <a:r>
              <a:rPr lang="en-US" sz="1000" dirty="0">
                <a:solidFill>
                  <a:srgbClr val="4A6278"/>
                </a:solidFill>
                <a:latin typeface="Calibri" pitchFamily="34" charset="0"/>
                <a:ea typeface="Calibri" pitchFamily="34" charset="-122"/>
                <a:cs typeface="Calibri" pitchFamily="34" charset="-120"/>
              </a:rPr>
              <a:t>Fibers + Composites tables: empty</a:t>
            </a:r>
            <a:endParaRPr lang="en-US" sz="1000" dirty="0"/>
          </a:p>
        </p:txBody>
      </p:sp>
      <p:sp>
        <p:nvSpPr>
          <p:cNvPr id="18" name="Shape 16"/>
          <p:cNvSpPr/>
          <p:nvPr/>
        </p:nvSpPr>
        <p:spPr>
          <a:xfrm>
            <a:off x="4023360" y="960120"/>
            <a:ext cx="4754880" cy="3566160"/>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19" name="Shape 17"/>
          <p:cNvSpPr/>
          <p:nvPr/>
        </p:nvSpPr>
        <p:spPr>
          <a:xfrm>
            <a:off x="4023360" y="960120"/>
            <a:ext cx="45720" cy="3566160"/>
          </a:xfrm>
          <a:prstGeom prst="rect">
            <a:avLst/>
          </a:prstGeom>
          <a:solidFill>
            <a:srgbClr val="E53935"/>
          </a:solidFill>
          <a:ln w="12700">
            <a:solidFill>
              <a:srgbClr val="E53935"/>
            </a:solidFill>
            <a:prstDash val="solid"/>
          </a:ln>
        </p:spPr>
      </p:sp>
      <p:sp>
        <p:nvSpPr>
          <p:cNvPr id="20" name="Text 18"/>
          <p:cNvSpPr/>
          <p:nvPr/>
        </p:nvSpPr>
        <p:spPr>
          <a:xfrm>
            <a:off x="4206240" y="1024128"/>
            <a:ext cx="4389120" cy="347472"/>
          </a:xfrm>
          <a:prstGeom prst="rect">
            <a:avLst/>
          </a:prstGeom>
          <a:noFill/>
          <a:ln/>
        </p:spPr>
        <p:txBody>
          <a:bodyPr wrap="square" lIns="0" tIns="0" rIns="0" bIns="0" rtlCol="0" anchor="ctr"/>
          <a:lstStyle/>
          <a:p>
            <a:pPr indent="0" marL="0">
              <a:buNone/>
            </a:pPr>
            <a:r>
              <a:rPr lang="en-US" sz="1400" b="1" dirty="0">
                <a:solidFill>
                  <a:srgbClr val="065A82"/>
                </a:solidFill>
                <a:latin typeface="Georgia" pitchFamily="34" charset="0"/>
                <a:ea typeface="Georgia" pitchFamily="34" charset="-122"/>
                <a:cs typeface="Georgia" pitchFamily="34" charset="-120"/>
              </a:rPr>
              <a:t>Data-Quality Issues Found</a:t>
            </a:r>
            <a:endParaRPr lang="en-US" sz="1400" dirty="0"/>
          </a:p>
        </p:txBody>
      </p:sp>
      <p:sp>
        <p:nvSpPr>
          <p:cNvPr id="21" name="Shape 19"/>
          <p:cNvSpPr/>
          <p:nvPr/>
        </p:nvSpPr>
        <p:spPr>
          <a:xfrm>
            <a:off x="4206240" y="1481328"/>
            <a:ext cx="256032" cy="256032"/>
          </a:xfrm>
          <a:prstGeom prst="rect">
            <a:avLst/>
          </a:prstGeom>
          <a:solidFill>
            <a:srgbClr val="E53935"/>
          </a:solidFill>
          <a:ln w="12700">
            <a:solidFill>
              <a:srgbClr val="E53935"/>
            </a:solidFill>
            <a:prstDash val="solid"/>
          </a:ln>
        </p:spPr>
      </p:sp>
      <p:sp>
        <p:nvSpPr>
          <p:cNvPr id="22" name="Text 20"/>
          <p:cNvSpPr/>
          <p:nvPr/>
        </p:nvSpPr>
        <p:spPr>
          <a:xfrm>
            <a:off x="4206240" y="1481328"/>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3" name="Text 21"/>
          <p:cNvSpPr/>
          <p:nvPr/>
        </p:nvSpPr>
        <p:spPr>
          <a:xfrm>
            <a:off x="4526280" y="1481328"/>
            <a:ext cx="4023360" cy="256032"/>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Unit inconsistency</a:t>
            </a:r>
            <a:endParaRPr lang="en-US" sz="1100" dirty="0"/>
          </a:p>
        </p:txBody>
      </p:sp>
      <p:sp>
        <p:nvSpPr>
          <p:cNvPr id="24" name="Text 22"/>
          <p:cNvSpPr/>
          <p:nvPr/>
        </p:nvSpPr>
        <p:spPr>
          <a:xfrm>
            <a:off x="4526280" y="1737360"/>
            <a:ext cx="4023360" cy="438912"/>
          </a:xfrm>
          <a:prstGeom prst="rect">
            <a:avLst/>
          </a:prstGeom>
          <a:noFill/>
          <a:ln/>
        </p:spPr>
        <p:txBody>
          <a:bodyPr wrap="square" lIns="0" tIns="0" rIns="0" bIns="0" rtlCol="0" anchor="ctr"/>
          <a:lstStyle/>
          <a:p>
            <a:pPr indent="0" marL="0">
              <a:buNone/>
            </a:pPr>
            <a:r>
              <a:rPr lang="en-US" sz="950" dirty="0">
                <a:solidFill>
                  <a:srgbClr val="4A6278"/>
                </a:solidFill>
                <a:latin typeface="Calibri" pitchFamily="34" charset="0"/>
                <a:ea typeface="Calibri" pitchFamily="34" charset="-122"/>
                <a:cs typeface="Calibri" pitchFamily="34" charset="-120"/>
              </a:rPr>
              <a:t>Some rows omit unit key; others store units inline in the value string -- breaks numeric parsing.</a:t>
            </a:r>
            <a:endParaRPr lang="en-US" sz="950" dirty="0"/>
          </a:p>
        </p:txBody>
      </p:sp>
      <p:sp>
        <p:nvSpPr>
          <p:cNvPr id="25" name="Shape 23"/>
          <p:cNvSpPr/>
          <p:nvPr/>
        </p:nvSpPr>
        <p:spPr>
          <a:xfrm>
            <a:off x="4206240" y="2267712"/>
            <a:ext cx="256032" cy="256032"/>
          </a:xfrm>
          <a:prstGeom prst="rect">
            <a:avLst/>
          </a:prstGeom>
          <a:solidFill>
            <a:srgbClr val="E53935"/>
          </a:solidFill>
          <a:ln w="12700">
            <a:solidFill>
              <a:srgbClr val="E53935"/>
            </a:solidFill>
            <a:prstDash val="solid"/>
          </a:ln>
        </p:spPr>
      </p:sp>
      <p:sp>
        <p:nvSpPr>
          <p:cNvPr id="26" name="Text 24"/>
          <p:cNvSpPr/>
          <p:nvPr/>
        </p:nvSpPr>
        <p:spPr>
          <a:xfrm>
            <a:off x="4206240" y="226771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7" name="Text 25"/>
          <p:cNvSpPr/>
          <p:nvPr/>
        </p:nvSpPr>
        <p:spPr>
          <a:xfrm>
            <a:off x="4526280" y="2267712"/>
            <a:ext cx="4023360" cy="256032"/>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Mixed unit systems</a:t>
            </a:r>
            <a:endParaRPr lang="en-US" sz="1100" dirty="0"/>
          </a:p>
        </p:txBody>
      </p:sp>
      <p:sp>
        <p:nvSpPr>
          <p:cNvPr id="28" name="Text 26"/>
          <p:cNvSpPr/>
          <p:nvPr/>
        </p:nvSpPr>
        <p:spPr>
          <a:xfrm>
            <a:off x="4526280" y="2523744"/>
            <a:ext cx="4023360" cy="438912"/>
          </a:xfrm>
          <a:prstGeom prst="rect">
            <a:avLst/>
          </a:prstGeom>
          <a:noFill/>
          <a:ln/>
        </p:spPr>
        <p:txBody>
          <a:bodyPr wrap="square" lIns="0" tIns="0" rIns="0" bIns="0" rtlCol="0" anchor="ctr"/>
          <a:lstStyle/>
          <a:p>
            <a:pPr indent="0" marL="0">
              <a:buNone/>
            </a:pPr>
            <a:r>
              <a:rPr lang="en-US" sz="950" dirty="0">
                <a:solidFill>
                  <a:srgbClr val="4A6278"/>
                </a:solidFill>
                <a:latin typeface="Calibri" pitchFamily="34" charset="0"/>
                <a:ea typeface="Calibri" pitchFamily="34" charset="-122"/>
                <a:cs typeface="Calibri" pitchFamily="34" charset="-120"/>
              </a:rPr>
              <a:t>SI/English mixed within a single value field; intended: SI in value, imperial in english column.</a:t>
            </a:r>
            <a:endParaRPr lang="en-US" sz="950" dirty="0"/>
          </a:p>
        </p:txBody>
      </p:sp>
      <p:sp>
        <p:nvSpPr>
          <p:cNvPr id="29" name="Shape 27"/>
          <p:cNvSpPr/>
          <p:nvPr/>
        </p:nvSpPr>
        <p:spPr>
          <a:xfrm>
            <a:off x="4206240" y="3054096"/>
            <a:ext cx="256032" cy="256032"/>
          </a:xfrm>
          <a:prstGeom prst="rect">
            <a:avLst/>
          </a:prstGeom>
          <a:solidFill>
            <a:srgbClr val="E53935"/>
          </a:solidFill>
          <a:ln w="12700">
            <a:solidFill>
              <a:srgbClr val="E53935"/>
            </a:solidFill>
            <a:prstDash val="solid"/>
          </a:ln>
        </p:spPr>
      </p:sp>
      <p:sp>
        <p:nvSpPr>
          <p:cNvPr id="30" name="Text 28"/>
          <p:cNvSpPr/>
          <p:nvPr/>
        </p:nvSpPr>
        <p:spPr>
          <a:xfrm>
            <a:off x="4206240" y="3054096"/>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31" name="Text 29"/>
          <p:cNvSpPr/>
          <p:nvPr/>
        </p:nvSpPr>
        <p:spPr>
          <a:xfrm>
            <a:off x="4526280" y="3054096"/>
            <a:ext cx="4023360" cy="256032"/>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Duplicate property rows</a:t>
            </a:r>
            <a:endParaRPr lang="en-US" sz="1100" dirty="0"/>
          </a:p>
        </p:txBody>
      </p:sp>
      <p:sp>
        <p:nvSpPr>
          <p:cNvPr id="32" name="Text 30"/>
          <p:cNvSpPr/>
          <p:nvPr/>
        </p:nvSpPr>
        <p:spPr>
          <a:xfrm>
            <a:off x="4526280" y="3310128"/>
            <a:ext cx="4023360" cy="438912"/>
          </a:xfrm>
          <a:prstGeom prst="rect">
            <a:avLst/>
          </a:prstGeom>
          <a:noFill/>
          <a:ln/>
        </p:spPr>
        <p:txBody>
          <a:bodyPr wrap="square" lIns="0" tIns="0" rIns="0" bIns="0" rtlCol="0" anchor="ctr"/>
          <a:lstStyle/>
          <a:p>
            <a:pPr indent="0" marL="0">
              <a:buNone/>
            </a:pPr>
            <a:r>
              <a:rPr lang="en-US" sz="950" dirty="0">
                <a:solidFill>
                  <a:srgbClr val="4A6278"/>
                </a:solidFill>
                <a:latin typeface="Calibri" pitchFamily="34" charset="0"/>
                <a:ea typeface="Calibri" pitchFamily="34" charset="-122"/>
                <a:cs typeface="Calibri" pitchFamily="34" charset="-120"/>
              </a:rPr>
              <a:t>Same property at different test conditions -- correct behavior, but blocks naive UNIQUE constraint.</a:t>
            </a:r>
            <a:endParaRPr lang="en-US" sz="950" dirty="0"/>
          </a:p>
        </p:txBody>
      </p:sp>
      <p:sp>
        <p:nvSpPr>
          <p:cNvPr id="33" name="Shape 31"/>
          <p:cNvSpPr/>
          <p:nvPr/>
        </p:nvSpPr>
        <p:spPr>
          <a:xfrm>
            <a:off x="4206240" y="3840480"/>
            <a:ext cx="256032" cy="256032"/>
          </a:xfrm>
          <a:prstGeom prst="rect">
            <a:avLst/>
          </a:prstGeom>
          <a:solidFill>
            <a:srgbClr val="E53935"/>
          </a:solidFill>
          <a:ln w="12700">
            <a:solidFill>
              <a:srgbClr val="E53935"/>
            </a:solidFill>
            <a:prstDash val="solid"/>
          </a:ln>
        </p:spPr>
      </p:sp>
      <p:sp>
        <p:nvSpPr>
          <p:cNvPr id="34" name="Text 32"/>
          <p:cNvSpPr/>
          <p:nvPr/>
        </p:nvSpPr>
        <p:spPr>
          <a:xfrm>
            <a:off x="4206240" y="3840480"/>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35" name="Text 33"/>
          <p:cNvSpPr/>
          <p:nvPr/>
        </p:nvSpPr>
        <p:spPr>
          <a:xfrm>
            <a:off x="4526280" y="3840480"/>
            <a:ext cx="4023360" cy="256032"/>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No source attribution</a:t>
            </a:r>
            <a:endParaRPr lang="en-US" sz="1100" dirty="0"/>
          </a:p>
        </p:txBody>
      </p:sp>
      <p:sp>
        <p:nvSpPr>
          <p:cNvPr id="36" name="Text 34"/>
          <p:cNvSpPr/>
          <p:nvPr/>
        </p:nvSpPr>
        <p:spPr>
          <a:xfrm>
            <a:off x="4526280" y="4096512"/>
            <a:ext cx="4023360" cy="438912"/>
          </a:xfrm>
          <a:prstGeom prst="rect">
            <a:avLst/>
          </a:prstGeom>
          <a:noFill/>
          <a:ln/>
        </p:spPr>
        <p:txBody>
          <a:bodyPr wrap="square" lIns="0" tIns="0" rIns="0" bIns="0" rtlCol="0" anchor="ctr"/>
          <a:lstStyle/>
          <a:p>
            <a:pPr indent="0" marL="0">
              <a:buNone/>
            </a:pPr>
            <a:r>
              <a:rPr lang="en-US" sz="950" dirty="0">
                <a:solidFill>
                  <a:srgbClr val="4A6278"/>
                </a:solidFill>
                <a:latin typeface="Calibri" pitchFamily="34" charset="0"/>
                <a:ea typeface="Calibri" pitchFamily="34" charset="-122"/>
                <a:cs typeface="Calibri" pitchFamily="34" charset="-120"/>
              </a:rPr>
              <a:t>No PDF / DOI / page-number column today. Provenance captured informally in comments at best.</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F5FA"/>
        </a:solidFill>
      </p:bgPr>
    </p:bg>
    <p:spTree>
      <p:nvGrpSpPr>
        <p:cNvPr id="1" name=""/>
        <p:cNvGrpSpPr/>
        <p:nvPr/>
      </p:nvGrpSpPr>
      <p:grpSpPr>
        <a:xfrm>
          <a:off x="0" y="0"/>
          <a:ext cx="0" cy="0"/>
          <a:chOff x="0" y="0"/>
          <a:chExt cx="0" cy="0"/>
        </a:xfrm>
      </p:grpSpPr>
      <p:sp>
        <p:nvSpPr>
          <p:cNvPr id="2" name="Shape 0"/>
          <p:cNvSpPr/>
          <p:nvPr/>
        </p:nvSpPr>
        <p:spPr>
          <a:xfrm>
            <a:off x="365760" y="256032"/>
            <a:ext cx="64008" cy="438912"/>
          </a:xfrm>
          <a:prstGeom prst="rect">
            <a:avLst/>
          </a:prstGeom>
          <a:solidFill>
            <a:srgbClr val="02C39A"/>
          </a:solidFill>
          <a:ln w="12700">
            <a:solidFill>
              <a:srgbClr val="02C39A"/>
            </a:solidFill>
            <a:prstDash val="solid"/>
          </a:ln>
        </p:spPr>
      </p:sp>
      <p:sp>
        <p:nvSpPr>
          <p:cNvPr id="3" name="Text 1"/>
          <p:cNvSpPr/>
          <p:nvPr/>
        </p:nvSpPr>
        <p:spPr>
          <a:xfrm>
            <a:off x="502920" y="201168"/>
            <a:ext cx="8321040" cy="548640"/>
          </a:xfrm>
          <a:prstGeom prst="rect">
            <a:avLst/>
          </a:prstGeom>
          <a:noFill/>
          <a:ln/>
        </p:spPr>
        <p:txBody>
          <a:bodyPr wrap="square" lIns="0" tIns="0" rIns="0" bIns="0" rtlCol="0" anchor="ctr"/>
          <a:lstStyle/>
          <a:p>
            <a:pPr indent="0" marL="0">
              <a:buNone/>
            </a:pPr>
            <a:r>
              <a:rPr lang="en-US" sz="2600" b="1" dirty="0">
                <a:solidFill>
                  <a:srgbClr val="065A82"/>
                </a:solidFill>
                <a:latin typeface="Georgia" pitchFamily="34" charset="0"/>
                <a:ea typeface="Georgia" pitchFamily="34" charset="-122"/>
                <a:cs typeface="Georgia" pitchFamily="34" charset="-120"/>
              </a:rPr>
              <a:t>Material Taxonomy &amp; Property Sections</a:t>
            </a:r>
            <a:endParaRPr lang="en-US" sz="2600" dirty="0"/>
          </a:p>
        </p:txBody>
      </p:sp>
      <p:sp>
        <p:nvSpPr>
          <p:cNvPr id="4" name="Shape 2"/>
          <p:cNvSpPr/>
          <p:nvPr/>
        </p:nvSpPr>
        <p:spPr>
          <a:xfrm>
            <a:off x="0" y="4887468"/>
            <a:ext cx="9144000" cy="256032"/>
          </a:xfrm>
          <a:prstGeom prst="rect">
            <a:avLst/>
          </a:prstGeom>
          <a:solidFill>
            <a:srgbClr val="1C7293"/>
          </a:solidFill>
          <a:ln w="12700">
            <a:solidFill>
              <a:srgbClr val="1C7293"/>
            </a:solidFill>
            <a:prstDash val="solid"/>
          </a:ln>
        </p:spPr>
      </p:sp>
      <p:sp>
        <p:nvSpPr>
          <p:cNvPr id="5" name="Text 3"/>
          <p:cNvSpPr/>
          <p:nvPr/>
        </p:nvSpPr>
        <p:spPr>
          <a:xfrm>
            <a:off x="274320" y="4905756"/>
            <a:ext cx="5486400" cy="219456"/>
          </a:xfrm>
          <a:prstGeom prst="rect">
            <a:avLst/>
          </a:prstGeom>
          <a:noFill/>
          <a:ln/>
        </p:spPr>
        <p:txBody>
          <a:bodyPr wrap="square" lIns="0" tIns="0" rIns="0" bIns="0" rtlCol="0" anchor="ctr"/>
          <a:lstStyle/>
          <a:p>
            <a:pPr indent="0" marL="0">
              <a:buNone/>
            </a:pPr>
            <a:r>
              <a:rPr lang="en-US" sz="800" dirty="0">
                <a:solidFill>
                  <a:srgbClr val="CCEEFF"/>
                </a:solidFill>
                <a:latin typeface="Calibri" pitchFamily="34" charset="0"/>
                <a:ea typeface="Calibri" pitchFamily="34" charset="-122"/>
                <a:cs typeface="Calibri" pitchFamily="34" charset="-120"/>
              </a:rPr>
              <a:t>Mathias Heider  |  ME8930 Course Project  |  May 2026</a:t>
            </a:r>
            <a:endParaRPr lang="en-US" sz="800" dirty="0"/>
          </a:p>
        </p:txBody>
      </p:sp>
      <p:sp>
        <p:nvSpPr>
          <p:cNvPr id="6" name="Text 4"/>
          <p:cNvSpPr/>
          <p:nvPr/>
        </p:nvSpPr>
        <p:spPr>
          <a:xfrm>
            <a:off x="6858000" y="4905756"/>
            <a:ext cx="2011680" cy="219456"/>
          </a:xfrm>
          <a:prstGeom prst="rect">
            <a:avLst/>
          </a:prstGeom>
          <a:noFill/>
          <a:ln/>
        </p:spPr>
        <p:txBody>
          <a:bodyPr wrap="square" lIns="0" tIns="0" rIns="0" bIns="0" rtlCol="0" anchor="ctr"/>
          <a:lstStyle/>
          <a:p>
            <a:pPr algn="r" indent="0" marL="0">
              <a:buNone/>
            </a:pPr>
            <a:r>
              <a:rPr lang="en-US" sz="800" dirty="0">
                <a:solidFill>
                  <a:srgbClr val="CCEEFF"/>
                </a:solidFill>
                <a:latin typeface="Calibri" pitchFamily="34" charset="0"/>
                <a:ea typeface="Calibri" pitchFamily="34" charset="-122"/>
                <a:cs typeface="Calibri" pitchFamily="34" charset="-120"/>
              </a:rPr>
              <a:t>3 / Architecture</a:t>
            </a:r>
            <a:endParaRPr lang="en-US" sz="800" dirty="0"/>
          </a:p>
        </p:txBody>
      </p:sp>
      <p:sp>
        <p:nvSpPr>
          <p:cNvPr id="7" name="Shape 5"/>
          <p:cNvSpPr/>
          <p:nvPr/>
        </p:nvSpPr>
        <p:spPr>
          <a:xfrm>
            <a:off x="365760" y="960120"/>
            <a:ext cx="2651760" cy="1572768"/>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8" name="Shape 6"/>
          <p:cNvSpPr/>
          <p:nvPr/>
        </p:nvSpPr>
        <p:spPr>
          <a:xfrm>
            <a:off x="365760" y="960120"/>
            <a:ext cx="2651760" cy="347472"/>
          </a:xfrm>
          <a:prstGeom prst="rect">
            <a:avLst/>
          </a:prstGeom>
          <a:solidFill>
            <a:srgbClr val="065A82"/>
          </a:solidFill>
          <a:ln w="12700">
            <a:solidFill>
              <a:srgbClr val="065A82"/>
            </a:solidFill>
            <a:prstDash val="solid"/>
          </a:ln>
        </p:spPr>
      </p:sp>
      <p:sp>
        <p:nvSpPr>
          <p:cNvPr id="9" name="Text 7"/>
          <p:cNvSpPr/>
          <p:nvPr/>
        </p:nvSpPr>
        <p:spPr>
          <a:xfrm>
            <a:off x="365760" y="960120"/>
            <a:ext cx="26517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Polymers</a:t>
            </a:r>
            <a:endParaRPr lang="en-US" sz="1300" dirty="0"/>
          </a:p>
        </p:txBody>
      </p:sp>
      <p:sp>
        <p:nvSpPr>
          <p:cNvPr id="10" name="Text 8"/>
          <p:cNvSpPr/>
          <p:nvPr/>
        </p:nvSpPr>
        <p:spPr>
          <a:xfrm>
            <a:off x="457200" y="1371600"/>
            <a:ext cx="2468880" cy="1078992"/>
          </a:xfrm>
          <a:prstGeom prst="rect">
            <a:avLst/>
          </a:prstGeom>
          <a:noFill/>
          <a:ln/>
        </p:spPr>
        <p:txBody>
          <a:bodyPr wrap="square" lIns="0" tIns="0" rIns="0" bIns="0" rtlCol="0" anchor="ctr"/>
          <a:lstStyle/>
          <a:p>
            <a:pPr algn="ctr" indent="0" marL="0">
              <a:buNone/>
            </a:pPr>
            <a:r>
              <a:rPr lang="en-US" sz="1000" dirty="0">
                <a:solidFill>
                  <a:srgbClr val="4A6278"/>
                </a:solidFill>
                <a:latin typeface="Calibri" pitchFamily="34" charset="0"/>
                <a:ea typeface="Calibri" pitchFamily="34" charset="-122"/>
                <a:cs typeface="Calibri" pitchFamily="34" charset="-120"/>
              </a:rPr>
              <a:t>PEEK | PEI | PA66 | ABS | PTFE | PEKK</a:t>
            </a:r>
            <a:endParaRPr lang="en-US" sz="1000" dirty="0"/>
          </a:p>
        </p:txBody>
      </p:sp>
      <p:sp>
        <p:nvSpPr>
          <p:cNvPr id="11" name="Shape 9"/>
          <p:cNvSpPr/>
          <p:nvPr/>
        </p:nvSpPr>
        <p:spPr>
          <a:xfrm>
            <a:off x="3246120" y="960120"/>
            <a:ext cx="2651760" cy="1572768"/>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12" name="Shape 10"/>
          <p:cNvSpPr/>
          <p:nvPr/>
        </p:nvSpPr>
        <p:spPr>
          <a:xfrm>
            <a:off x="3246120" y="960120"/>
            <a:ext cx="2651760" cy="347472"/>
          </a:xfrm>
          <a:prstGeom prst="rect">
            <a:avLst/>
          </a:prstGeom>
          <a:solidFill>
            <a:srgbClr val="1C7293"/>
          </a:solidFill>
          <a:ln w="12700">
            <a:solidFill>
              <a:srgbClr val="1C7293"/>
            </a:solidFill>
            <a:prstDash val="solid"/>
          </a:ln>
        </p:spPr>
      </p:sp>
      <p:sp>
        <p:nvSpPr>
          <p:cNvPr id="13" name="Text 11"/>
          <p:cNvSpPr/>
          <p:nvPr/>
        </p:nvSpPr>
        <p:spPr>
          <a:xfrm>
            <a:off x="3246120" y="960120"/>
            <a:ext cx="26517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Fibers</a:t>
            </a:r>
            <a:endParaRPr lang="en-US" sz="1300" dirty="0"/>
          </a:p>
        </p:txBody>
      </p:sp>
      <p:sp>
        <p:nvSpPr>
          <p:cNvPr id="14" name="Text 12"/>
          <p:cNvSpPr/>
          <p:nvPr/>
        </p:nvSpPr>
        <p:spPr>
          <a:xfrm>
            <a:off x="3337560" y="1371600"/>
            <a:ext cx="2468880" cy="1078992"/>
          </a:xfrm>
          <a:prstGeom prst="rect">
            <a:avLst/>
          </a:prstGeom>
          <a:noFill/>
          <a:ln/>
        </p:spPr>
        <p:txBody>
          <a:bodyPr wrap="square" lIns="0" tIns="0" rIns="0" bIns="0" rtlCol="0" anchor="ctr"/>
          <a:lstStyle/>
          <a:p>
            <a:pPr algn="ctr" indent="0" marL="0">
              <a:buNone/>
            </a:pPr>
            <a:r>
              <a:rPr lang="en-US" sz="1000" dirty="0">
                <a:solidFill>
                  <a:srgbClr val="4A6278"/>
                </a:solidFill>
                <a:latin typeface="Calibri" pitchFamily="34" charset="0"/>
                <a:ea typeface="Calibri" pitchFamily="34" charset="-122"/>
                <a:cs typeface="Calibri" pitchFamily="34" charset="-120"/>
              </a:rPr>
              <a:t>Carbon | Glass | Aramid | Basalt | Natural fibers</a:t>
            </a:r>
            <a:endParaRPr lang="en-US" sz="1000" dirty="0"/>
          </a:p>
        </p:txBody>
      </p:sp>
      <p:sp>
        <p:nvSpPr>
          <p:cNvPr id="15" name="Shape 13"/>
          <p:cNvSpPr/>
          <p:nvPr/>
        </p:nvSpPr>
        <p:spPr>
          <a:xfrm>
            <a:off x="6126480" y="960120"/>
            <a:ext cx="2651760" cy="1572768"/>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16" name="Shape 14"/>
          <p:cNvSpPr/>
          <p:nvPr/>
        </p:nvSpPr>
        <p:spPr>
          <a:xfrm>
            <a:off x="6126480" y="960120"/>
            <a:ext cx="2651760" cy="347472"/>
          </a:xfrm>
          <a:prstGeom prst="rect">
            <a:avLst/>
          </a:prstGeom>
          <a:solidFill>
            <a:srgbClr val="028090"/>
          </a:solidFill>
          <a:ln w="12700">
            <a:solidFill>
              <a:srgbClr val="028090"/>
            </a:solidFill>
            <a:prstDash val="solid"/>
          </a:ln>
        </p:spPr>
      </p:sp>
      <p:sp>
        <p:nvSpPr>
          <p:cNvPr id="17" name="Text 15"/>
          <p:cNvSpPr/>
          <p:nvPr/>
        </p:nvSpPr>
        <p:spPr>
          <a:xfrm>
            <a:off x="6126480" y="960120"/>
            <a:ext cx="26517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Composites</a:t>
            </a:r>
            <a:endParaRPr lang="en-US" sz="1300" dirty="0"/>
          </a:p>
        </p:txBody>
      </p:sp>
      <p:sp>
        <p:nvSpPr>
          <p:cNvPr id="18" name="Text 16"/>
          <p:cNvSpPr/>
          <p:nvPr/>
        </p:nvSpPr>
        <p:spPr>
          <a:xfrm>
            <a:off x="6217920" y="1371600"/>
            <a:ext cx="2468880" cy="1078992"/>
          </a:xfrm>
          <a:prstGeom prst="rect">
            <a:avLst/>
          </a:prstGeom>
          <a:noFill/>
          <a:ln/>
        </p:spPr>
        <p:txBody>
          <a:bodyPr wrap="square" lIns="0" tIns="0" rIns="0" bIns="0" rtlCol="0" anchor="ctr"/>
          <a:lstStyle/>
          <a:p>
            <a:pPr algn="ctr" indent="0" marL="0">
              <a:buNone/>
            </a:pPr>
            <a:r>
              <a:rPr lang="en-US" sz="1000" dirty="0">
                <a:solidFill>
                  <a:srgbClr val="4A6278"/>
                </a:solidFill>
                <a:latin typeface="Calibri" pitchFamily="34" charset="0"/>
                <a:ea typeface="Calibri" pitchFamily="34" charset="-122"/>
                <a:cs typeface="Calibri" pitchFamily="34" charset="-120"/>
              </a:rPr>
              <a:t>Fiber-reinforced laminates &amp; molding compounds</a:t>
            </a:r>
            <a:endParaRPr lang="en-US" sz="1000" dirty="0"/>
          </a:p>
          <a:p>
            <a:pPr algn="ctr" indent="0" marL="0">
              <a:buNone/>
            </a:pPr>
            <a:r>
              <a:rPr lang="en-US" sz="1000" dirty="0">
                <a:solidFill>
                  <a:srgbClr val="4A6278"/>
                </a:solidFill>
                <a:latin typeface="Calibri" pitchFamily="34" charset="0"/>
                <a:ea typeface="Calibri" pitchFamily="34" charset="-122"/>
                <a:cs typeface="Calibri" pitchFamily="34" charset="-120"/>
              </a:rPr>
              <a:t>(Matrix + fiber + Vf + architecture + process)</a:t>
            </a:r>
            <a:endParaRPr lang="en-US" sz="1000" dirty="0"/>
          </a:p>
        </p:txBody>
      </p:sp>
      <p:sp>
        <p:nvSpPr>
          <p:cNvPr id="19" name="Shape 17"/>
          <p:cNvSpPr/>
          <p:nvPr/>
        </p:nvSpPr>
        <p:spPr>
          <a:xfrm>
            <a:off x="365760" y="2697480"/>
            <a:ext cx="8412480" cy="1874520"/>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20" name="Shape 18"/>
          <p:cNvSpPr/>
          <p:nvPr/>
        </p:nvSpPr>
        <p:spPr>
          <a:xfrm>
            <a:off x="365760" y="2697480"/>
            <a:ext cx="45720" cy="1874520"/>
          </a:xfrm>
          <a:prstGeom prst="rect">
            <a:avLst/>
          </a:prstGeom>
          <a:solidFill>
            <a:srgbClr val="02C39A"/>
          </a:solidFill>
          <a:ln w="12700">
            <a:solidFill>
              <a:srgbClr val="02C39A"/>
            </a:solidFill>
            <a:prstDash val="solid"/>
          </a:ln>
        </p:spPr>
      </p:sp>
      <p:sp>
        <p:nvSpPr>
          <p:cNvPr id="21" name="Text 19"/>
          <p:cNvSpPr/>
          <p:nvPr/>
        </p:nvSpPr>
        <p:spPr>
          <a:xfrm>
            <a:off x="548640" y="2788920"/>
            <a:ext cx="8046720" cy="292608"/>
          </a:xfrm>
          <a:prstGeom prst="rect">
            <a:avLst/>
          </a:prstGeom>
          <a:noFill/>
          <a:ln/>
        </p:spPr>
        <p:txBody>
          <a:bodyPr wrap="square" lIns="0" tIns="0" rIns="0" bIns="0" rtlCol="0" anchor="ctr"/>
          <a:lstStyle/>
          <a:p>
            <a:pPr indent="0" marL="0">
              <a:buNone/>
            </a:pPr>
            <a:r>
              <a:rPr lang="en-US" sz="1300" b="1" dirty="0">
                <a:solidFill>
                  <a:srgbClr val="065A82"/>
                </a:solidFill>
                <a:latin typeface="Georgia" pitchFamily="34" charset="0"/>
                <a:ea typeface="Georgia" pitchFamily="34" charset="-122"/>
                <a:cs typeface="Georgia" pitchFamily="34" charset="-120"/>
              </a:rPr>
              <a:t>Property Sections (per material class)</a:t>
            </a:r>
            <a:endParaRPr lang="en-US" sz="1300" dirty="0"/>
          </a:p>
        </p:txBody>
      </p:sp>
      <p:sp>
        <p:nvSpPr>
          <p:cNvPr id="22" name="Shape 20"/>
          <p:cNvSpPr/>
          <p:nvPr/>
        </p:nvSpPr>
        <p:spPr>
          <a:xfrm>
            <a:off x="548640" y="3182112"/>
            <a:ext cx="1572768" cy="384048"/>
          </a:xfrm>
          <a:prstGeom prst="rect">
            <a:avLst/>
          </a:prstGeom>
          <a:solidFill>
            <a:srgbClr val="EEF5FA"/>
          </a:solidFill>
          <a:ln w="12700">
            <a:solidFill>
              <a:srgbClr val="C8DDE8"/>
            </a:solidFill>
            <a:prstDash val="solid"/>
          </a:ln>
        </p:spPr>
      </p:sp>
      <p:sp>
        <p:nvSpPr>
          <p:cNvPr id="23" name="Text 21"/>
          <p:cNvSpPr/>
          <p:nvPr/>
        </p:nvSpPr>
        <p:spPr>
          <a:xfrm>
            <a:off x="548640" y="3182112"/>
            <a:ext cx="1572768" cy="384048"/>
          </a:xfrm>
          <a:prstGeom prst="rect">
            <a:avLst/>
          </a:prstGeom>
          <a:noFill/>
          <a:ln/>
        </p:spPr>
        <p:txBody>
          <a:bodyPr wrap="square" lIns="0" tIns="0" rIns="0" bIns="0" rtlCol="0" anchor="ctr"/>
          <a:lstStyle/>
          <a:p>
            <a:pPr algn="ctr" indent="0" marL="0">
              <a:buNone/>
            </a:pPr>
            <a:r>
              <a:rPr lang="en-US" sz="900" dirty="0">
                <a:solidFill>
                  <a:srgbClr val="1A2E3B"/>
                </a:solidFill>
                <a:latin typeface="Calibri" pitchFamily="34" charset="0"/>
                <a:ea typeface="Calibri" pitchFamily="34" charset="-122"/>
                <a:cs typeface="Calibri" pitchFamily="34" charset="-120"/>
              </a:rPr>
              <a:t>Mechanical</a:t>
            </a:r>
            <a:endParaRPr lang="en-US" sz="900" dirty="0"/>
          </a:p>
        </p:txBody>
      </p:sp>
      <p:sp>
        <p:nvSpPr>
          <p:cNvPr id="24" name="Shape 22"/>
          <p:cNvSpPr/>
          <p:nvPr/>
        </p:nvSpPr>
        <p:spPr>
          <a:xfrm>
            <a:off x="2212848" y="3182112"/>
            <a:ext cx="1572768" cy="384048"/>
          </a:xfrm>
          <a:prstGeom prst="rect">
            <a:avLst/>
          </a:prstGeom>
          <a:solidFill>
            <a:srgbClr val="EEF5FA"/>
          </a:solidFill>
          <a:ln w="12700">
            <a:solidFill>
              <a:srgbClr val="C8DDE8"/>
            </a:solidFill>
            <a:prstDash val="solid"/>
          </a:ln>
        </p:spPr>
      </p:sp>
      <p:sp>
        <p:nvSpPr>
          <p:cNvPr id="25" name="Text 23"/>
          <p:cNvSpPr/>
          <p:nvPr/>
        </p:nvSpPr>
        <p:spPr>
          <a:xfrm>
            <a:off x="2212848" y="3182112"/>
            <a:ext cx="1572768" cy="384048"/>
          </a:xfrm>
          <a:prstGeom prst="rect">
            <a:avLst/>
          </a:prstGeom>
          <a:noFill/>
          <a:ln/>
        </p:spPr>
        <p:txBody>
          <a:bodyPr wrap="square" lIns="0" tIns="0" rIns="0" bIns="0" rtlCol="0" anchor="ctr"/>
          <a:lstStyle/>
          <a:p>
            <a:pPr algn="ctr" indent="0" marL="0">
              <a:buNone/>
            </a:pPr>
            <a:r>
              <a:rPr lang="en-US" sz="900" dirty="0">
                <a:solidFill>
                  <a:srgbClr val="1A2E3B"/>
                </a:solidFill>
                <a:latin typeface="Calibri" pitchFamily="34" charset="0"/>
                <a:ea typeface="Calibri" pitchFamily="34" charset="-122"/>
                <a:cs typeface="Calibri" pitchFamily="34" charset="-120"/>
              </a:rPr>
              <a:t>Thermal</a:t>
            </a:r>
            <a:endParaRPr lang="en-US" sz="900" dirty="0"/>
          </a:p>
        </p:txBody>
      </p:sp>
      <p:sp>
        <p:nvSpPr>
          <p:cNvPr id="26" name="Shape 24"/>
          <p:cNvSpPr/>
          <p:nvPr/>
        </p:nvSpPr>
        <p:spPr>
          <a:xfrm>
            <a:off x="3877056" y="3182112"/>
            <a:ext cx="1572768" cy="384048"/>
          </a:xfrm>
          <a:prstGeom prst="rect">
            <a:avLst/>
          </a:prstGeom>
          <a:solidFill>
            <a:srgbClr val="EEF5FA"/>
          </a:solidFill>
          <a:ln w="12700">
            <a:solidFill>
              <a:srgbClr val="C8DDE8"/>
            </a:solidFill>
            <a:prstDash val="solid"/>
          </a:ln>
        </p:spPr>
      </p:sp>
      <p:sp>
        <p:nvSpPr>
          <p:cNvPr id="27" name="Text 25"/>
          <p:cNvSpPr/>
          <p:nvPr/>
        </p:nvSpPr>
        <p:spPr>
          <a:xfrm>
            <a:off x="3877056" y="3182112"/>
            <a:ext cx="1572768" cy="384048"/>
          </a:xfrm>
          <a:prstGeom prst="rect">
            <a:avLst/>
          </a:prstGeom>
          <a:noFill/>
          <a:ln/>
        </p:spPr>
        <p:txBody>
          <a:bodyPr wrap="square" lIns="0" tIns="0" rIns="0" bIns="0" rtlCol="0" anchor="ctr"/>
          <a:lstStyle/>
          <a:p>
            <a:pPr algn="ctr" indent="0" marL="0">
              <a:buNone/>
            </a:pPr>
            <a:r>
              <a:rPr lang="en-US" sz="900" dirty="0">
                <a:solidFill>
                  <a:srgbClr val="1A2E3B"/>
                </a:solidFill>
                <a:latin typeface="Calibri" pitchFamily="34" charset="0"/>
                <a:ea typeface="Calibri" pitchFamily="34" charset="-122"/>
                <a:cs typeface="Calibri" pitchFamily="34" charset="-120"/>
              </a:rPr>
              <a:t>Electrical</a:t>
            </a:r>
            <a:endParaRPr lang="en-US" sz="900" dirty="0"/>
          </a:p>
        </p:txBody>
      </p:sp>
      <p:sp>
        <p:nvSpPr>
          <p:cNvPr id="28" name="Shape 26"/>
          <p:cNvSpPr/>
          <p:nvPr/>
        </p:nvSpPr>
        <p:spPr>
          <a:xfrm>
            <a:off x="5541264" y="3182112"/>
            <a:ext cx="1572768" cy="384048"/>
          </a:xfrm>
          <a:prstGeom prst="rect">
            <a:avLst/>
          </a:prstGeom>
          <a:solidFill>
            <a:srgbClr val="EEF5FA"/>
          </a:solidFill>
          <a:ln w="12700">
            <a:solidFill>
              <a:srgbClr val="C8DDE8"/>
            </a:solidFill>
            <a:prstDash val="solid"/>
          </a:ln>
        </p:spPr>
      </p:sp>
      <p:sp>
        <p:nvSpPr>
          <p:cNvPr id="29" name="Text 27"/>
          <p:cNvSpPr/>
          <p:nvPr/>
        </p:nvSpPr>
        <p:spPr>
          <a:xfrm>
            <a:off x="5541264" y="3182112"/>
            <a:ext cx="1572768" cy="384048"/>
          </a:xfrm>
          <a:prstGeom prst="rect">
            <a:avLst/>
          </a:prstGeom>
          <a:noFill/>
          <a:ln/>
        </p:spPr>
        <p:txBody>
          <a:bodyPr wrap="square" lIns="0" tIns="0" rIns="0" bIns="0" rtlCol="0" anchor="ctr"/>
          <a:lstStyle/>
          <a:p>
            <a:pPr algn="ctr" indent="0" marL="0">
              <a:buNone/>
            </a:pPr>
            <a:r>
              <a:rPr lang="en-US" sz="900" dirty="0">
                <a:solidFill>
                  <a:srgbClr val="1A2E3B"/>
                </a:solidFill>
                <a:latin typeface="Calibri" pitchFamily="34" charset="0"/>
                <a:ea typeface="Calibri" pitchFamily="34" charset="-122"/>
                <a:cs typeface="Calibri" pitchFamily="34" charset="-120"/>
              </a:rPr>
              <a:t>Physical</a:t>
            </a:r>
            <a:endParaRPr lang="en-US" sz="900" dirty="0"/>
          </a:p>
        </p:txBody>
      </p:sp>
      <p:sp>
        <p:nvSpPr>
          <p:cNvPr id="30" name="Shape 28"/>
          <p:cNvSpPr/>
          <p:nvPr/>
        </p:nvSpPr>
        <p:spPr>
          <a:xfrm>
            <a:off x="7205472" y="3182112"/>
            <a:ext cx="1572768" cy="384048"/>
          </a:xfrm>
          <a:prstGeom prst="rect">
            <a:avLst/>
          </a:prstGeom>
          <a:solidFill>
            <a:srgbClr val="EEF5FA"/>
          </a:solidFill>
          <a:ln w="12700">
            <a:solidFill>
              <a:srgbClr val="C8DDE8"/>
            </a:solidFill>
            <a:prstDash val="solid"/>
          </a:ln>
        </p:spPr>
      </p:sp>
      <p:sp>
        <p:nvSpPr>
          <p:cNvPr id="31" name="Text 29"/>
          <p:cNvSpPr/>
          <p:nvPr/>
        </p:nvSpPr>
        <p:spPr>
          <a:xfrm>
            <a:off x="7205472" y="3182112"/>
            <a:ext cx="1572768" cy="384048"/>
          </a:xfrm>
          <a:prstGeom prst="rect">
            <a:avLst/>
          </a:prstGeom>
          <a:noFill/>
          <a:ln/>
        </p:spPr>
        <p:txBody>
          <a:bodyPr wrap="square" lIns="0" tIns="0" rIns="0" bIns="0" rtlCol="0" anchor="ctr"/>
          <a:lstStyle/>
          <a:p>
            <a:pPr algn="ctr" indent="0" marL="0">
              <a:buNone/>
            </a:pPr>
            <a:r>
              <a:rPr lang="en-US" sz="900" dirty="0">
                <a:solidFill>
                  <a:srgbClr val="1A2E3B"/>
                </a:solidFill>
                <a:latin typeface="Calibri" pitchFamily="34" charset="0"/>
                <a:ea typeface="Calibri" pitchFamily="34" charset="-122"/>
                <a:cs typeface="Calibri" pitchFamily="34" charset="-120"/>
              </a:rPr>
              <a:t>Optical</a:t>
            </a:r>
            <a:endParaRPr lang="en-US" sz="900" dirty="0"/>
          </a:p>
        </p:txBody>
      </p:sp>
      <p:sp>
        <p:nvSpPr>
          <p:cNvPr id="32" name="Shape 30"/>
          <p:cNvSpPr/>
          <p:nvPr/>
        </p:nvSpPr>
        <p:spPr>
          <a:xfrm>
            <a:off x="548640" y="3657600"/>
            <a:ext cx="1572768" cy="384048"/>
          </a:xfrm>
          <a:prstGeom prst="rect">
            <a:avLst/>
          </a:prstGeom>
          <a:solidFill>
            <a:srgbClr val="EEF5FA"/>
          </a:solidFill>
          <a:ln w="12700">
            <a:solidFill>
              <a:srgbClr val="C8DDE8"/>
            </a:solidFill>
            <a:prstDash val="solid"/>
          </a:ln>
        </p:spPr>
      </p:sp>
      <p:sp>
        <p:nvSpPr>
          <p:cNvPr id="33" name="Text 31"/>
          <p:cNvSpPr/>
          <p:nvPr/>
        </p:nvSpPr>
        <p:spPr>
          <a:xfrm>
            <a:off x="548640" y="3657600"/>
            <a:ext cx="1572768" cy="384048"/>
          </a:xfrm>
          <a:prstGeom prst="rect">
            <a:avLst/>
          </a:prstGeom>
          <a:noFill/>
          <a:ln/>
        </p:spPr>
        <p:txBody>
          <a:bodyPr wrap="square" lIns="0" tIns="0" rIns="0" bIns="0" rtlCol="0" anchor="ctr"/>
          <a:lstStyle/>
          <a:p>
            <a:pPr algn="ctr" indent="0" marL="0">
              <a:buNone/>
            </a:pPr>
            <a:r>
              <a:rPr lang="en-US" sz="900" dirty="0">
                <a:solidFill>
                  <a:srgbClr val="1A2E3B"/>
                </a:solidFill>
                <a:latin typeface="Calibri" pitchFamily="34" charset="0"/>
                <a:ea typeface="Calibri" pitchFamily="34" charset="-122"/>
                <a:cs typeface="Calibri" pitchFamily="34" charset="-120"/>
              </a:rPr>
              <a:t>Rheological</a:t>
            </a:r>
            <a:endParaRPr lang="en-US" sz="900" dirty="0"/>
          </a:p>
        </p:txBody>
      </p:sp>
      <p:sp>
        <p:nvSpPr>
          <p:cNvPr id="34" name="Shape 32"/>
          <p:cNvSpPr/>
          <p:nvPr/>
        </p:nvSpPr>
        <p:spPr>
          <a:xfrm>
            <a:off x="2212848" y="3657600"/>
            <a:ext cx="1572768" cy="384048"/>
          </a:xfrm>
          <a:prstGeom prst="rect">
            <a:avLst/>
          </a:prstGeom>
          <a:solidFill>
            <a:srgbClr val="EEF5FA"/>
          </a:solidFill>
          <a:ln w="12700">
            <a:solidFill>
              <a:srgbClr val="C8DDE8"/>
            </a:solidFill>
            <a:prstDash val="solid"/>
          </a:ln>
        </p:spPr>
      </p:sp>
      <p:sp>
        <p:nvSpPr>
          <p:cNvPr id="35" name="Text 33"/>
          <p:cNvSpPr/>
          <p:nvPr/>
        </p:nvSpPr>
        <p:spPr>
          <a:xfrm>
            <a:off x="2212848" y="3657600"/>
            <a:ext cx="1572768" cy="384048"/>
          </a:xfrm>
          <a:prstGeom prst="rect">
            <a:avLst/>
          </a:prstGeom>
          <a:noFill/>
          <a:ln/>
        </p:spPr>
        <p:txBody>
          <a:bodyPr wrap="square" lIns="0" tIns="0" rIns="0" bIns="0" rtlCol="0" anchor="ctr"/>
          <a:lstStyle/>
          <a:p>
            <a:pPr algn="ctr" indent="0" marL="0">
              <a:buNone/>
            </a:pPr>
            <a:r>
              <a:rPr lang="en-US" sz="900" dirty="0">
                <a:solidFill>
                  <a:srgbClr val="1A2E3B"/>
                </a:solidFill>
                <a:latin typeface="Calibri" pitchFamily="34" charset="0"/>
                <a:ea typeface="Calibri" pitchFamily="34" charset="-122"/>
                <a:cs typeface="Calibri" pitchFamily="34" charset="-120"/>
              </a:rPr>
              <a:t>Processing</a:t>
            </a:r>
            <a:endParaRPr lang="en-US" sz="900" dirty="0"/>
          </a:p>
        </p:txBody>
      </p:sp>
      <p:sp>
        <p:nvSpPr>
          <p:cNvPr id="36" name="Shape 34"/>
          <p:cNvSpPr/>
          <p:nvPr/>
        </p:nvSpPr>
        <p:spPr>
          <a:xfrm>
            <a:off x="3877056" y="3657600"/>
            <a:ext cx="1572768" cy="384048"/>
          </a:xfrm>
          <a:prstGeom prst="rect">
            <a:avLst/>
          </a:prstGeom>
          <a:solidFill>
            <a:srgbClr val="EEF5FA"/>
          </a:solidFill>
          <a:ln w="12700">
            <a:solidFill>
              <a:srgbClr val="C8DDE8"/>
            </a:solidFill>
            <a:prstDash val="solid"/>
          </a:ln>
        </p:spPr>
      </p:sp>
      <p:sp>
        <p:nvSpPr>
          <p:cNvPr id="37" name="Text 35"/>
          <p:cNvSpPr/>
          <p:nvPr/>
        </p:nvSpPr>
        <p:spPr>
          <a:xfrm>
            <a:off x="3877056" y="3657600"/>
            <a:ext cx="1572768" cy="384048"/>
          </a:xfrm>
          <a:prstGeom prst="rect">
            <a:avLst/>
          </a:prstGeom>
          <a:noFill/>
          <a:ln/>
        </p:spPr>
        <p:txBody>
          <a:bodyPr wrap="square" lIns="0" tIns="0" rIns="0" bIns="0" rtlCol="0" anchor="ctr"/>
          <a:lstStyle/>
          <a:p>
            <a:pPr algn="ctr" indent="0" marL="0">
              <a:buNone/>
            </a:pPr>
            <a:r>
              <a:rPr lang="en-US" sz="900" dirty="0">
                <a:solidFill>
                  <a:srgbClr val="1A2E3B"/>
                </a:solidFill>
                <a:latin typeface="Calibri" pitchFamily="34" charset="0"/>
                <a:ea typeface="Calibri" pitchFamily="34" charset="-122"/>
                <a:cs typeface="Calibri" pitchFamily="34" charset="-120"/>
              </a:rPr>
              <a:t>Descriptive</a:t>
            </a:r>
            <a:endParaRPr lang="en-US" sz="900" dirty="0"/>
          </a:p>
        </p:txBody>
      </p:sp>
      <p:sp>
        <p:nvSpPr>
          <p:cNvPr id="38" name="Shape 36"/>
          <p:cNvSpPr/>
          <p:nvPr/>
        </p:nvSpPr>
        <p:spPr>
          <a:xfrm>
            <a:off x="5541264" y="3657600"/>
            <a:ext cx="1572768" cy="384048"/>
          </a:xfrm>
          <a:prstGeom prst="rect">
            <a:avLst/>
          </a:prstGeom>
          <a:solidFill>
            <a:srgbClr val="FFF3CD"/>
          </a:solidFill>
          <a:ln w="12700">
            <a:solidFill>
              <a:srgbClr val="F9A825"/>
            </a:solidFill>
            <a:prstDash val="solid"/>
          </a:ln>
        </p:spPr>
      </p:sp>
      <p:sp>
        <p:nvSpPr>
          <p:cNvPr id="39" name="Text 37"/>
          <p:cNvSpPr/>
          <p:nvPr/>
        </p:nvSpPr>
        <p:spPr>
          <a:xfrm>
            <a:off x="5541264" y="3657600"/>
            <a:ext cx="1572768" cy="384048"/>
          </a:xfrm>
          <a:prstGeom prst="rect">
            <a:avLst/>
          </a:prstGeom>
          <a:noFill/>
          <a:ln/>
        </p:spPr>
        <p:txBody>
          <a:bodyPr wrap="square" lIns="0" tIns="0" rIns="0" bIns="0" rtlCol="0" anchor="ctr"/>
          <a:lstStyle/>
          <a:p>
            <a:pPr algn="ctr" indent="0" marL="0">
              <a:buNone/>
            </a:pPr>
            <a:r>
              <a:rPr lang="en-US" sz="900" dirty="0">
                <a:solidFill>
                  <a:srgbClr val="856404"/>
                </a:solidFill>
                <a:latin typeface="Calibri" pitchFamily="34" charset="0"/>
                <a:ea typeface="Calibri" pitchFamily="34" charset="-122"/>
                <a:cs typeface="Calibri" pitchFamily="34" charset="-120"/>
              </a:rPr>
              <a:t>Composition / Reinforcement</a:t>
            </a:r>
            <a:endParaRPr lang="en-US" sz="900" dirty="0"/>
          </a:p>
        </p:txBody>
      </p:sp>
      <p:sp>
        <p:nvSpPr>
          <p:cNvPr id="40" name="Shape 38"/>
          <p:cNvSpPr/>
          <p:nvPr/>
        </p:nvSpPr>
        <p:spPr>
          <a:xfrm>
            <a:off x="7205472" y="3657600"/>
            <a:ext cx="1572768" cy="384048"/>
          </a:xfrm>
          <a:prstGeom prst="rect">
            <a:avLst/>
          </a:prstGeom>
          <a:solidFill>
            <a:srgbClr val="FFF3CD"/>
          </a:solidFill>
          <a:ln w="12700">
            <a:solidFill>
              <a:srgbClr val="F9A825"/>
            </a:solidFill>
            <a:prstDash val="solid"/>
          </a:ln>
        </p:spPr>
      </p:sp>
      <p:sp>
        <p:nvSpPr>
          <p:cNvPr id="41" name="Text 39"/>
          <p:cNvSpPr/>
          <p:nvPr/>
        </p:nvSpPr>
        <p:spPr>
          <a:xfrm>
            <a:off x="7205472" y="3657600"/>
            <a:ext cx="1572768" cy="384048"/>
          </a:xfrm>
          <a:prstGeom prst="rect">
            <a:avLst/>
          </a:prstGeom>
          <a:noFill/>
          <a:ln/>
        </p:spPr>
        <p:txBody>
          <a:bodyPr wrap="square" lIns="0" tIns="0" rIns="0" bIns="0" rtlCol="0" anchor="ctr"/>
          <a:lstStyle/>
          <a:p>
            <a:pPr algn="ctr" indent="0" marL="0">
              <a:buNone/>
            </a:pPr>
            <a:r>
              <a:rPr lang="en-US" sz="900" dirty="0">
                <a:solidFill>
                  <a:srgbClr val="856404"/>
                </a:solidFill>
                <a:latin typeface="Calibri" pitchFamily="34" charset="0"/>
                <a:ea typeface="Calibri" pitchFamily="34" charset="-122"/>
                <a:cs typeface="Calibri" pitchFamily="34" charset="-120"/>
              </a:rPr>
              <a:t>Architecture / Structure</a:t>
            </a:r>
            <a:endParaRPr lang="en-US" sz="900" dirty="0"/>
          </a:p>
        </p:txBody>
      </p:sp>
      <p:sp>
        <p:nvSpPr>
          <p:cNvPr id="42" name="Text 40"/>
          <p:cNvSpPr/>
          <p:nvPr/>
        </p:nvSpPr>
        <p:spPr>
          <a:xfrm>
            <a:off x="6858000" y="4462272"/>
            <a:ext cx="1828800" cy="201168"/>
          </a:xfrm>
          <a:prstGeom prst="rect">
            <a:avLst/>
          </a:prstGeom>
          <a:noFill/>
          <a:ln/>
        </p:spPr>
        <p:txBody>
          <a:bodyPr wrap="square" lIns="0" tIns="0" rIns="0" bIns="0" rtlCol="0" anchor="ctr"/>
          <a:lstStyle/>
          <a:p>
            <a:pPr indent="0" marL="0">
              <a:buNone/>
            </a:pPr>
            <a:r>
              <a:rPr lang="en-US" sz="800" dirty="0">
                <a:solidFill>
                  <a:srgbClr val="7F9BAD"/>
                </a:solidFill>
                <a:latin typeface="Calibri" pitchFamily="34" charset="0"/>
                <a:ea typeface="Calibri" pitchFamily="34" charset="-122"/>
                <a:cs typeface="Calibri" pitchFamily="34" charset="-120"/>
              </a:rPr>
              <a:t>* Composites only</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21B2E"/>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F9A825"/>
          </a:solidFill>
          <a:ln w="12700">
            <a:solidFill>
              <a:srgbClr val="F9A825"/>
            </a:solidFill>
            <a:prstDash val="solid"/>
          </a:ln>
        </p:spPr>
      </p:sp>
      <p:sp>
        <p:nvSpPr>
          <p:cNvPr id="3" name="Shape 1"/>
          <p:cNvSpPr/>
          <p:nvPr/>
        </p:nvSpPr>
        <p:spPr>
          <a:xfrm>
            <a:off x="201168" y="0"/>
            <a:ext cx="91440" cy="5143500"/>
          </a:xfrm>
          <a:prstGeom prst="rect">
            <a:avLst/>
          </a:prstGeom>
          <a:solidFill>
            <a:srgbClr val="B8860B"/>
          </a:solidFill>
          <a:ln w="12700">
            <a:solidFill>
              <a:srgbClr val="B8860B"/>
            </a:solidFill>
            <a:prstDash val="solid"/>
          </a:ln>
        </p:spPr>
      </p:sp>
      <p:sp>
        <p:nvSpPr>
          <p:cNvPr id="4" name="Shape 2"/>
          <p:cNvSpPr/>
          <p:nvPr/>
        </p:nvSpPr>
        <p:spPr>
          <a:xfrm>
            <a:off x="502920" y="822960"/>
            <a:ext cx="2011680" cy="384048"/>
          </a:xfrm>
          <a:prstGeom prst="rect">
            <a:avLst/>
          </a:prstGeom>
          <a:solidFill>
            <a:srgbClr val="F9A825"/>
          </a:solidFill>
          <a:ln w="12700">
            <a:solidFill>
              <a:srgbClr val="F9A825"/>
            </a:solidFill>
            <a:prstDash val="solid"/>
          </a:ln>
        </p:spPr>
      </p:sp>
      <p:sp>
        <p:nvSpPr>
          <p:cNvPr id="5" name="Text 3"/>
          <p:cNvSpPr/>
          <p:nvPr/>
        </p:nvSpPr>
        <p:spPr>
          <a:xfrm>
            <a:off x="502920" y="822960"/>
            <a:ext cx="2011680" cy="384048"/>
          </a:xfrm>
          <a:prstGeom prst="rect">
            <a:avLst/>
          </a:prstGeom>
          <a:noFill/>
          <a:ln/>
        </p:spPr>
        <p:txBody>
          <a:bodyPr wrap="square" lIns="0" tIns="0" rIns="0" bIns="0" rtlCol="0" anchor="ctr"/>
          <a:lstStyle/>
          <a:p>
            <a:pPr algn="ctr" indent="0" marL="0">
              <a:buNone/>
            </a:pPr>
            <a:r>
              <a:rPr lang="en-US" sz="1300" b="1" dirty="0">
                <a:solidFill>
                  <a:srgbClr val="021B2E"/>
                </a:solidFill>
                <a:latin typeface="Calibri" pitchFamily="34" charset="0"/>
                <a:ea typeface="Calibri" pitchFamily="34" charset="-122"/>
                <a:cs typeface="Calibri" pitchFamily="34" charset="-120"/>
              </a:rPr>
              <a:t>&gt;&gt; LIVE DEMO</a:t>
            </a:r>
            <a:endParaRPr lang="en-US" sz="1300" dirty="0"/>
          </a:p>
        </p:txBody>
      </p:sp>
      <p:sp>
        <p:nvSpPr>
          <p:cNvPr id="6" name="Text 4"/>
          <p:cNvSpPr/>
          <p:nvPr/>
        </p:nvSpPr>
        <p:spPr>
          <a:xfrm>
            <a:off x="502920" y="1298448"/>
            <a:ext cx="6400800" cy="1645920"/>
          </a:xfrm>
          <a:prstGeom prst="rect">
            <a:avLst/>
          </a:prstGeom>
          <a:noFill/>
          <a:ln/>
        </p:spPr>
        <p:txBody>
          <a:bodyPr wrap="square" rtlCol="0" anchor="t"/>
          <a:lstStyle/>
          <a:p>
            <a:pPr indent="0" marL="0">
              <a:buNone/>
            </a:pPr>
            <a:r>
              <a:rPr lang="en-US" sz="4000" b="1" dirty="0">
                <a:solidFill>
                  <a:srgbClr val="FFFFFF"/>
                </a:solidFill>
                <a:latin typeface="Georgia" pitchFamily="34" charset="0"/>
                <a:ea typeface="Georgia" pitchFamily="34" charset="-122"/>
                <a:cs typeface="Georgia" pitchFamily="34" charset="-120"/>
              </a:rPr>
              <a:t>AIM Composites</a:t>
            </a:r>
            <a:endParaRPr lang="en-US" sz="4000" dirty="0"/>
          </a:p>
          <a:p>
            <a:pPr indent="0" marL="0">
              <a:buNone/>
            </a:pPr>
            <a:r>
              <a:rPr lang="en-US" sz="4000" b="1" dirty="0">
                <a:solidFill>
                  <a:srgbClr val="FFFFFF"/>
                </a:solidFill>
                <a:latin typeface="Georgia" pitchFamily="34" charset="0"/>
                <a:ea typeface="Georgia" pitchFamily="34" charset="-122"/>
                <a:cs typeface="Georgia" pitchFamily="34" charset="-120"/>
              </a:rPr>
              <a:t>Materials Database</a:t>
            </a:r>
            <a:endParaRPr lang="en-US" sz="4000" dirty="0"/>
          </a:p>
        </p:txBody>
      </p:sp>
      <p:sp>
        <p:nvSpPr>
          <p:cNvPr id="7" name="Text 5"/>
          <p:cNvSpPr/>
          <p:nvPr/>
        </p:nvSpPr>
        <p:spPr>
          <a:xfrm>
            <a:off x="502920" y="2971800"/>
            <a:ext cx="7772400" cy="347472"/>
          </a:xfrm>
          <a:prstGeom prst="rect">
            <a:avLst/>
          </a:prstGeom>
          <a:noFill/>
          <a:ln/>
        </p:spPr>
        <p:txBody>
          <a:bodyPr wrap="square" lIns="0" tIns="0" rIns="0" bIns="0" rtlCol="0" anchor="ctr"/>
          <a:lstStyle/>
          <a:p>
            <a:pPr indent="0" marL="0">
              <a:buNone/>
            </a:pPr>
            <a:r>
              <a:rPr lang="en-US" sz="1300" dirty="0">
                <a:solidFill>
                  <a:srgbClr val="F9A825"/>
                </a:solidFill>
                <a:latin typeface="Calibri" pitchFamily="34" charset="0"/>
                <a:ea typeface="Calibri" pitchFamily="34" charset="-122"/>
                <a:cs typeface="Calibri" pitchFamily="34" charset="-120"/>
              </a:rPr>
              <a:t>huggingface.co/spaces/aim4composites/MaterialsDatabase</a:t>
            </a:r>
            <a:endParaRPr lang="en-US" sz="1300" dirty="0"/>
          </a:p>
        </p:txBody>
      </p:sp>
      <p:sp>
        <p:nvSpPr>
          <p:cNvPr id="8" name="Shape 6"/>
          <p:cNvSpPr/>
          <p:nvPr/>
        </p:nvSpPr>
        <p:spPr>
          <a:xfrm>
            <a:off x="502920" y="3383280"/>
            <a:ext cx="6858000" cy="36576"/>
          </a:xfrm>
          <a:prstGeom prst="rect">
            <a:avLst/>
          </a:prstGeom>
          <a:solidFill>
            <a:srgbClr val="B8860B"/>
          </a:solidFill>
          <a:ln w="12700">
            <a:solidFill>
              <a:srgbClr val="B8860B"/>
            </a:solidFill>
            <a:prstDash val="solid"/>
          </a:ln>
        </p:spPr>
      </p:sp>
      <p:sp>
        <p:nvSpPr>
          <p:cNvPr id="9" name="Text 7"/>
          <p:cNvSpPr/>
          <p:nvPr/>
        </p:nvSpPr>
        <p:spPr>
          <a:xfrm>
            <a:off x="502920" y="3520440"/>
            <a:ext cx="7772400" cy="274320"/>
          </a:xfrm>
          <a:prstGeom prst="rect">
            <a:avLst/>
          </a:prstGeom>
          <a:noFill/>
          <a:ln/>
        </p:spPr>
        <p:txBody>
          <a:bodyPr wrap="square" lIns="0" tIns="0" rIns="0" bIns="0" rtlCol="0" anchor="ctr"/>
          <a:lstStyle/>
          <a:p>
            <a:pPr indent="0" marL="0">
              <a:buNone/>
            </a:pPr>
            <a:r>
              <a:rPr lang="en-US" sz="1100" dirty="0">
                <a:solidFill>
                  <a:srgbClr val="9EC8E0"/>
                </a:solidFill>
                <a:latin typeface="Calibri" pitchFamily="34" charset="0"/>
                <a:ea typeface="Calibri" pitchFamily="34" charset="-122"/>
                <a:cs typeface="Calibri" pitchFamily="34" charset="-120"/>
              </a:rPr>
              <a:t>1   Browse polymers -&gt; inspect PEEK properties</a:t>
            </a:r>
            <a:endParaRPr lang="en-US" sz="1100" dirty="0"/>
          </a:p>
        </p:txBody>
      </p:sp>
      <p:sp>
        <p:nvSpPr>
          <p:cNvPr id="10" name="Text 8"/>
          <p:cNvSpPr/>
          <p:nvPr/>
        </p:nvSpPr>
        <p:spPr>
          <a:xfrm>
            <a:off x="502920" y="3822192"/>
            <a:ext cx="7772400" cy="274320"/>
          </a:xfrm>
          <a:prstGeom prst="rect">
            <a:avLst/>
          </a:prstGeom>
          <a:noFill/>
          <a:ln/>
        </p:spPr>
        <p:txBody>
          <a:bodyPr wrap="square" lIns="0" tIns="0" rIns="0" bIns="0" rtlCol="0" anchor="ctr"/>
          <a:lstStyle/>
          <a:p>
            <a:pPr indent="0" marL="0">
              <a:buNone/>
            </a:pPr>
            <a:r>
              <a:rPr lang="en-US" sz="1100" dirty="0">
                <a:solidFill>
                  <a:srgbClr val="9EC8E0"/>
                </a:solidFill>
                <a:latin typeface="Calibri" pitchFamily="34" charset="0"/>
                <a:ea typeface="Calibri" pitchFamily="34" charset="-122"/>
                <a:cs typeface="Calibri" pitchFamily="34" charset="-120"/>
              </a:rPr>
              <a:t>2   Upload a PDF datasheet -&gt; review Gemini extraction</a:t>
            </a:r>
            <a:endParaRPr lang="en-US" sz="1100" dirty="0"/>
          </a:p>
        </p:txBody>
      </p:sp>
      <p:sp>
        <p:nvSpPr>
          <p:cNvPr id="11" name="Text 9"/>
          <p:cNvSpPr/>
          <p:nvPr/>
        </p:nvSpPr>
        <p:spPr>
          <a:xfrm>
            <a:off x="502920" y="4123944"/>
            <a:ext cx="7772400" cy="274320"/>
          </a:xfrm>
          <a:prstGeom prst="rect">
            <a:avLst/>
          </a:prstGeom>
          <a:noFill/>
          <a:ln/>
        </p:spPr>
        <p:txBody>
          <a:bodyPr wrap="square" lIns="0" tIns="0" rIns="0" bIns="0" rtlCol="0" anchor="ctr"/>
          <a:lstStyle/>
          <a:p>
            <a:pPr indent="0" marL="0">
              <a:buNone/>
            </a:pPr>
            <a:r>
              <a:rPr lang="en-US" sz="1100" dirty="0">
                <a:solidFill>
                  <a:srgbClr val="9EC8E0"/>
                </a:solidFill>
                <a:latin typeface="Calibri" pitchFamily="34" charset="0"/>
                <a:ea typeface="Calibri" pitchFamily="34" charset="-122"/>
                <a:cs typeface="Calibri" pitchFamily="34" charset="-120"/>
              </a:rPr>
              <a:t>3   Map a figure to a property row</a:t>
            </a:r>
            <a:endParaRPr lang="en-US" sz="1100" dirty="0"/>
          </a:p>
        </p:txBody>
      </p:sp>
      <p:sp>
        <p:nvSpPr>
          <p:cNvPr id="12" name="Text 10"/>
          <p:cNvSpPr/>
          <p:nvPr/>
        </p:nvSpPr>
        <p:spPr>
          <a:xfrm>
            <a:off x="502920" y="4425696"/>
            <a:ext cx="7772400" cy="274320"/>
          </a:xfrm>
          <a:prstGeom prst="rect">
            <a:avLst/>
          </a:prstGeom>
          <a:noFill/>
          <a:ln/>
        </p:spPr>
        <p:txBody>
          <a:bodyPr wrap="square" lIns="0" tIns="0" rIns="0" bIns="0" rtlCol="0" anchor="ctr"/>
          <a:lstStyle/>
          <a:p>
            <a:pPr indent="0" marL="0">
              <a:buNone/>
            </a:pPr>
            <a:r>
              <a:rPr lang="en-US" sz="1100" dirty="0">
                <a:solidFill>
                  <a:srgbClr val="9EC8E0"/>
                </a:solidFill>
                <a:latin typeface="Calibri" pitchFamily="34" charset="0"/>
                <a:ea typeface="Calibri" pitchFamily="34" charset="-122"/>
                <a:cs typeface="Calibri" pitchFamily="34" charset="-120"/>
              </a:rPr>
              <a:t>4   Run batch_ingest.py on a test corpus</a:t>
            </a:r>
            <a:endParaRPr lang="en-US" sz="1100" dirty="0"/>
          </a:p>
        </p:txBody>
      </p:sp>
      <p:sp>
        <p:nvSpPr>
          <p:cNvPr id="13" name="Shape 11"/>
          <p:cNvSpPr/>
          <p:nvPr/>
        </p:nvSpPr>
        <p:spPr>
          <a:xfrm>
            <a:off x="0" y="4887468"/>
            <a:ext cx="9144000" cy="256032"/>
          </a:xfrm>
          <a:prstGeom prst="rect">
            <a:avLst/>
          </a:prstGeom>
          <a:solidFill>
            <a:srgbClr val="1C7293"/>
          </a:solidFill>
          <a:ln w="12700">
            <a:solidFill>
              <a:srgbClr val="1C7293"/>
            </a:solidFill>
            <a:prstDash val="solid"/>
          </a:ln>
        </p:spPr>
      </p:sp>
      <p:sp>
        <p:nvSpPr>
          <p:cNvPr id="14" name="Text 12"/>
          <p:cNvSpPr/>
          <p:nvPr/>
        </p:nvSpPr>
        <p:spPr>
          <a:xfrm>
            <a:off x="274320" y="4905756"/>
            <a:ext cx="5486400" cy="219456"/>
          </a:xfrm>
          <a:prstGeom prst="rect">
            <a:avLst/>
          </a:prstGeom>
          <a:noFill/>
          <a:ln/>
        </p:spPr>
        <p:txBody>
          <a:bodyPr wrap="square" lIns="0" tIns="0" rIns="0" bIns="0" rtlCol="0" anchor="ctr"/>
          <a:lstStyle/>
          <a:p>
            <a:pPr indent="0" marL="0">
              <a:buNone/>
            </a:pPr>
            <a:r>
              <a:rPr lang="en-US" sz="800" dirty="0">
                <a:solidFill>
                  <a:srgbClr val="CCEEFF"/>
                </a:solidFill>
                <a:latin typeface="Calibri" pitchFamily="34" charset="0"/>
                <a:ea typeface="Calibri" pitchFamily="34" charset="-122"/>
                <a:cs typeface="Calibri" pitchFamily="34" charset="-120"/>
              </a:rPr>
              <a:t>Mathias Heider  |  ME8930 Course Project  |  May 2026</a:t>
            </a:r>
            <a:endParaRPr lang="en-US" sz="800" dirty="0"/>
          </a:p>
        </p:txBody>
      </p:sp>
      <p:sp>
        <p:nvSpPr>
          <p:cNvPr id="15" name="Text 13"/>
          <p:cNvSpPr/>
          <p:nvPr/>
        </p:nvSpPr>
        <p:spPr>
          <a:xfrm>
            <a:off x="6858000" y="4905756"/>
            <a:ext cx="2011680" cy="219456"/>
          </a:xfrm>
          <a:prstGeom prst="rect">
            <a:avLst/>
          </a:prstGeom>
          <a:noFill/>
          <a:ln/>
        </p:spPr>
        <p:txBody>
          <a:bodyPr wrap="square" lIns="0" tIns="0" rIns="0" bIns="0" rtlCol="0" anchor="ctr"/>
          <a:lstStyle/>
          <a:p>
            <a:pPr algn="r" indent="0" marL="0">
              <a:buNone/>
            </a:pPr>
            <a:r>
              <a:rPr lang="en-US" sz="800" dirty="0">
                <a:solidFill>
                  <a:srgbClr val="CCEEFF"/>
                </a:solidFill>
                <a:latin typeface="Calibri" pitchFamily="34" charset="0"/>
                <a:ea typeface="Calibri" pitchFamily="34" charset="-122"/>
                <a:cs typeface="Calibri" pitchFamily="34" charset="-120"/>
              </a:rPr>
              <a:t>7 / LIVE DEMO (~7 min)</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F5FA"/>
        </a:solidFill>
      </p:bgPr>
    </p:bg>
    <p:spTree>
      <p:nvGrpSpPr>
        <p:cNvPr id="1" name=""/>
        <p:cNvGrpSpPr/>
        <p:nvPr/>
      </p:nvGrpSpPr>
      <p:grpSpPr>
        <a:xfrm>
          <a:off x="0" y="0"/>
          <a:ext cx="0" cy="0"/>
          <a:chOff x="0" y="0"/>
          <a:chExt cx="0" cy="0"/>
        </a:xfrm>
      </p:grpSpPr>
      <p:sp>
        <p:nvSpPr>
          <p:cNvPr id="2" name="Shape 0"/>
          <p:cNvSpPr/>
          <p:nvPr/>
        </p:nvSpPr>
        <p:spPr>
          <a:xfrm>
            <a:off x="365760" y="256032"/>
            <a:ext cx="64008" cy="438912"/>
          </a:xfrm>
          <a:prstGeom prst="rect">
            <a:avLst/>
          </a:prstGeom>
          <a:solidFill>
            <a:srgbClr val="02C39A"/>
          </a:solidFill>
          <a:ln w="12700">
            <a:solidFill>
              <a:srgbClr val="02C39A"/>
            </a:solidFill>
            <a:prstDash val="solid"/>
          </a:ln>
        </p:spPr>
      </p:sp>
      <p:sp>
        <p:nvSpPr>
          <p:cNvPr id="3" name="Text 1"/>
          <p:cNvSpPr/>
          <p:nvPr/>
        </p:nvSpPr>
        <p:spPr>
          <a:xfrm>
            <a:off x="502920" y="201168"/>
            <a:ext cx="8321040" cy="548640"/>
          </a:xfrm>
          <a:prstGeom prst="rect">
            <a:avLst/>
          </a:prstGeom>
          <a:noFill/>
          <a:ln/>
        </p:spPr>
        <p:txBody>
          <a:bodyPr wrap="square" lIns="0" tIns="0" rIns="0" bIns="0" rtlCol="0" anchor="ctr"/>
          <a:lstStyle/>
          <a:p>
            <a:pPr indent="0" marL="0">
              <a:buNone/>
            </a:pPr>
            <a:r>
              <a:rPr lang="en-US" sz="2600" b="1" dirty="0">
                <a:solidFill>
                  <a:srgbClr val="065A82"/>
                </a:solidFill>
                <a:latin typeface="Georgia" pitchFamily="34" charset="0"/>
                <a:ea typeface="Georgia" pitchFamily="34" charset="-122"/>
                <a:cs typeface="Georgia" pitchFamily="34" charset="-120"/>
              </a:rPr>
              <a:t>Closing the Loop -- Toward Autonomous Ingestion</a:t>
            </a:r>
            <a:endParaRPr lang="en-US" sz="2600" dirty="0"/>
          </a:p>
        </p:txBody>
      </p:sp>
      <p:sp>
        <p:nvSpPr>
          <p:cNvPr id="4" name="Shape 2"/>
          <p:cNvSpPr/>
          <p:nvPr/>
        </p:nvSpPr>
        <p:spPr>
          <a:xfrm>
            <a:off x="0" y="4887468"/>
            <a:ext cx="9144000" cy="256032"/>
          </a:xfrm>
          <a:prstGeom prst="rect">
            <a:avLst/>
          </a:prstGeom>
          <a:solidFill>
            <a:srgbClr val="1C7293"/>
          </a:solidFill>
          <a:ln w="12700">
            <a:solidFill>
              <a:srgbClr val="1C7293"/>
            </a:solidFill>
            <a:prstDash val="solid"/>
          </a:ln>
        </p:spPr>
      </p:sp>
      <p:sp>
        <p:nvSpPr>
          <p:cNvPr id="5" name="Text 3"/>
          <p:cNvSpPr/>
          <p:nvPr/>
        </p:nvSpPr>
        <p:spPr>
          <a:xfrm>
            <a:off x="274320" y="4905756"/>
            <a:ext cx="5486400" cy="219456"/>
          </a:xfrm>
          <a:prstGeom prst="rect">
            <a:avLst/>
          </a:prstGeom>
          <a:noFill/>
          <a:ln/>
        </p:spPr>
        <p:txBody>
          <a:bodyPr wrap="square" lIns="0" tIns="0" rIns="0" bIns="0" rtlCol="0" anchor="ctr"/>
          <a:lstStyle/>
          <a:p>
            <a:pPr indent="0" marL="0">
              <a:buNone/>
            </a:pPr>
            <a:r>
              <a:rPr lang="en-US" sz="800" dirty="0">
                <a:solidFill>
                  <a:srgbClr val="CCEEFF"/>
                </a:solidFill>
                <a:latin typeface="Calibri" pitchFamily="34" charset="0"/>
                <a:ea typeface="Calibri" pitchFamily="34" charset="-122"/>
                <a:cs typeface="Calibri" pitchFamily="34" charset="-120"/>
              </a:rPr>
              <a:t>Mathias Heider  |  ME8930 Course Project  |  May 2026</a:t>
            </a:r>
            <a:endParaRPr lang="en-US" sz="800" dirty="0"/>
          </a:p>
        </p:txBody>
      </p:sp>
      <p:sp>
        <p:nvSpPr>
          <p:cNvPr id="6" name="Text 4"/>
          <p:cNvSpPr/>
          <p:nvPr/>
        </p:nvSpPr>
        <p:spPr>
          <a:xfrm>
            <a:off x="6858000" y="4905756"/>
            <a:ext cx="2011680" cy="219456"/>
          </a:xfrm>
          <a:prstGeom prst="rect">
            <a:avLst/>
          </a:prstGeom>
          <a:noFill/>
          <a:ln/>
        </p:spPr>
        <p:txBody>
          <a:bodyPr wrap="square" lIns="0" tIns="0" rIns="0" bIns="0" rtlCol="0" anchor="ctr"/>
          <a:lstStyle/>
          <a:p>
            <a:pPr algn="r" indent="0" marL="0">
              <a:buNone/>
            </a:pPr>
            <a:r>
              <a:rPr lang="en-US" sz="800" dirty="0">
                <a:solidFill>
                  <a:srgbClr val="CCEEFF"/>
                </a:solidFill>
                <a:latin typeface="Calibri" pitchFamily="34" charset="0"/>
                <a:ea typeface="Calibri" pitchFamily="34" charset="-122"/>
                <a:cs typeface="Calibri" pitchFamily="34" charset="-120"/>
              </a:rPr>
              <a:t>8 / Autonomous Ingestion</a:t>
            </a:r>
            <a:endParaRPr lang="en-US" sz="800" dirty="0"/>
          </a:p>
        </p:txBody>
      </p:sp>
      <p:sp>
        <p:nvSpPr>
          <p:cNvPr id="7" name="Shape 5"/>
          <p:cNvSpPr/>
          <p:nvPr/>
        </p:nvSpPr>
        <p:spPr>
          <a:xfrm>
            <a:off x="365760" y="987552"/>
            <a:ext cx="1920240" cy="2926080"/>
          </a:xfrm>
          <a:prstGeom prst="rect">
            <a:avLst/>
          </a:prstGeom>
          <a:solidFill>
            <a:srgbClr val="FFF8E1"/>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8" name="Shape 6"/>
          <p:cNvSpPr/>
          <p:nvPr/>
        </p:nvSpPr>
        <p:spPr>
          <a:xfrm>
            <a:off x="365760" y="987552"/>
            <a:ext cx="1920240" cy="457200"/>
          </a:xfrm>
          <a:prstGeom prst="rect">
            <a:avLst/>
          </a:prstGeom>
          <a:solidFill>
            <a:srgbClr val="065A82"/>
          </a:solidFill>
          <a:ln w="12700">
            <a:solidFill>
              <a:srgbClr val="065A82"/>
            </a:solidFill>
            <a:prstDash val="solid"/>
          </a:ln>
        </p:spPr>
      </p:sp>
      <p:sp>
        <p:nvSpPr>
          <p:cNvPr id="9" name="Text 7"/>
          <p:cNvSpPr/>
          <p:nvPr/>
        </p:nvSpPr>
        <p:spPr>
          <a:xfrm>
            <a:off x="365760" y="987552"/>
            <a:ext cx="1920240" cy="457200"/>
          </a:xfrm>
          <a:prstGeom prst="rect">
            <a:avLst/>
          </a:prstGeom>
          <a:noFill/>
          <a:ln/>
        </p:spPr>
        <p:txBody>
          <a:bodyPr wrap="square" lIns="0" tIns="0" rIns="0" bIns="0" rtlCol="0" anchor="ctr"/>
          <a:lstStyle/>
          <a:p>
            <a:pPr algn="ctr" indent="0" marL="0">
              <a:buNone/>
            </a:pPr>
            <a:r>
              <a:rPr lang="en-US" sz="2200" b="1" dirty="0">
                <a:solidFill>
                  <a:srgbClr val="F9A825"/>
                </a:solidFill>
                <a:latin typeface="Georgia" pitchFamily="34" charset="0"/>
                <a:ea typeface="Georgia" pitchFamily="34" charset="-122"/>
                <a:cs typeface="Georgia" pitchFamily="34" charset="-120"/>
              </a:rPr>
              <a:t>1</a:t>
            </a:r>
            <a:endParaRPr lang="en-US" sz="2200" dirty="0"/>
          </a:p>
        </p:txBody>
      </p:sp>
      <p:sp>
        <p:nvSpPr>
          <p:cNvPr id="10" name="Text 8"/>
          <p:cNvSpPr/>
          <p:nvPr/>
        </p:nvSpPr>
        <p:spPr>
          <a:xfrm>
            <a:off x="438912" y="1499616"/>
            <a:ext cx="1773936" cy="347472"/>
          </a:xfrm>
          <a:prstGeom prst="rect">
            <a:avLst/>
          </a:prstGeom>
          <a:noFill/>
          <a:ln/>
        </p:spPr>
        <p:txBody>
          <a:bodyPr wrap="square" lIns="0" tIns="0" rIns="0" bIns="0" rtlCol="0" anchor="ctr"/>
          <a:lstStyle/>
          <a:p>
            <a:pPr algn="ctr" indent="0" marL="0">
              <a:buNone/>
            </a:pPr>
            <a:r>
              <a:rPr lang="en-US" sz="1200" b="1" dirty="0">
                <a:solidFill>
                  <a:srgbClr val="1A2E3B"/>
                </a:solidFill>
                <a:latin typeface="Calibri" pitchFamily="34" charset="0"/>
                <a:ea typeface="Calibri" pitchFamily="34" charset="-122"/>
                <a:cs typeface="Calibri" pitchFamily="34" charset="-120"/>
              </a:rPr>
              <a:t>DISCOVER</a:t>
            </a:r>
            <a:endParaRPr lang="en-US" sz="1200" dirty="0"/>
          </a:p>
        </p:txBody>
      </p:sp>
      <p:sp>
        <p:nvSpPr>
          <p:cNvPr id="11" name="Text 9"/>
          <p:cNvSpPr/>
          <p:nvPr/>
        </p:nvSpPr>
        <p:spPr>
          <a:xfrm>
            <a:off x="438912" y="1901952"/>
            <a:ext cx="1773936" cy="1481328"/>
          </a:xfrm>
          <a:prstGeom prst="rect">
            <a:avLst/>
          </a:prstGeom>
          <a:noFill/>
          <a:ln/>
        </p:spPr>
        <p:txBody>
          <a:bodyPr wrap="square" lIns="0" tIns="0" rIns="0" bIns="0" rtlCol="0" anchor="t"/>
          <a:lstStyle/>
          <a:p>
            <a:pPr algn="ctr" indent="0" marL="0">
              <a:buNone/>
            </a:pPr>
            <a:r>
              <a:rPr lang="en-US" sz="1000" dirty="0">
                <a:solidFill>
                  <a:srgbClr val="4A6278"/>
                </a:solidFill>
                <a:latin typeface="Calibri" pitchFamily="34" charset="0"/>
                <a:ea typeface="Calibri" pitchFamily="34" charset="-122"/>
                <a:cs typeface="Calibri" pitchFamily="34" charset="-120"/>
              </a:rPr>
              <a:t>Semantic Scholar</a:t>
            </a:r>
            <a:endParaRPr lang="en-US" sz="1000" dirty="0"/>
          </a:p>
          <a:p>
            <a:pPr algn="ctr" indent="0" marL="0">
              <a:buNone/>
            </a:pPr>
            <a:r>
              <a:rPr lang="en-US" sz="1000" dirty="0">
                <a:solidFill>
                  <a:srgbClr val="4A6278"/>
                </a:solidFill>
                <a:latin typeface="Calibri" pitchFamily="34" charset="0"/>
                <a:ea typeface="Calibri" pitchFamily="34" charset="-122"/>
                <a:cs typeface="Calibri" pitchFamily="34" charset="-120"/>
              </a:rPr>
              <a:t>OpenAlex | arXiv</a:t>
            </a:r>
            <a:endParaRPr lang="en-US" sz="1000" dirty="0"/>
          </a:p>
          <a:p>
            <a:pPr algn="ctr" indent="0" marL="0">
              <a:buNone/>
            </a:pPr>
            <a:r>
              <a:rPr lang="en-US" sz="1000" dirty="0">
                <a:solidFill>
                  <a:srgbClr val="4A6278"/>
                </a:solidFill>
                <a:latin typeface="Calibri" pitchFamily="34" charset="0"/>
                <a:ea typeface="Calibri" pitchFamily="34" charset="-122"/>
                <a:cs typeface="Calibri" pitchFamily="34" charset="-120"/>
              </a:rPr>
              <a:t>Relevance ranking + download</a:t>
            </a:r>
            <a:endParaRPr lang="en-US" sz="1000" dirty="0"/>
          </a:p>
        </p:txBody>
      </p:sp>
      <p:sp>
        <p:nvSpPr>
          <p:cNvPr id="12" name="Text 10"/>
          <p:cNvSpPr/>
          <p:nvPr/>
        </p:nvSpPr>
        <p:spPr>
          <a:xfrm>
            <a:off x="438912" y="3584448"/>
            <a:ext cx="1773936" cy="274320"/>
          </a:xfrm>
          <a:prstGeom prst="rect">
            <a:avLst/>
          </a:prstGeom>
          <a:noFill/>
          <a:ln/>
        </p:spPr>
        <p:txBody>
          <a:bodyPr wrap="square" lIns="0" tIns="0" rIns="0" bIns="0" rtlCol="0" anchor="ctr"/>
          <a:lstStyle/>
          <a:p>
            <a:pPr algn="ctr" indent="0" marL="0">
              <a:buNone/>
            </a:pPr>
            <a:r>
              <a:rPr lang="en-US" sz="1000" b="1" dirty="0">
                <a:solidFill>
                  <a:srgbClr val="F9A825"/>
                </a:solidFill>
                <a:latin typeface="Calibri" pitchFamily="34" charset="0"/>
                <a:ea typeface="Calibri" pitchFamily="34" charset="-122"/>
                <a:cs typeface="Calibri" pitchFamily="34" charset="-120"/>
              </a:rPr>
              <a:t>Planned</a:t>
            </a:r>
            <a:endParaRPr lang="en-US" sz="1000" dirty="0"/>
          </a:p>
        </p:txBody>
      </p:sp>
      <p:sp>
        <p:nvSpPr>
          <p:cNvPr id="13" name="Text 11"/>
          <p:cNvSpPr/>
          <p:nvPr/>
        </p:nvSpPr>
        <p:spPr>
          <a:xfrm>
            <a:off x="2286000" y="2103120"/>
            <a:ext cx="256032" cy="365760"/>
          </a:xfrm>
          <a:prstGeom prst="rect">
            <a:avLst/>
          </a:prstGeom>
          <a:noFill/>
          <a:ln/>
        </p:spPr>
        <p:txBody>
          <a:bodyPr wrap="square" lIns="0" tIns="0" rIns="0" bIns="0" rtlCol="0" anchor="ctr"/>
          <a:lstStyle/>
          <a:p>
            <a:pPr algn="ctr" indent="0" marL="0">
              <a:buNone/>
            </a:pPr>
            <a:r>
              <a:rPr lang="en-US" sz="2000" b="1" dirty="0">
                <a:solidFill>
                  <a:srgbClr val="02C39A"/>
                </a:solidFill>
                <a:latin typeface="Calibri" pitchFamily="34" charset="0"/>
                <a:ea typeface="Calibri" pitchFamily="34" charset="-122"/>
                <a:cs typeface="Calibri" pitchFamily="34" charset="-120"/>
              </a:rPr>
              <a:t>-&gt;</a:t>
            </a:r>
            <a:endParaRPr lang="en-US" sz="2000" dirty="0"/>
          </a:p>
        </p:txBody>
      </p:sp>
      <p:sp>
        <p:nvSpPr>
          <p:cNvPr id="14" name="Shape 12"/>
          <p:cNvSpPr/>
          <p:nvPr/>
        </p:nvSpPr>
        <p:spPr>
          <a:xfrm>
            <a:off x="2542032" y="987552"/>
            <a:ext cx="1920240" cy="2926080"/>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15" name="Shape 13"/>
          <p:cNvSpPr/>
          <p:nvPr/>
        </p:nvSpPr>
        <p:spPr>
          <a:xfrm>
            <a:off x="2542032" y="987552"/>
            <a:ext cx="1920240" cy="457200"/>
          </a:xfrm>
          <a:prstGeom prst="rect">
            <a:avLst/>
          </a:prstGeom>
          <a:solidFill>
            <a:srgbClr val="1C7293"/>
          </a:solidFill>
          <a:ln w="12700">
            <a:solidFill>
              <a:srgbClr val="1C7293"/>
            </a:solidFill>
            <a:prstDash val="solid"/>
          </a:ln>
        </p:spPr>
      </p:sp>
      <p:sp>
        <p:nvSpPr>
          <p:cNvPr id="16" name="Text 14"/>
          <p:cNvSpPr/>
          <p:nvPr/>
        </p:nvSpPr>
        <p:spPr>
          <a:xfrm>
            <a:off x="2542032" y="987552"/>
            <a:ext cx="192024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2</a:t>
            </a:r>
            <a:endParaRPr lang="en-US" sz="2200" dirty="0"/>
          </a:p>
        </p:txBody>
      </p:sp>
      <p:sp>
        <p:nvSpPr>
          <p:cNvPr id="17" name="Text 15"/>
          <p:cNvSpPr/>
          <p:nvPr/>
        </p:nvSpPr>
        <p:spPr>
          <a:xfrm>
            <a:off x="2615184" y="1499616"/>
            <a:ext cx="1773936" cy="347472"/>
          </a:xfrm>
          <a:prstGeom prst="rect">
            <a:avLst/>
          </a:prstGeom>
          <a:noFill/>
          <a:ln/>
        </p:spPr>
        <p:txBody>
          <a:bodyPr wrap="square" lIns="0" tIns="0" rIns="0" bIns="0" rtlCol="0" anchor="ctr"/>
          <a:lstStyle/>
          <a:p>
            <a:pPr algn="ctr" indent="0" marL="0">
              <a:buNone/>
            </a:pPr>
            <a:r>
              <a:rPr lang="en-US" sz="1200" b="1" dirty="0">
                <a:solidFill>
                  <a:srgbClr val="1A2E3B"/>
                </a:solidFill>
                <a:latin typeface="Calibri" pitchFamily="34" charset="0"/>
                <a:ea typeface="Calibri" pitchFamily="34" charset="-122"/>
                <a:cs typeface="Calibri" pitchFamily="34" charset="-120"/>
              </a:rPr>
              <a:t>EXTRACT</a:t>
            </a:r>
            <a:endParaRPr lang="en-US" sz="1200" dirty="0"/>
          </a:p>
        </p:txBody>
      </p:sp>
      <p:sp>
        <p:nvSpPr>
          <p:cNvPr id="18" name="Text 16"/>
          <p:cNvSpPr/>
          <p:nvPr/>
        </p:nvSpPr>
        <p:spPr>
          <a:xfrm>
            <a:off x="2615184" y="1901952"/>
            <a:ext cx="1773936" cy="1481328"/>
          </a:xfrm>
          <a:prstGeom prst="rect">
            <a:avLst/>
          </a:prstGeom>
          <a:noFill/>
          <a:ln/>
        </p:spPr>
        <p:txBody>
          <a:bodyPr wrap="square" lIns="0" tIns="0" rIns="0" bIns="0" rtlCol="0" anchor="t"/>
          <a:lstStyle/>
          <a:p>
            <a:pPr algn="ctr" indent="0" marL="0">
              <a:buNone/>
            </a:pPr>
            <a:r>
              <a:rPr lang="en-US" sz="1000" dirty="0">
                <a:solidFill>
                  <a:srgbClr val="4A6278"/>
                </a:solidFill>
                <a:latin typeface="Calibri" pitchFamily="34" charset="0"/>
                <a:ea typeface="Calibri" pitchFamily="34" charset="-122"/>
                <a:cs typeface="Calibri" pitchFamily="34" charset="-120"/>
              </a:rPr>
              <a:t>Gemini 2.5 Flash</a:t>
            </a:r>
            <a:endParaRPr lang="en-US" sz="1000" dirty="0"/>
          </a:p>
          <a:p>
            <a:pPr algn="ctr" indent="0" marL="0">
              <a:buNone/>
            </a:pPr>
            <a:r>
              <a:rPr lang="en-US" sz="1000" dirty="0">
                <a:solidFill>
                  <a:srgbClr val="4A6278"/>
                </a:solidFill>
                <a:latin typeface="Calibri" pitchFamily="34" charset="0"/>
                <a:ea typeface="Calibri" pitchFamily="34" charset="-122"/>
                <a:cs typeface="Calibri" pitchFamily="34" charset="-120"/>
              </a:rPr>
              <a:t>Schema-typed JSON</a:t>
            </a:r>
            <a:endParaRPr lang="en-US" sz="1000" dirty="0"/>
          </a:p>
          <a:p>
            <a:pPr algn="ctr" indent="0" marL="0">
              <a:buNone/>
            </a:pPr>
            <a:r>
              <a:rPr lang="en-US" sz="1000" dirty="0">
                <a:solidFill>
                  <a:srgbClr val="4A6278"/>
                </a:solidFill>
                <a:latin typeface="Calibri" pitchFamily="34" charset="0"/>
                <a:ea typeface="Calibri" pitchFamily="34" charset="-122"/>
                <a:cs typeface="Calibri" pitchFamily="34" charset="-120"/>
              </a:rPr>
              <a:t>Production-ready today</a:t>
            </a:r>
            <a:endParaRPr lang="en-US" sz="1000" dirty="0"/>
          </a:p>
        </p:txBody>
      </p:sp>
      <p:sp>
        <p:nvSpPr>
          <p:cNvPr id="19" name="Text 17"/>
          <p:cNvSpPr/>
          <p:nvPr/>
        </p:nvSpPr>
        <p:spPr>
          <a:xfrm>
            <a:off x="2615184" y="3584448"/>
            <a:ext cx="1773936" cy="274320"/>
          </a:xfrm>
          <a:prstGeom prst="rect">
            <a:avLst/>
          </a:prstGeom>
          <a:noFill/>
          <a:ln/>
        </p:spPr>
        <p:txBody>
          <a:bodyPr wrap="square" lIns="0" tIns="0" rIns="0" bIns="0" rtlCol="0" anchor="ctr"/>
          <a:lstStyle/>
          <a:p>
            <a:pPr algn="ctr" indent="0" marL="0">
              <a:buNone/>
            </a:pPr>
            <a:r>
              <a:rPr lang="en-US" sz="1000" b="1" dirty="0">
                <a:solidFill>
                  <a:srgbClr val="02C39A"/>
                </a:solidFill>
                <a:latin typeface="Calibri" pitchFamily="34" charset="0"/>
                <a:ea typeface="Calibri" pitchFamily="34" charset="-122"/>
                <a:cs typeface="Calibri" pitchFamily="34" charset="-120"/>
              </a:rPr>
              <a:t>Ready</a:t>
            </a:r>
            <a:endParaRPr lang="en-US" sz="1000" dirty="0"/>
          </a:p>
        </p:txBody>
      </p:sp>
      <p:sp>
        <p:nvSpPr>
          <p:cNvPr id="20" name="Text 18"/>
          <p:cNvSpPr/>
          <p:nvPr/>
        </p:nvSpPr>
        <p:spPr>
          <a:xfrm>
            <a:off x="4462272" y="2103120"/>
            <a:ext cx="256032" cy="365760"/>
          </a:xfrm>
          <a:prstGeom prst="rect">
            <a:avLst/>
          </a:prstGeom>
          <a:noFill/>
          <a:ln/>
        </p:spPr>
        <p:txBody>
          <a:bodyPr wrap="square" lIns="0" tIns="0" rIns="0" bIns="0" rtlCol="0" anchor="ctr"/>
          <a:lstStyle/>
          <a:p>
            <a:pPr algn="ctr" indent="0" marL="0">
              <a:buNone/>
            </a:pPr>
            <a:r>
              <a:rPr lang="en-US" sz="2000" b="1" dirty="0">
                <a:solidFill>
                  <a:srgbClr val="02C39A"/>
                </a:solidFill>
                <a:latin typeface="Calibri" pitchFamily="34" charset="0"/>
                <a:ea typeface="Calibri" pitchFamily="34" charset="-122"/>
                <a:cs typeface="Calibri" pitchFamily="34" charset="-120"/>
              </a:rPr>
              <a:t>-&gt;</a:t>
            </a:r>
            <a:endParaRPr lang="en-US" sz="2000" dirty="0"/>
          </a:p>
        </p:txBody>
      </p:sp>
      <p:sp>
        <p:nvSpPr>
          <p:cNvPr id="21" name="Shape 19"/>
          <p:cNvSpPr/>
          <p:nvPr/>
        </p:nvSpPr>
        <p:spPr>
          <a:xfrm>
            <a:off x="4718304" y="987552"/>
            <a:ext cx="1920240" cy="2926080"/>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22" name="Shape 20"/>
          <p:cNvSpPr/>
          <p:nvPr/>
        </p:nvSpPr>
        <p:spPr>
          <a:xfrm>
            <a:off x="4718304" y="987552"/>
            <a:ext cx="1920240" cy="457200"/>
          </a:xfrm>
          <a:prstGeom prst="rect">
            <a:avLst/>
          </a:prstGeom>
          <a:solidFill>
            <a:srgbClr val="028090"/>
          </a:solidFill>
          <a:ln w="12700">
            <a:solidFill>
              <a:srgbClr val="028090"/>
            </a:solidFill>
            <a:prstDash val="solid"/>
          </a:ln>
        </p:spPr>
      </p:sp>
      <p:sp>
        <p:nvSpPr>
          <p:cNvPr id="23" name="Text 21"/>
          <p:cNvSpPr/>
          <p:nvPr/>
        </p:nvSpPr>
        <p:spPr>
          <a:xfrm>
            <a:off x="4718304" y="987552"/>
            <a:ext cx="192024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3</a:t>
            </a:r>
            <a:endParaRPr lang="en-US" sz="2200" dirty="0"/>
          </a:p>
        </p:txBody>
      </p:sp>
      <p:sp>
        <p:nvSpPr>
          <p:cNvPr id="24" name="Text 22"/>
          <p:cNvSpPr/>
          <p:nvPr/>
        </p:nvSpPr>
        <p:spPr>
          <a:xfrm>
            <a:off x="4791456" y="1499616"/>
            <a:ext cx="1773936" cy="347472"/>
          </a:xfrm>
          <a:prstGeom prst="rect">
            <a:avLst/>
          </a:prstGeom>
          <a:noFill/>
          <a:ln/>
        </p:spPr>
        <p:txBody>
          <a:bodyPr wrap="square" lIns="0" tIns="0" rIns="0" bIns="0" rtlCol="0" anchor="ctr"/>
          <a:lstStyle/>
          <a:p>
            <a:pPr algn="ctr" indent="0" marL="0">
              <a:buNone/>
            </a:pPr>
            <a:r>
              <a:rPr lang="en-US" sz="1200" b="1" dirty="0">
                <a:solidFill>
                  <a:srgbClr val="1A2E3B"/>
                </a:solidFill>
                <a:latin typeface="Calibri" pitchFamily="34" charset="0"/>
                <a:ea typeface="Calibri" pitchFamily="34" charset="-122"/>
                <a:cs typeface="Calibri" pitchFamily="34" charset="-120"/>
              </a:rPr>
              <a:t>VALIDATE</a:t>
            </a:r>
            <a:endParaRPr lang="en-US" sz="1200" dirty="0"/>
          </a:p>
        </p:txBody>
      </p:sp>
      <p:sp>
        <p:nvSpPr>
          <p:cNvPr id="25" name="Text 23"/>
          <p:cNvSpPr/>
          <p:nvPr/>
        </p:nvSpPr>
        <p:spPr>
          <a:xfrm>
            <a:off x="4791456" y="1901952"/>
            <a:ext cx="1773936" cy="1481328"/>
          </a:xfrm>
          <a:prstGeom prst="rect">
            <a:avLst/>
          </a:prstGeom>
          <a:noFill/>
          <a:ln/>
        </p:spPr>
        <p:txBody>
          <a:bodyPr wrap="square" lIns="0" tIns="0" rIns="0" bIns="0" rtlCol="0" anchor="t"/>
          <a:lstStyle/>
          <a:p>
            <a:pPr algn="ctr" indent="0" marL="0">
              <a:buNone/>
            </a:pPr>
            <a:r>
              <a:rPr lang="en-US" sz="1000" dirty="0">
                <a:solidFill>
                  <a:srgbClr val="4A6278"/>
                </a:solidFill>
                <a:latin typeface="Calibri" pitchFamily="34" charset="0"/>
                <a:ea typeface="Calibri" pitchFamily="34" charset="-122"/>
                <a:cs typeface="Calibri" pitchFamily="34" charset="-120"/>
              </a:rPr>
              <a:t>Unit normalization</a:t>
            </a:r>
            <a:endParaRPr lang="en-US" sz="1000" dirty="0"/>
          </a:p>
          <a:p>
            <a:pPr algn="ctr" indent="0" marL="0">
              <a:buNone/>
            </a:pPr>
            <a:r>
              <a:rPr lang="en-US" sz="1000" dirty="0">
                <a:solidFill>
                  <a:srgbClr val="4A6278"/>
                </a:solidFill>
                <a:latin typeface="Calibri" pitchFamily="34" charset="0"/>
                <a:ea typeface="Calibri" pitchFamily="34" charset="-122"/>
                <a:cs typeface="Calibri" pitchFamily="34" charset="-120"/>
              </a:rPr>
              <a:t>Plausibility ranges</a:t>
            </a:r>
            <a:endParaRPr lang="en-US" sz="1000" dirty="0"/>
          </a:p>
          <a:p>
            <a:pPr algn="ctr" indent="0" marL="0">
              <a:buNone/>
            </a:pPr>
            <a:r>
              <a:rPr lang="en-US" sz="1000" dirty="0">
                <a:solidFill>
                  <a:srgbClr val="4A6278"/>
                </a:solidFill>
                <a:latin typeface="Calibri" pitchFamily="34" charset="0"/>
                <a:ea typeface="Calibri" pitchFamily="34" charset="-122"/>
                <a:cs typeface="Calibri" pitchFamily="34" charset="-120"/>
              </a:rPr>
              <a:t>Dedup by (material, prop, cond)</a:t>
            </a:r>
            <a:endParaRPr lang="en-US" sz="1000" dirty="0"/>
          </a:p>
        </p:txBody>
      </p:sp>
      <p:sp>
        <p:nvSpPr>
          <p:cNvPr id="26" name="Text 24"/>
          <p:cNvSpPr/>
          <p:nvPr/>
        </p:nvSpPr>
        <p:spPr>
          <a:xfrm>
            <a:off x="4791456" y="3584448"/>
            <a:ext cx="1773936" cy="274320"/>
          </a:xfrm>
          <a:prstGeom prst="rect">
            <a:avLst/>
          </a:prstGeom>
          <a:noFill/>
          <a:ln/>
        </p:spPr>
        <p:txBody>
          <a:bodyPr wrap="square" lIns="0" tIns="0" rIns="0" bIns="0" rtlCol="0" anchor="ctr"/>
          <a:lstStyle/>
          <a:p>
            <a:pPr algn="ctr" indent="0" marL="0">
              <a:buNone/>
            </a:pPr>
            <a:r>
              <a:rPr lang="en-US" sz="1000" b="1" dirty="0">
                <a:solidFill>
                  <a:srgbClr val="02C39A"/>
                </a:solidFill>
                <a:latin typeface="Calibri" pitchFamily="34" charset="0"/>
                <a:ea typeface="Calibri" pitchFamily="34" charset="-122"/>
                <a:cs typeface="Calibri" pitchFamily="34" charset="-120"/>
              </a:rPr>
              <a:t>Ready</a:t>
            </a:r>
            <a:endParaRPr lang="en-US" sz="1000" dirty="0"/>
          </a:p>
        </p:txBody>
      </p:sp>
      <p:sp>
        <p:nvSpPr>
          <p:cNvPr id="27" name="Text 25"/>
          <p:cNvSpPr/>
          <p:nvPr/>
        </p:nvSpPr>
        <p:spPr>
          <a:xfrm>
            <a:off x="6638544" y="2103120"/>
            <a:ext cx="256032" cy="365760"/>
          </a:xfrm>
          <a:prstGeom prst="rect">
            <a:avLst/>
          </a:prstGeom>
          <a:noFill/>
          <a:ln/>
        </p:spPr>
        <p:txBody>
          <a:bodyPr wrap="square" lIns="0" tIns="0" rIns="0" bIns="0" rtlCol="0" anchor="ctr"/>
          <a:lstStyle/>
          <a:p>
            <a:pPr algn="ctr" indent="0" marL="0">
              <a:buNone/>
            </a:pPr>
            <a:r>
              <a:rPr lang="en-US" sz="2000" b="1" dirty="0">
                <a:solidFill>
                  <a:srgbClr val="02C39A"/>
                </a:solidFill>
                <a:latin typeface="Calibri" pitchFamily="34" charset="0"/>
                <a:ea typeface="Calibri" pitchFamily="34" charset="-122"/>
                <a:cs typeface="Calibri" pitchFamily="34" charset="-120"/>
              </a:rPr>
              <a:t>-&gt;</a:t>
            </a:r>
            <a:endParaRPr lang="en-US" sz="2000" dirty="0"/>
          </a:p>
        </p:txBody>
      </p:sp>
      <p:sp>
        <p:nvSpPr>
          <p:cNvPr id="28" name="Shape 26"/>
          <p:cNvSpPr/>
          <p:nvPr/>
        </p:nvSpPr>
        <p:spPr>
          <a:xfrm>
            <a:off x="6894576" y="987552"/>
            <a:ext cx="1920240" cy="2926080"/>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29" name="Shape 27"/>
          <p:cNvSpPr/>
          <p:nvPr/>
        </p:nvSpPr>
        <p:spPr>
          <a:xfrm>
            <a:off x="6894576" y="987552"/>
            <a:ext cx="1920240" cy="457200"/>
          </a:xfrm>
          <a:prstGeom prst="rect">
            <a:avLst/>
          </a:prstGeom>
          <a:solidFill>
            <a:srgbClr val="02C39A"/>
          </a:solidFill>
          <a:ln w="12700">
            <a:solidFill>
              <a:srgbClr val="02C39A"/>
            </a:solidFill>
            <a:prstDash val="solid"/>
          </a:ln>
        </p:spPr>
      </p:sp>
      <p:sp>
        <p:nvSpPr>
          <p:cNvPr id="30" name="Text 28"/>
          <p:cNvSpPr/>
          <p:nvPr/>
        </p:nvSpPr>
        <p:spPr>
          <a:xfrm>
            <a:off x="6894576" y="987552"/>
            <a:ext cx="192024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4</a:t>
            </a:r>
            <a:endParaRPr lang="en-US" sz="2200" dirty="0"/>
          </a:p>
        </p:txBody>
      </p:sp>
      <p:sp>
        <p:nvSpPr>
          <p:cNvPr id="31" name="Text 29"/>
          <p:cNvSpPr/>
          <p:nvPr/>
        </p:nvSpPr>
        <p:spPr>
          <a:xfrm>
            <a:off x="6967728" y="1499616"/>
            <a:ext cx="1773936" cy="347472"/>
          </a:xfrm>
          <a:prstGeom prst="rect">
            <a:avLst/>
          </a:prstGeom>
          <a:noFill/>
          <a:ln/>
        </p:spPr>
        <p:txBody>
          <a:bodyPr wrap="square" lIns="0" tIns="0" rIns="0" bIns="0" rtlCol="0" anchor="ctr"/>
          <a:lstStyle/>
          <a:p>
            <a:pPr algn="ctr" indent="0" marL="0">
              <a:buNone/>
            </a:pPr>
            <a:r>
              <a:rPr lang="en-US" sz="1200" b="1" dirty="0">
                <a:solidFill>
                  <a:srgbClr val="1A2E3B"/>
                </a:solidFill>
                <a:latin typeface="Calibri" pitchFamily="34" charset="0"/>
                <a:ea typeface="Calibri" pitchFamily="34" charset="-122"/>
                <a:cs typeface="Calibri" pitchFamily="34" charset="-120"/>
              </a:rPr>
              <a:t>INSERT</a:t>
            </a:r>
            <a:endParaRPr lang="en-US" sz="1200" dirty="0"/>
          </a:p>
        </p:txBody>
      </p:sp>
      <p:sp>
        <p:nvSpPr>
          <p:cNvPr id="32" name="Text 30"/>
          <p:cNvSpPr/>
          <p:nvPr/>
        </p:nvSpPr>
        <p:spPr>
          <a:xfrm>
            <a:off x="6967728" y="1901952"/>
            <a:ext cx="1773936" cy="1481328"/>
          </a:xfrm>
          <a:prstGeom prst="rect">
            <a:avLst/>
          </a:prstGeom>
          <a:noFill/>
          <a:ln/>
        </p:spPr>
        <p:txBody>
          <a:bodyPr wrap="square" lIns="0" tIns="0" rIns="0" bIns="0" rtlCol="0" anchor="t"/>
          <a:lstStyle/>
          <a:p>
            <a:pPr algn="ctr" indent="0" marL="0">
              <a:buNone/>
            </a:pPr>
            <a:r>
              <a:rPr lang="en-US" sz="1000" dirty="0">
                <a:solidFill>
                  <a:srgbClr val="4A6278"/>
                </a:solidFill>
                <a:latin typeface="Calibri" pitchFamily="34" charset="0"/>
                <a:ea typeface="Calibri" pitchFamily="34" charset="-122"/>
                <a:cs typeface="Calibri" pitchFamily="34" charset="-120"/>
              </a:rPr>
              <a:t>Postgres write</a:t>
            </a:r>
            <a:endParaRPr lang="en-US" sz="1000" dirty="0"/>
          </a:p>
          <a:p>
            <a:pPr algn="ctr" indent="0" marL="0">
              <a:buNone/>
            </a:pPr>
            <a:r>
              <a:rPr lang="en-US" sz="1000" dirty="0">
                <a:solidFill>
                  <a:srgbClr val="4A6278"/>
                </a:solidFill>
                <a:latin typeface="Calibri" pitchFamily="34" charset="0"/>
                <a:ea typeface="Calibri" pitchFamily="34" charset="-122"/>
                <a:cs typeface="Calibri" pitchFamily="34" charset="-120"/>
              </a:rPr>
              <a:t>Provenance FK</a:t>
            </a:r>
            <a:endParaRPr lang="en-US" sz="1000" dirty="0"/>
          </a:p>
          <a:p>
            <a:pPr algn="ctr" indent="0" marL="0">
              <a:buNone/>
            </a:pPr>
            <a:r>
              <a:rPr lang="en-US" sz="1000" dirty="0">
                <a:solidFill>
                  <a:srgbClr val="4A6278"/>
                </a:solidFill>
                <a:latin typeface="Calibri" pitchFamily="34" charset="0"/>
                <a:ea typeface="Calibri" pitchFamily="34" charset="-122"/>
                <a:cs typeface="Calibri" pitchFamily="34" charset="-120"/>
              </a:rPr>
              <a:t>Failed rows -&gt; review queue</a:t>
            </a:r>
            <a:endParaRPr lang="en-US" sz="1000" dirty="0"/>
          </a:p>
        </p:txBody>
      </p:sp>
      <p:sp>
        <p:nvSpPr>
          <p:cNvPr id="33" name="Text 31"/>
          <p:cNvSpPr/>
          <p:nvPr/>
        </p:nvSpPr>
        <p:spPr>
          <a:xfrm>
            <a:off x="6967728" y="3584448"/>
            <a:ext cx="1773936" cy="274320"/>
          </a:xfrm>
          <a:prstGeom prst="rect">
            <a:avLst/>
          </a:prstGeom>
          <a:noFill/>
          <a:ln/>
        </p:spPr>
        <p:txBody>
          <a:bodyPr wrap="square" lIns="0" tIns="0" rIns="0" bIns="0" rtlCol="0" anchor="ctr"/>
          <a:lstStyle/>
          <a:p>
            <a:pPr algn="ctr" indent="0" marL="0">
              <a:buNone/>
            </a:pPr>
            <a:r>
              <a:rPr lang="en-US" sz="1000" b="1" dirty="0">
                <a:solidFill>
                  <a:srgbClr val="02C39A"/>
                </a:solidFill>
                <a:latin typeface="Calibri" pitchFamily="34" charset="0"/>
                <a:ea typeface="Calibri" pitchFamily="34" charset="-122"/>
                <a:cs typeface="Calibri" pitchFamily="34" charset="-120"/>
              </a:rPr>
              <a:t>Ready</a:t>
            </a:r>
            <a:endParaRPr lang="en-US" sz="1000" dirty="0"/>
          </a:p>
        </p:txBody>
      </p:sp>
      <p:sp>
        <p:nvSpPr>
          <p:cNvPr id="34" name="Shape 32"/>
          <p:cNvSpPr/>
          <p:nvPr/>
        </p:nvSpPr>
        <p:spPr>
          <a:xfrm>
            <a:off x="365760" y="3977640"/>
            <a:ext cx="8412480" cy="822960"/>
          </a:xfrm>
          <a:prstGeom prst="rect">
            <a:avLst/>
          </a:prstGeom>
          <a:solidFill>
            <a:srgbClr val="065A82"/>
          </a:solidFill>
          <a:ln w="12700">
            <a:solidFill>
              <a:srgbClr val="065A82"/>
            </a:solidFill>
            <a:prstDash val="solid"/>
          </a:ln>
        </p:spPr>
      </p:sp>
      <p:sp>
        <p:nvSpPr>
          <p:cNvPr id="35" name="Text 33"/>
          <p:cNvSpPr/>
          <p:nvPr/>
        </p:nvSpPr>
        <p:spPr>
          <a:xfrm>
            <a:off x="548640" y="4005072"/>
            <a:ext cx="8046720" cy="749808"/>
          </a:xfrm>
          <a:prstGeom prst="rect">
            <a:avLst/>
          </a:prstGeom>
          <a:noFill/>
          <a:ln/>
        </p:spPr>
        <p:txBody>
          <a:bodyPr wrap="square" lIns="0" tIns="0" rIns="0" bIns="0" rtlCol="0" anchor="ctr"/>
          <a:lstStyle/>
          <a:p>
            <a:pPr indent="0" marL="0">
              <a:buNone/>
            </a:pPr>
            <a:r>
              <a:rPr lang="en-US" sz="1000" dirty="0">
                <a:solidFill>
                  <a:srgbClr val="9EC8E0"/>
                </a:solidFill>
                <a:latin typeface="Calibri" pitchFamily="34" charset="0"/>
                <a:ea typeface="Calibri" pitchFamily="34" charset="-122"/>
                <a:cs typeface="Calibri" pitchFamily="34" charset="-120"/>
              </a:rPr>
              <a:t>Prototype today: batch_ingest.py covers steps 2-4 on a fixed PDF corpus, without source discovery. Commits to a SQLite mirror so the prototype runs offline without touching production Postgres.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EF5FA"/>
        </a:solidFill>
      </p:bgPr>
    </p:bg>
    <p:spTree>
      <p:nvGrpSpPr>
        <p:cNvPr id="1" name=""/>
        <p:cNvGrpSpPr/>
        <p:nvPr/>
      </p:nvGrpSpPr>
      <p:grpSpPr>
        <a:xfrm>
          <a:off x="0" y="0"/>
          <a:ext cx="0" cy="0"/>
          <a:chOff x="0" y="0"/>
          <a:chExt cx="0" cy="0"/>
        </a:xfrm>
      </p:grpSpPr>
      <p:sp>
        <p:nvSpPr>
          <p:cNvPr id="2" name="Shape 0"/>
          <p:cNvSpPr/>
          <p:nvPr/>
        </p:nvSpPr>
        <p:spPr>
          <a:xfrm>
            <a:off x="365760" y="256032"/>
            <a:ext cx="64008" cy="438912"/>
          </a:xfrm>
          <a:prstGeom prst="rect">
            <a:avLst/>
          </a:prstGeom>
          <a:solidFill>
            <a:srgbClr val="02C39A"/>
          </a:solidFill>
          <a:ln w="12700">
            <a:solidFill>
              <a:srgbClr val="02C39A"/>
            </a:solidFill>
            <a:prstDash val="solid"/>
          </a:ln>
        </p:spPr>
      </p:sp>
      <p:sp>
        <p:nvSpPr>
          <p:cNvPr id="3" name="Text 1"/>
          <p:cNvSpPr/>
          <p:nvPr/>
        </p:nvSpPr>
        <p:spPr>
          <a:xfrm>
            <a:off x="502920" y="201168"/>
            <a:ext cx="8321040" cy="548640"/>
          </a:xfrm>
          <a:prstGeom prst="rect">
            <a:avLst/>
          </a:prstGeom>
          <a:noFill/>
          <a:ln/>
        </p:spPr>
        <p:txBody>
          <a:bodyPr wrap="square" lIns="0" tIns="0" rIns="0" bIns="0" rtlCol="0" anchor="ctr"/>
          <a:lstStyle/>
          <a:p>
            <a:pPr indent="0" marL="0">
              <a:buNone/>
            </a:pPr>
            <a:r>
              <a:rPr lang="en-US" sz="2600" b="1" dirty="0">
                <a:solidFill>
                  <a:srgbClr val="065A82"/>
                </a:solidFill>
                <a:latin typeface="Georgia" pitchFamily="34" charset="0"/>
                <a:ea typeface="Georgia" pitchFamily="34" charset="-122"/>
                <a:cs typeface="Georgia" pitchFamily="34" charset="-120"/>
              </a:rPr>
              <a:t>Batch Ingestion Prototype -- Results</a:t>
            </a:r>
            <a:endParaRPr lang="en-US" sz="2600" dirty="0"/>
          </a:p>
        </p:txBody>
      </p:sp>
      <p:sp>
        <p:nvSpPr>
          <p:cNvPr id="4" name="Shape 2"/>
          <p:cNvSpPr/>
          <p:nvPr/>
        </p:nvSpPr>
        <p:spPr>
          <a:xfrm>
            <a:off x="0" y="4887468"/>
            <a:ext cx="9144000" cy="256032"/>
          </a:xfrm>
          <a:prstGeom prst="rect">
            <a:avLst/>
          </a:prstGeom>
          <a:solidFill>
            <a:srgbClr val="1C7293"/>
          </a:solidFill>
          <a:ln w="12700">
            <a:solidFill>
              <a:srgbClr val="1C7293"/>
            </a:solidFill>
            <a:prstDash val="solid"/>
          </a:ln>
        </p:spPr>
      </p:sp>
      <p:sp>
        <p:nvSpPr>
          <p:cNvPr id="5" name="Text 3"/>
          <p:cNvSpPr/>
          <p:nvPr/>
        </p:nvSpPr>
        <p:spPr>
          <a:xfrm>
            <a:off x="274320" y="4905756"/>
            <a:ext cx="5486400" cy="219456"/>
          </a:xfrm>
          <a:prstGeom prst="rect">
            <a:avLst/>
          </a:prstGeom>
          <a:noFill/>
          <a:ln/>
        </p:spPr>
        <p:txBody>
          <a:bodyPr wrap="square" lIns="0" tIns="0" rIns="0" bIns="0" rtlCol="0" anchor="ctr"/>
          <a:lstStyle/>
          <a:p>
            <a:pPr indent="0" marL="0">
              <a:buNone/>
            </a:pPr>
            <a:r>
              <a:rPr lang="en-US" sz="800" dirty="0">
                <a:solidFill>
                  <a:srgbClr val="CCEEFF"/>
                </a:solidFill>
                <a:latin typeface="Calibri" pitchFamily="34" charset="0"/>
                <a:ea typeface="Calibri" pitchFamily="34" charset="-122"/>
                <a:cs typeface="Calibri" pitchFamily="34" charset="-120"/>
              </a:rPr>
              <a:t>Mathias Heider  |  ME8930 Course Project  |  May 2026</a:t>
            </a:r>
            <a:endParaRPr lang="en-US" sz="800" dirty="0"/>
          </a:p>
        </p:txBody>
      </p:sp>
      <p:sp>
        <p:nvSpPr>
          <p:cNvPr id="6" name="Text 4"/>
          <p:cNvSpPr/>
          <p:nvPr/>
        </p:nvSpPr>
        <p:spPr>
          <a:xfrm>
            <a:off x="6858000" y="4905756"/>
            <a:ext cx="2011680" cy="219456"/>
          </a:xfrm>
          <a:prstGeom prst="rect">
            <a:avLst/>
          </a:prstGeom>
          <a:noFill/>
          <a:ln/>
        </p:spPr>
        <p:txBody>
          <a:bodyPr wrap="square" lIns="0" tIns="0" rIns="0" bIns="0" rtlCol="0" anchor="ctr"/>
          <a:lstStyle/>
          <a:p>
            <a:pPr algn="r" indent="0" marL="0">
              <a:buNone/>
            </a:pPr>
            <a:r>
              <a:rPr lang="en-US" sz="800" dirty="0">
                <a:solidFill>
                  <a:srgbClr val="CCEEFF"/>
                </a:solidFill>
                <a:latin typeface="Calibri" pitchFamily="34" charset="0"/>
                <a:ea typeface="Calibri" pitchFamily="34" charset="-122"/>
                <a:cs typeface="Calibri" pitchFamily="34" charset="-120"/>
              </a:rPr>
              <a:t>8 / Autonomous Ingestion</a:t>
            </a:r>
            <a:endParaRPr lang="en-US" sz="800" dirty="0"/>
          </a:p>
        </p:txBody>
      </p:sp>
      <p:sp>
        <p:nvSpPr>
          <p:cNvPr id="7" name="Shape 5"/>
          <p:cNvSpPr/>
          <p:nvPr/>
        </p:nvSpPr>
        <p:spPr>
          <a:xfrm>
            <a:off x="365760" y="987552"/>
            <a:ext cx="1920240" cy="2286000"/>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8" name="Shape 6"/>
          <p:cNvSpPr/>
          <p:nvPr/>
        </p:nvSpPr>
        <p:spPr>
          <a:xfrm>
            <a:off x="365760" y="987552"/>
            <a:ext cx="1920240" cy="457200"/>
          </a:xfrm>
          <a:prstGeom prst="rect">
            <a:avLst/>
          </a:prstGeom>
          <a:solidFill>
            <a:srgbClr val="065A82"/>
          </a:solidFill>
          <a:ln w="12700">
            <a:solidFill>
              <a:srgbClr val="065A82"/>
            </a:solidFill>
            <a:prstDash val="solid"/>
          </a:ln>
        </p:spPr>
      </p:sp>
      <p:sp>
        <p:nvSpPr>
          <p:cNvPr id="9" name="Text 7"/>
          <p:cNvSpPr/>
          <p:nvPr/>
        </p:nvSpPr>
        <p:spPr>
          <a:xfrm>
            <a:off x="365760" y="1481328"/>
            <a:ext cx="1920240" cy="749808"/>
          </a:xfrm>
          <a:prstGeom prst="rect">
            <a:avLst/>
          </a:prstGeom>
          <a:noFill/>
          <a:ln/>
        </p:spPr>
        <p:txBody>
          <a:bodyPr wrap="square" lIns="0" tIns="0" rIns="0" bIns="0" rtlCol="0" anchor="ctr"/>
          <a:lstStyle/>
          <a:p>
            <a:pPr algn="ctr" indent="0" marL="0">
              <a:buNone/>
            </a:pPr>
            <a:r>
              <a:rPr lang="en-US" sz="3400" b="1" dirty="0">
                <a:solidFill>
                  <a:srgbClr val="065A82"/>
                </a:solidFill>
                <a:latin typeface="Georgia" pitchFamily="34" charset="0"/>
                <a:ea typeface="Georgia" pitchFamily="34" charset="-122"/>
                <a:cs typeface="Georgia" pitchFamily="34" charset="-120"/>
              </a:rPr>
              <a:t>10-25s</a:t>
            </a:r>
            <a:endParaRPr lang="en-US" sz="3400" dirty="0"/>
          </a:p>
        </p:txBody>
      </p:sp>
      <p:sp>
        <p:nvSpPr>
          <p:cNvPr id="10" name="Text 8"/>
          <p:cNvSpPr/>
          <p:nvPr/>
        </p:nvSpPr>
        <p:spPr>
          <a:xfrm>
            <a:off x="438912" y="2267712"/>
            <a:ext cx="1773936" cy="896112"/>
          </a:xfrm>
          <a:prstGeom prst="rect">
            <a:avLst/>
          </a:prstGeom>
          <a:noFill/>
          <a:ln/>
        </p:spPr>
        <p:txBody>
          <a:bodyPr wrap="square" lIns="0" tIns="0" rIns="0" bIns="0" rtlCol="0" anchor="t"/>
          <a:lstStyle/>
          <a:p>
            <a:pPr algn="ctr" indent="0" marL="0">
              <a:buNone/>
            </a:pPr>
            <a:r>
              <a:rPr lang="en-US" sz="950" dirty="0">
                <a:solidFill>
                  <a:srgbClr val="4A6278"/>
                </a:solidFill>
                <a:latin typeface="Calibri" pitchFamily="34" charset="0"/>
                <a:ea typeface="Calibri" pitchFamily="34" charset="-122"/>
                <a:cs typeface="Calibri" pitchFamily="34" charset="-120"/>
              </a:rPr>
              <a:t>per PDF</a:t>
            </a:r>
            <a:endParaRPr lang="en-US" sz="950" dirty="0"/>
          </a:p>
          <a:p>
            <a:pPr algn="ctr" indent="0" marL="0">
              <a:buNone/>
            </a:pPr>
            <a:r>
              <a:rPr lang="en-US" sz="950" dirty="0">
                <a:solidFill>
                  <a:srgbClr val="4A6278"/>
                </a:solidFill>
                <a:latin typeface="Calibri" pitchFamily="34" charset="0"/>
                <a:ea typeface="Calibri" pitchFamily="34" charset="-122"/>
                <a:cs typeface="Calibri" pitchFamily="34" charset="-120"/>
              </a:rPr>
              <a:t>(Gemini latency)</a:t>
            </a:r>
            <a:endParaRPr lang="en-US" sz="950" dirty="0"/>
          </a:p>
        </p:txBody>
      </p:sp>
      <p:sp>
        <p:nvSpPr>
          <p:cNvPr id="11" name="Shape 9"/>
          <p:cNvSpPr/>
          <p:nvPr/>
        </p:nvSpPr>
        <p:spPr>
          <a:xfrm>
            <a:off x="2514600" y="987552"/>
            <a:ext cx="1920240" cy="2286000"/>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12" name="Shape 10"/>
          <p:cNvSpPr/>
          <p:nvPr/>
        </p:nvSpPr>
        <p:spPr>
          <a:xfrm>
            <a:off x="2514600" y="987552"/>
            <a:ext cx="1920240" cy="457200"/>
          </a:xfrm>
          <a:prstGeom prst="rect">
            <a:avLst/>
          </a:prstGeom>
          <a:solidFill>
            <a:srgbClr val="1C7293"/>
          </a:solidFill>
          <a:ln w="12700">
            <a:solidFill>
              <a:srgbClr val="1C7293"/>
            </a:solidFill>
            <a:prstDash val="solid"/>
          </a:ln>
        </p:spPr>
      </p:sp>
      <p:sp>
        <p:nvSpPr>
          <p:cNvPr id="13" name="Text 11"/>
          <p:cNvSpPr/>
          <p:nvPr/>
        </p:nvSpPr>
        <p:spPr>
          <a:xfrm>
            <a:off x="2514600" y="1481328"/>
            <a:ext cx="1920240" cy="749808"/>
          </a:xfrm>
          <a:prstGeom prst="rect">
            <a:avLst/>
          </a:prstGeom>
          <a:noFill/>
          <a:ln/>
        </p:spPr>
        <p:txBody>
          <a:bodyPr wrap="square" lIns="0" tIns="0" rIns="0" bIns="0" rtlCol="0" anchor="ctr"/>
          <a:lstStyle/>
          <a:p>
            <a:pPr algn="ctr" indent="0" marL="0">
              <a:buNone/>
            </a:pPr>
            <a:r>
              <a:rPr lang="en-US" sz="3400" b="1" dirty="0">
                <a:solidFill>
                  <a:srgbClr val="1C7293"/>
                </a:solidFill>
                <a:latin typeface="Georgia" pitchFamily="34" charset="0"/>
                <a:ea typeface="Georgia" pitchFamily="34" charset="-122"/>
                <a:cs typeface="Georgia" pitchFamily="34" charset="-120"/>
              </a:rPr>
              <a:t>~15%</a:t>
            </a:r>
            <a:endParaRPr lang="en-US" sz="3400" dirty="0"/>
          </a:p>
        </p:txBody>
      </p:sp>
      <p:sp>
        <p:nvSpPr>
          <p:cNvPr id="14" name="Text 12"/>
          <p:cNvSpPr/>
          <p:nvPr/>
        </p:nvSpPr>
        <p:spPr>
          <a:xfrm>
            <a:off x="2587752" y="2267712"/>
            <a:ext cx="1773936" cy="896112"/>
          </a:xfrm>
          <a:prstGeom prst="rect">
            <a:avLst/>
          </a:prstGeom>
          <a:noFill/>
          <a:ln/>
        </p:spPr>
        <p:txBody>
          <a:bodyPr wrap="square" lIns="0" tIns="0" rIns="0" bIns="0" rtlCol="0" anchor="t"/>
          <a:lstStyle/>
          <a:p>
            <a:pPr algn="ctr" indent="0" marL="0">
              <a:buNone/>
            </a:pPr>
            <a:r>
              <a:rPr lang="en-US" sz="950" dirty="0">
                <a:solidFill>
                  <a:srgbClr val="4A6278"/>
                </a:solidFill>
                <a:latin typeface="Calibri" pitchFamily="34" charset="0"/>
                <a:ea typeface="Calibri" pitchFamily="34" charset="-122"/>
                <a:cs typeface="Calibri" pitchFamily="34" charset="-120"/>
              </a:rPr>
              <a:t>rows flagged:</a:t>
            </a:r>
            <a:endParaRPr lang="en-US" sz="950" dirty="0"/>
          </a:p>
          <a:p>
            <a:pPr algn="ctr" indent="0" marL="0">
              <a:buNone/>
            </a:pPr>
            <a:r>
              <a:rPr lang="en-US" sz="950" dirty="0">
                <a:solidFill>
                  <a:srgbClr val="4A6278"/>
                </a:solidFill>
                <a:latin typeface="Calibri" pitchFamily="34" charset="0"/>
                <a:ea typeface="Calibri" pitchFamily="34" charset="-122"/>
                <a:cs typeface="Calibri" pitchFamily="34" charset="-120"/>
              </a:rPr>
              <a:t>missing unit</a:t>
            </a:r>
            <a:endParaRPr lang="en-US" sz="950" dirty="0"/>
          </a:p>
          <a:p>
            <a:pPr algn="ctr" indent="0" marL="0">
              <a:buNone/>
            </a:pPr>
            <a:r>
              <a:rPr lang="en-US" sz="950" dirty="0">
                <a:solidFill>
                  <a:srgbClr val="4A6278"/>
                </a:solidFill>
                <a:latin typeface="Calibri" pitchFamily="34" charset="0"/>
                <a:ea typeface="Calibri" pitchFamily="34" charset="-122"/>
                <a:cs typeface="Calibri" pitchFamily="34" charset="-120"/>
              </a:rPr>
              <a:t>(mostly false positives)</a:t>
            </a:r>
            <a:endParaRPr lang="en-US" sz="950" dirty="0"/>
          </a:p>
        </p:txBody>
      </p:sp>
      <p:sp>
        <p:nvSpPr>
          <p:cNvPr id="15" name="Shape 13"/>
          <p:cNvSpPr/>
          <p:nvPr/>
        </p:nvSpPr>
        <p:spPr>
          <a:xfrm>
            <a:off x="4663440" y="987552"/>
            <a:ext cx="1920240" cy="2286000"/>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16" name="Shape 14"/>
          <p:cNvSpPr/>
          <p:nvPr/>
        </p:nvSpPr>
        <p:spPr>
          <a:xfrm>
            <a:off x="4663440" y="987552"/>
            <a:ext cx="1920240" cy="457200"/>
          </a:xfrm>
          <a:prstGeom prst="rect">
            <a:avLst/>
          </a:prstGeom>
          <a:solidFill>
            <a:srgbClr val="028090"/>
          </a:solidFill>
          <a:ln w="12700">
            <a:solidFill>
              <a:srgbClr val="028090"/>
            </a:solidFill>
            <a:prstDash val="solid"/>
          </a:ln>
        </p:spPr>
      </p:sp>
      <p:sp>
        <p:nvSpPr>
          <p:cNvPr id="17" name="Text 15"/>
          <p:cNvSpPr/>
          <p:nvPr/>
        </p:nvSpPr>
        <p:spPr>
          <a:xfrm>
            <a:off x="4663440" y="1481328"/>
            <a:ext cx="1920240" cy="749808"/>
          </a:xfrm>
          <a:prstGeom prst="rect">
            <a:avLst/>
          </a:prstGeom>
          <a:noFill/>
          <a:ln/>
        </p:spPr>
        <p:txBody>
          <a:bodyPr wrap="square" lIns="0" tIns="0" rIns="0" bIns="0" rtlCol="0" anchor="ctr"/>
          <a:lstStyle/>
          <a:p>
            <a:pPr algn="ctr" indent="0" marL="0">
              <a:buNone/>
            </a:pPr>
            <a:r>
              <a:rPr lang="en-US" sz="3400" b="1" dirty="0">
                <a:solidFill>
                  <a:srgbClr val="028090"/>
                </a:solidFill>
                <a:latin typeface="Georgia" pitchFamily="34" charset="0"/>
                <a:ea typeface="Georgia" pitchFamily="34" charset="-122"/>
                <a:cs typeface="Georgia" pitchFamily="34" charset="-120"/>
              </a:rPr>
              <a:t>5-10%</a:t>
            </a:r>
            <a:endParaRPr lang="en-US" sz="3400" dirty="0"/>
          </a:p>
        </p:txBody>
      </p:sp>
      <p:sp>
        <p:nvSpPr>
          <p:cNvPr id="18" name="Text 16"/>
          <p:cNvSpPr/>
          <p:nvPr/>
        </p:nvSpPr>
        <p:spPr>
          <a:xfrm>
            <a:off x="4736592" y="2267712"/>
            <a:ext cx="1773936" cy="896112"/>
          </a:xfrm>
          <a:prstGeom prst="rect">
            <a:avLst/>
          </a:prstGeom>
          <a:noFill/>
          <a:ln/>
        </p:spPr>
        <p:txBody>
          <a:bodyPr wrap="square" lIns="0" tIns="0" rIns="0" bIns="0" rtlCol="0" anchor="t"/>
          <a:lstStyle/>
          <a:p>
            <a:pPr algn="ctr" indent="0" marL="0">
              <a:buNone/>
            </a:pPr>
            <a:r>
              <a:rPr lang="en-US" sz="950" dirty="0">
                <a:solidFill>
                  <a:srgbClr val="4A6278"/>
                </a:solidFill>
                <a:latin typeface="Calibri" pitchFamily="34" charset="0"/>
                <a:ea typeface="Calibri" pitchFamily="34" charset="-122"/>
                <a:cs typeface="Calibri" pitchFamily="34" charset="-120"/>
              </a:rPr>
              <a:t>rows flagged:</a:t>
            </a:r>
            <a:endParaRPr lang="en-US" sz="950" dirty="0"/>
          </a:p>
          <a:p>
            <a:pPr algn="ctr" indent="0" marL="0">
              <a:buNone/>
            </a:pPr>
            <a:r>
              <a:rPr lang="en-US" sz="950" dirty="0">
                <a:solidFill>
                  <a:srgbClr val="4A6278"/>
                </a:solidFill>
                <a:latin typeface="Calibri" pitchFamily="34" charset="0"/>
                <a:ea typeface="Calibri" pitchFamily="34" charset="-122"/>
                <a:cs typeface="Calibri" pitchFamily="34" charset="-120"/>
              </a:rPr>
              <a:t>inline-unit value</a:t>
            </a:r>
            <a:endParaRPr lang="en-US" sz="950" dirty="0"/>
          </a:p>
          <a:p>
            <a:pPr algn="ctr" indent="0" marL="0">
              <a:buNone/>
            </a:pPr>
            <a:r>
              <a:rPr lang="en-US" sz="950" dirty="0">
                <a:solidFill>
                  <a:srgbClr val="4A6278"/>
                </a:solidFill>
                <a:latin typeface="Calibri" pitchFamily="34" charset="0"/>
                <a:ea typeface="Calibri" pitchFamily="34" charset="-122"/>
                <a:cs typeface="Calibri" pitchFamily="34" charset="-120"/>
              </a:rPr>
              <a:t>(real format issue)</a:t>
            </a:r>
            <a:endParaRPr lang="en-US" sz="950" dirty="0"/>
          </a:p>
        </p:txBody>
      </p:sp>
      <p:sp>
        <p:nvSpPr>
          <p:cNvPr id="19" name="Shape 17"/>
          <p:cNvSpPr/>
          <p:nvPr/>
        </p:nvSpPr>
        <p:spPr>
          <a:xfrm>
            <a:off x="6812280" y="987552"/>
            <a:ext cx="1920240" cy="2286000"/>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20" name="Shape 18"/>
          <p:cNvSpPr/>
          <p:nvPr/>
        </p:nvSpPr>
        <p:spPr>
          <a:xfrm>
            <a:off x="6812280" y="987552"/>
            <a:ext cx="1920240" cy="457200"/>
          </a:xfrm>
          <a:prstGeom prst="rect">
            <a:avLst/>
          </a:prstGeom>
          <a:solidFill>
            <a:srgbClr val="02C39A"/>
          </a:solidFill>
          <a:ln w="12700">
            <a:solidFill>
              <a:srgbClr val="02C39A"/>
            </a:solidFill>
            <a:prstDash val="solid"/>
          </a:ln>
        </p:spPr>
      </p:sp>
      <p:sp>
        <p:nvSpPr>
          <p:cNvPr id="21" name="Text 19"/>
          <p:cNvSpPr/>
          <p:nvPr/>
        </p:nvSpPr>
        <p:spPr>
          <a:xfrm>
            <a:off x="6812280" y="1481328"/>
            <a:ext cx="1920240" cy="749808"/>
          </a:xfrm>
          <a:prstGeom prst="rect">
            <a:avLst/>
          </a:prstGeom>
          <a:noFill/>
          <a:ln/>
        </p:spPr>
        <p:txBody>
          <a:bodyPr wrap="square" lIns="0" tIns="0" rIns="0" bIns="0" rtlCol="0" anchor="ctr"/>
          <a:lstStyle/>
          <a:p>
            <a:pPr algn="ctr" indent="0" marL="0">
              <a:buNone/>
            </a:pPr>
            <a:r>
              <a:rPr lang="en-US" sz="3400" b="1" dirty="0">
                <a:solidFill>
                  <a:srgbClr val="02C39A"/>
                </a:solidFill>
                <a:latin typeface="Georgia" pitchFamily="34" charset="0"/>
                <a:ea typeface="Georgia" pitchFamily="34" charset="-122"/>
                <a:cs typeface="Georgia" pitchFamily="34" charset="-120"/>
              </a:rPr>
              <a:t>0</a:t>
            </a:r>
            <a:endParaRPr lang="en-US" sz="3400" dirty="0"/>
          </a:p>
        </p:txBody>
      </p:sp>
      <p:sp>
        <p:nvSpPr>
          <p:cNvPr id="22" name="Text 20"/>
          <p:cNvSpPr/>
          <p:nvPr/>
        </p:nvSpPr>
        <p:spPr>
          <a:xfrm>
            <a:off x="6885432" y="2267712"/>
            <a:ext cx="1773936" cy="896112"/>
          </a:xfrm>
          <a:prstGeom prst="rect">
            <a:avLst/>
          </a:prstGeom>
          <a:noFill/>
          <a:ln/>
        </p:spPr>
        <p:txBody>
          <a:bodyPr wrap="square" lIns="0" tIns="0" rIns="0" bIns="0" rtlCol="0" anchor="t"/>
          <a:lstStyle/>
          <a:p>
            <a:pPr algn="ctr" indent="0" marL="0">
              <a:buNone/>
            </a:pPr>
            <a:r>
              <a:rPr lang="en-US" sz="950" dirty="0">
                <a:solidFill>
                  <a:srgbClr val="4A6278"/>
                </a:solidFill>
                <a:latin typeface="Calibri" pitchFamily="34" charset="0"/>
                <a:ea typeface="Calibri" pitchFamily="34" charset="-122"/>
                <a:cs typeface="Calibri" pitchFamily="34" charset="-120"/>
              </a:rPr>
              <a:t>new rows on</a:t>
            </a:r>
            <a:endParaRPr lang="en-US" sz="950" dirty="0"/>
          </a:p>
          <a:p>
            <a:pPr algn="ctr" indent="0" marL="0">
              <a:buNone/>
            </a:pPr>
            <a:r>
              <a:rPr lang="en-US" sz="950" dirty="0">
                <a:solidFill>
                  <a:srgbClr val="4A6278"/>
                </a:solidFill>
                <a:latin typeface="Calibri" pitchFamily="34" charset="0"/>
                <a:ea typeface="Calibri" pitchFamily="34" charset="-122"/>
                <a:cs typeface="Calibri" pitchFamily="34" charset="-120"/>
              </a:rPr>
              <a:t>re-ingest of</a:t>
            </a:r>
            <a:endParaRPr lang="en-US" sz="950" dirty="0"/>
          </a:p>
          <a:p>
            <a:pPr algn="ctr" indent="0" marL="0">
              <a:buNone/>
            </a:pPr>
            <a:r>
              <a:rPr lang="en-US" sz="950" dirty="0">
                <a:solidFill>
                  <a:srgbClr val="4A6278"/>
                </a:solidFill>
                <a:latin typeface="Calibri" pitchFamily="34" charset="0"/>
                <a:ea typeface="Calibri" pitchFamily="34" charset="-122"/>
                <a:cs typeface="Calibri" pitchFamily="34" charset="-120"/>
              </a:rPr>
              <a:t>same PDF</a:t>
            </a:r>
            <a:endParaRPr lang="en-US" sz="950" dirty="0"/>
          </a:p>
          <a:p>
            <a:pPr algn="ctr" indent="0" marL="0">
              <a:buNone/>
            </a:pPr>
            <a:r>
              <a:rPr lang="en-US" sz="950" dirty="0">
                <a:solidFill>
                  <a:srgbClr val="4A6278"/>
                </a:solidFill>
                <a:latin typeface="Calibri" pitchFamily="34" charset="0"/>
                <a:ea typeface="Calibri" pitchFamily="34" charset="-122"/>
                <a:cs typeface="Calibri" pitchFamily="34" charset="-120"/>
              </a:rPr>
              <a:t>(dedup works)</a:t>
            </a:r>
            <a:endParaRPr lang="en-US" sz="950" dirty="0"/>
          </a:p>
        </p:txBody>
      </p:sp>
      <p:graphicFrame>
        <p:nvGraphicFramePr>
          <p:cNvPr id="23" name="Chart 0" descr=""/>
          <p:cNvGraphicFramePr/>
          <p:nvPr/>
        </p:nvGraphicFramePr>
        <p:xfrm>
          <a:off x="365760" y="3364992"/>
          <a:ext cx="8412480" cy="141732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EF5FA"/>
        </a:solidFill>
      </p:bgPr>
    </p:bg>
    <p:spTree>
      <p:nvGrpSpPr>
        <p:cNvPr id="1" name=""/>
        <p:cNvGrpSpPr/>
        <p:nvPr/>
      </p:nvGrpSpPr>
      <p:grpSpPr>
        <a:xfrm>
          <a:off x="0" y="0"/>
          <a:ext cx="0" cy="0"/>
          <a:chOff x="0" y="0"/>
          <a:chExt cx="0" cy="0"/>
        </a:xfrm>
      </p:grpSpPr>
      <p:sp>
        <p:nvSpPr>
          <p:cNvPr id="2" name="Shape 0"/>
          <p:cNvSpPr/>
          <p:nvPr/>
        </p:nvSpPr>
        <p:spPr>
          <a:xfrm>
            <a:off x="365760" y="256032"/>
            <a:ext cx="64008" cy="438912"/>
          </a:xfrm>
          <a:prstGeom prst="rect">
            <a:avLst/>
          </a:prstGeom>
          <a:solidFill>
            <a:srgbClr val="02C39A"/>
          </a:solidFill>
          <a:ln w="12700">
            <a:solidFill>
              <a:srgbClr val="02C39A"/>
            </a:solidFill>
            <a:prstDash val="solid"/>
          </a:ln>
        </p:spPr>
      </p:sp>
      <p:sp>
        <p:nvSpPr>
          <p:cNvPr id="3" name="Text 1"/>
          <p:cNvSpPr/>
          <p:nvPr/>
        </p:nvSpPr>
        <p:spPr>
          <a:xfrm>
            <a:off x="502920" y="201168"/>
            <a:ext cx="8321040" cy="548640"/>
          </a:xfrm>
          <a:prstGeom prst="rect">
            <a:avLst/>
          </a:prstGeom>
          <a:noFill/>
          <a:ln/>
        </p:spPr>
        <p:txBody>
          <a:bodyPr wrap="square" lIns="0" tIns="0" rIns="0" bIns="0" rtlCol="0" anchor="ctr"/>
          <a:lstStyle/>
          <a:p>
            <a:pPr indent="0" marL="0">
              <a:buNone/>
            </a:pPr>
            <a:r>
              <a:rPr lang="en-US" sz="2600" b="1" dirty="0">
                <a:solidFill>
                  <a:srgbClr val="065A82"/>
                </a:solidFill>
                <a:latin typeface="Georgia" pitchFamily="34" charset="0"/>
                <a:ea typeface="Georgia" pitchFamily="34" charset="-122"/>
                <a:cs typeface="Georgia" pitchFamily="34" charset="-120"/>
              </a:rPr>
              <a:t>Known Limitations</a:t>
            </a:r>
            <a:endParaRPr lang="en-US" sz="2600" dirty="0"/>
          </a:p>
        </p:txBody>
      </p:sp>
      <p:sp>
        <p:nvSpPr>
          <p:cNvPr id="4" name="Shape 2"/>
          <p:cNvSpPr/>
          <p:nvPr/>
        </p:nvSpPr>
        <p:spPr>
          <a:xfrm>
            <a:off x="0" y="4887468"/>
            <a:ext cx="9144000" cy="256032"/>
          </a:xfrm>
          <a:prstGeom prst="rect">
            <a:avLst/>
          </a:prstGeom>
          <a:solidFill>
            <a:srgbClr val="1C7293"/>
          </a:solidFill>
          <a:ln w="12700">
            <a:solidFill>
              <a:srgbClr val="1C7293"/>
            </a:solidFill>
            <a:prstDash val="solid"/>
          </a:ln>
        </p:spPr>
      </p:sp>
      <p:sp>
        <p:nvSpPr>
          <p:cNvPr id="5" name="Text 3"/>
          <p:cNvSpPr/>
          <p:nvPr/>
        </p:nvSpPr>
        <p:spPr>
          <a:xfrm>
            <a:off x="274320" y="4905756"/>
            <a:ext cx="5486400" cy="219456"/>
          </a:xfrm>
          <a:prstGeom prst="rect">
            <a:avLst/>
          </a:prstGeom>
          <a:noFill/>
          <a:ln/>
        </p:spPr>
        <p:txBody>
          <a:bodyPr wrap="square" lIns="0" tIns="0" rIns="0" bIns="0" rtlCol="0" anchor="ctr"/>
          <a:lstStyle/>
          <a:p>
            <a:pPr indent="0" marL="0">
              <a:buNone/>
            </a:pPr>
            <a:r>
              <a:rPr lang="en-US" sz="800" dirty="0">
                <a:solidFill>
                  <a:srgbClr val="CCEEFF"/>
                </a:solidFill>
                <a:latin typeface="Calibri" pitchFamily="34" charset="0"/>
                <a:ea typeface="Calibri" pitchFamily="34" charset="-122"/>
                <a:cs typeface="Calibri" pitchFamily="34" charset="-120"/>
              </a:rPr>
              <a:t>Mathias Heider  |  ME8930 Course Project  |  May 2026</a:t>
            </a:r>
            <a:endParaRPr lang="en-US" sz="800" dirty="0"/>
          </a:p>
        </p:txBody>
      </p:sp>
      <p:sp>
        <p:nvSpPr>
          <p:cNvPr id="6" name="Text 4"/>
          <p:cNvSpPr/>
          <p:nvPr/>
        </p:nvSpPr>
        <p:spPr>
          <a:xfrm>
            <a:off x="6858000" y="4905756"/>
            <a:ext cx="2011680" cy="219456"/>
          </a:xfrm>
          <a:prstGeom prst="rect">
            <a:avLst/>
          </a:prstGeom>
          <a:noFill/>
          <a:ln/>
        </p:spPr>
        <p:txBody>
          <a:bodyPr wrap="square" lIns="0" tIns="0" rIns="0" bIns="0" rtlCol="0" anchor="ctr"/>
          <a:lstStyle/>
          <a:p>
            <a:pPr algn="r" indent="0" marL="0">
              <a:buNone/>
            </a:pPr>
            <a:r>
              <a:rPr lang="en-US" sz="800" dirty="0">
                <a:solidFill>
                  <a:srgbClr val="CCEEFF"/>
                </a:solidFill>
                <a:latin typeface="Calibri" pitchFamily="34" charset="0"/>
                <a:ea typeface="Calibri" pitchFamily="34" charset="-122"/>
                <a:cs typeface="Calibri" pitchFamily="34" charset="-120"/>
              </a:rPr>
              <a:t>8 / Autonomous Ingestion</a:t>
            </a:r>
            <a:endParaRPr lang="en-US" sz="800" dirty="0"/>
          </a:p>
        </p:txBody>
      </p:sp>
      <p:sp>
        <p:nvSpPr>
          <p:cNvPr id="7" name="Shape 5"/>
          <p:cNvSpPr/>
          <p:nvPr/>
        </p:nvSpPr>
        <p:spPr>
          <a:xfrm>
            <a:off x="365760" y="987552"/>
            <a:ext cx="2697480" cy="1389888"/>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8" name="Shape 6"/>
          <p:cNvSpPr/>
          <p:nvPr/>
        </p:nvSpPr>
        <p:spPr>
          <a:xfrm>
            <a:off x="365760" y="987552"/>
            <a:ext cx="45720" cy="1389888"/>
          </a:xfrm>
          <a:prstGeom prst="rect">
            <a:avLst/>
          </a:prstGeom>
          <a:solidFill>
            <a:srgbClr val="E53935"/>
          </a:solidFill>
          <a:ln w="12700">
            <a:solidFill>
              <a:srgbClr val="E53935"/>
            </a:solidFill>
            <a:prstDash val="solid"/>
          </a:ln>
        </p:spPr>
      </p:sp>
      <p:sp>
        <p:nvSpPr>
          <p:cNvPr id="9" name="Shape 7"/>
          <p:cNvSpPr/>
          <p:nvPr/>
        </p:nvSpPr>
        <p:spPr>
          <a:xfrm>
            <a:off x="502920" y="1078992"/>
            <a:ext cx="274320" cy="274320"/>
          </a:xfrm>
          <a:prstGeom prst="rect">
            <a:avLst/>
          </a:prstGeom>
          <a:solidFill>
            <a:srgbClr val="E53935"/>
          </a:solidFill>
          <a:ln w="12700">
            <a:solidFill>
              <a:srgbClr val="E53935"/>
            </a:solidFill>
            <a:prstDash val="solid"/>
          </a:ln>
        </p:spPr>
      </p:sp>
      <p:sp>
        <p:nvSpPr>
          <p:cNvPr id="10" name="Text 8"/>
          <p:cNvSpPr/>
          <p:nvPr/>
        </p:nvSpPr>
        <p:spPr>
          <a:xfrm>
            <a:off x="502920" y="1078992"/>
            <a:ext cx="27432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01</a:t>
            </a:r>
            <a:endParaRPr lang="en-US" sz="800" dirty="0"/>
          </a:p>
        </p:txBody>
      </p:sp>
      <p:sp>
        <p:nvSpPr>
          <p:cNvPr id="11" name="Text 9"/>
          <p:cNvSpPr/>
          <p:nvPr/>
        </p:nvSpPr>
        <p:spPr>
          <a:xfrm>
            <a:off x="841248" y="1078992"/>
            <a:ext cx="2084832" cy="320040"/>
          </a:xfrm>
          <a:prstGeom prst="rect">
            <a:avLst/>
          </a:prstGeom>
          <a:noFill/>
          <a:ln/>
        </p:spPr>
        <p:txBody>
          <a:bodyPr wrap="square" lIns="0" tIns="0" rIns="0" bIns="0" rtlCol="0" anchor="t"/>
          <a:lstStyle/>
          <a:p>
            <a:pPr indent="0" marL="0">
              <a:buNone/>
            </a:pPr>
            <a:r>
              <a:rPr lang="en-US" sz="1200" b="1" dirty="0">
                <a:solidFill>
                  <a:srgbClr val="1A2E3B"/>
                </a:solidFill>
                <a:latin typeface="Georgia" pitchFamily="34" charset="0"/>
                <a:ea typeface="Georgia" pitchFamily="34" charset="-122"/>
                <a:cs typeface="Georgia" pitchFamily="34" charset="-120"/>
              </a:rPr>
              <a:t>No Provenance</a:t>
            </a:r>
            <a:endParaRPr lang="en-US" sz="1200" dirty="0"/>
          </a:p>
        </p:txBody>
      </p:sp>
      <p:sp>
        <p:nvSpPr>
          <p:cNvPr id="12" name="Text 10"/>
          <p:cNvSpPr/>
          <p:nvPr/>
        </p:nvSpPr>
        <p:spPr>
          <a:xfrm>
            <a:off x="502920" y="1444752"/>
            <a:ext cx="2423160" cy="822960"/>
          </a:xfrm>
          <a:prstGeom prst="rect">
            <a:avLst/>
          </a:prstGeom>
          <a:noFill/>
          <a:ln/>
        </p:spPr>
        <p:txBody>
          <a:bodyPr wrap="square" lIns="0" tIns="0" rIns="0" bIns="0" rtlCol="0" anchor="t"/>
          <a:lstStyle/>
          <a:p>
            <a:pPr indent="0" marL="0">
              <a:buNone/>
            </a:pPr>
            <a:r>
              <a:rPr lang="en-US" sz="950" dirty="0">
                <a:solidFill>
                  <a:srgbClr val="4A6278"/>
                </a:solidFill>
                <a:latin typeface="Calibri" pitchFamily="34" charset="0"/>
                <a:ea typeface="Calibri" pitchFamily="34" charset="-122"/>
                <a:cs typeface="Calibri" pitchFamily="34" charset="-120"/>
              </a:rPr>
              <a:t>No source PDF, DOI, or page-number column. Adding a sources table with FK references is the highest-priority schema change.</a:t>
            </a:r>
            <a:endParaRPr lang="en-US" sz="950" dirty="0"/>
          </a:p>
        </p:txBody>
      </p:sp>
      <p:sp>
        <p:nvSpPr>
          <p:cNvPr id="13" name="Shape 11"/>
          <p:cNvSpPr/>
          <p:nvPr/>
        </p:nvSpPr>
        <p:spPr>
          <a:xfrm>
            <a:off x="3246120" y="987552"/>
            <a:ext cx="2697480" cy="1389888"/>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14" name="Shape 12"/>
          <p:cNvSpPr/>
          <p:nvPr/>
        </p:nvSpPr>
        <p:spPr>
          <a:xfrm>
            <a:off x="3246120" y="987552"/>
            <a:ext cx="45720" cy="1389888"/>
          </a:xfrm>
          <a:prstGeom prst="rect">
            <a:avLst/>
          </a:prstGeom>
          <a:solidFill>
            <a:srgbClr val="E53935"/>
          </a:solidFill>
          <a:ln w="12700">
            <a:solidFill>
              <a:srgbClr val="E53935"/>
            </a:solidFill>
            <a:prstDash val="solid"/>
          </a:ln>
        </p:spPr>
      </p:sp>
      <p:sp>
        <p:nvSpPr>
          <p:cNvPr id="15" name="Shape 13"/>
          <p:cNvSpPr/>
          <p:nvPr/>
        </p:nvSpPr>
        <p:spPr>
          <a:xfrm>
            <a:off x="3383280" y="1078992"/>
            <a:ext cx="274320" cy="274320"/>
          </a:xfrm>
          <a:prstGeom prst="rect">
            <a:avLst/>
          </a:prstGeom>
          <a:solidFill>
            <a:srgbClr val="E53935"/>
          </a:solidFill>
          <a:ln w="12700">
            <a:solidFill>
              <a:srgbClr val="E53935"/>
            </a:solidFill>
            <a:prstDash val="solid"/>
          </a:ln>
        </p:spPr>
      </p:sp>
      <p:sp>
        <p:nvSpPr>
          <p:cNvPr id="16" name="Text 14"/>
          <p:cNvSpPr/>
          <p:nvPr/>
        </p:nvSpPr>
        <p:spPr>
          <a:xfrm>
            <a:off x="3383280" y="1078992"/>
            <a:ext cx="27432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02</a:t>
            </a:r>
            <a:endParaRPr lang="en-US" sz="800" dirty="0"/>
          </a:p>
        </p:txBody>
      </p:sp>
      <p:sp>
        <p:nvSpPr>
          <p:cNvPr id="17" name="Text 15"/>
          <p:cNvSpPr/>
          <p:nvPr/>
        </p:nvSpPr>
        <p:spPr>
          <a:xfrm>
            <a:off x="3721608" y="1078992"/>
            <a:ext cx="2084832" cy="320040"/>
          </a:xfrm>
          <a:prstGeom prst="rect">
            <a:avLst/>
          </a:prstGeom>
          <a:noFill/>
          <a:ln/>
        </p:spPr>
        <p:txBody>
          <a:bodyPr wrap="square" lIns="0" tIns="0" rIns="0" bIns="0" rtlCol="0" anchor="t"/>
          <a:lstStyle/>
          <a:p>
            <a:pPr indent="0" marL="0">
              <a:buNone/>
            </a:pPr>
            <a:r>
              <a:rPr lang="en-US" sz="1200" b="1" dirty="0">
                <a:solidFill>
                  <a:srgbClr val="1A2E3B"/>
                </a:solidFill>
                <a:latin typeface="Georgia" pitchFamily="34" charset="0"/>
                <a:ea typeface="Georgia" pitchFamily="34" charset="-122"/>
                <a:cs typeface="Georgia" pitchFamily="34" charset="-120"/>
              </a:rPr>
              <a:t>Schema Rigidity</a:t>
            </a:r>
            <a:endParaRPr lang="en-US" sz="1200" dirty="0"/>
          </a:p>
        </p:txBody>
      </p:sp>
      <p:sp>
        <p:nvSpPr>
          <p:cNvPr id="18" name="Text 16"/>
          <p:cNvSpPr/>
          <p:nvPr/>
        </p:nvSpPr>
        <p:spPr>
          <a:xfrm>
            <a:off x="3383280" y="1444752"/>
            <a:ext cx="2423160" cy="822960"/>
          </a:xfrm>
          <a:prstGeom prst="rect">
            <a:avLst/>
          </a:prstGeom>
          <a:noFill/>
          <a:ln/>
        </p:spPr>
        <p:txBody>
          <a:bodyPr wrap="square" lIns="0" tIns="0" rIns="0" bIns="0" rtlCol="0" anchor="t"/>
          <a:lstStyle/>
          <a:p>
            <a:pPr indent="0" marL="0">
              <a:buNone/>
            </a:pPr>
            <a:r>
              <a:rPr lang="en-US" sz="950" dirty="0">
                <a:solidFill>
                  <a:srgbClr val="4A6278"/>
                </a:solidFill>
                <a:latin typeface="Calibri" pitchFamily="34" charset="0"/>
                <a:ea typeface="Calibri" pitchFamily="34" charset="-122"/>
                <a:cs typeface="Calibri" pitchFamily="34" charset="-120"/>
              </a:rPr>
              <a:t>Cure schedules, processing windows, and stress-strain curves do not fit one-row-per-property. Stored as free text or PNG plot images.</a:t>
            </a:r>
            <a:endParaRPr lang="en-US" sz="950" dirty="0"/>
          </a:p>
        </p:txBody>
      </p:sp>
      <p:sp>
        <p:nvSpPr>
          <p:cNvPr id="19" name="Shape 17"/>
          <p:cNvSpPr/>
          <p:nvPr/>
        </p:nvSpPr>
        <p:spPr>
          <a:xfrm>
            <a:off x="6126480" y="987552"/>
            <a:ext cx="2697480" cy="1389888"/>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20" name="Shape 18"/>
          <p:cNvSpPr/>
          <p:nvPr/>
        </p:nvSpPr>
        <p:spPr>
          <a:xfrm>
            <a:off x="6126480" y="987552"/>
            <a:ext cx="45720" cy="1389888"/>
          </a:xfrm>
          <a:prstGeom prst="rect">
            <a:avLst/>
          </a:prstGeom>
          <a:solidFill>
            <a:srgbClr val="E53935"/>
          </a:solidFill>
          <a:ln w="12700">
            <a:solidFill>
              <a:srgbClr val="E53935"/>
            </a:solidFill>
            <a:prstDash val="solid"/>
          </a:ln>
        </p:spPr>
      </p:sp>
      <p:sp>
        <p:nvSpPr>
          <p:cNvPr id="21" name="Shape 19"/>
          <p:cNvSpPr/>
          <p:nvPr/>
        </p:nvSpPr>
        <p:spPr>
          <a:xfrm>
            <a:off x="6263640" y="1078992"/>
            <a:ext cx="274320" cy="274320"/>
          </a:xfrm>
          <a:prstGeom prst="rect">
            <a:avLst/>
          </a:prstGeom>
          <a:solidFill>
            <a:srgbClr val="E53935"/>
          </a:solidFill>
          <a:ln w="12700">
            <a:solidFill>
              <a:srgbClr val="E53935"/>
            </a:solidFill>
            <a:prstDash val="solid"/>
          </a:ln>
        </p:spPr>
      </p:sp>
      <p:sp>
        <p:nvSpPr>
          <p:cNvPr id="22" name="Text 20"/>
          <p:cNvSpPr/>
          <p:nvPr/>
        </p:nvSpPr>
        <p:spPr>
          <a:xfrm>
            <a:off x="6263640" y="1078992"/>
            <a:ext cx="27432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03</a:t>
            </a:r>
            <a:endParaRPr lang="en-US" sz="800" dirty="0"/>
          </a:p>
        </p:txBody>
      </p:sp>
      <p:sp>
        <p:nvSpPr>
          <p:cNvPr id="23" name="Text 21"/>
          <p:cNvSpPr/>
          <p:nvPr/>
        </p:nvSpPr>
        <p:spPr>
          <a:xfrm>
            <a:off x="6601968" y="1078992"/>
            <a:ext cx="2084832" cy="320040"/>
          </a:xfrm>
          <a:prstGeom prst="rect">
            <a:avLst/>
          </a:prstGeom>
          <a:noFill/>
          <a:ln/>
        </p:spPr>
        <p:txBody>
          <a:bodyPr wrap="square" lIns="0" tIns="0" rIns="0" bIns="0" rtlCol="0" anchor="t"/>
          <a:lstStyle/>
          <a:p>
            <a:pPr indent="0" marL="0">
              <a:buNone/>
            </a:pPr>
            <a:r>
              <a:rPr lang="en-US" sz="1200" b="1" dirty="0">
                <a:solidFill>
                  <a:srgbClr val="1A2E3B"/>
                </a:solidFill>
                <a:latin typeface="Georgia" pitchFamily="34" charset="0"/>
                <a:ea typeface="Georgia" pitchFamily="34" charset="-122"/>
                <a:cs typeface="Georgia" pitchFamily="34" charset="-120"/>
              </a:rPr>
              <a:t>Keyword Class Routing</a:t>
            </a:r>
            <a:endParaRPr lang="en-US" sz="1200" dirty="0"/>
          </a:p>
        </p:txBody>
      </p:sp>
      <p:sp>
        <p:nvSpPr>
          <p:cNvPr id="24" name="Text 22"/>
          <p:cNvSpPr/>
          <p:nvPr/>
        </p:nvSpPr>
        <p:spPr>
          <a:xfrm>
            <a:off x="6263640" y="1444752"/>
            <a:ext cx="2423160" cy="822960"/>
          </a:xfrm>
          <a:prstGeom prst="rect">
            <a:avLst/>
          </a:prstGeom>
          <a:noFill/>
          <a:ln/>
        </p:spPr>
        <p:txBody>
          <a:bodyPr wrap="square" lIns="0" tIns="0" rIns="0" bIns="0" rtlCol="0" anchor="t"/>
          <a:lstStyle/>
          <a:p>
            <a:pPr indent="0" marL="0">
              <a:buNone/>
            </a:pPr>
            <a:r>
              <a:rPr lang="en-US" sz="950" dirty="0">
                <a:solidFill>
                  <a:srgbClr val="4A6278"/>
                </a:solidFill>
                <a:latin typeface="Calibri" pitchFamily="34" charset="0"/>
                <a:ea typeface="Calibri" pitchFamily="34" charset="-122"/>
                <a:cs typeface="Calibri" pitchFamily="34" charset="-120"/>
              </a:rPr>
              <a:t>Material class assigned by keyword matching on material_name. Prone to errors on ambiguous names -- needs a small classifier.</a:t>
            </a:r>
            <a:endParaRPr lang="en-US" sz="950" dirty="0"/>
          </a:p>
        </p:txBody>
      </p:sp>
      <p:sp>
        <p:nvSpPr>
          <p:cNvPr id="25" name="Shape 23"/>
          <p:cNvSpPr/>
          <p:nvPr/>
        </p:nvSpPr>
        <p:spPr>
          <a:xfrm>
            <a:off x="365760" y="2496312"/>
            <a:ext cx="2697480" cy="1389888"/>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26" name="Shape 24"/>
          <p:cNvSpPr/>
          <p:nvPr/>
        </p:nvSpPr>
        <p:spPr>
          <a:xfrm>
            <a:off x="365760" y="2496312"/>
            <a:ext cx="45720" cy="1389888"/>
          </a:xfrm>
          <a:prstGeom prst="rect">
            <a:avLst/>
          </a:prstGeom>
          <a:solidFill>
            <a:srgbClr val="E53935"/>
          </a:solidFill>
          <a:ln w="12700">
            <a:solidFill>
              <a:srgbClr val="E53935"/>
            </a:solidFill>
            <a:prstDash val="solid"/>
          </a:ln>
        </p:spPr>
      </p:sp>
      <p:sp>
        <p:nvSpPr>
          <p:cNvPr id="27" name="Shape 25"/>
          <p:cNvSpPr/>
          <p:nvPr/>
        </p:nvSpPr>
        <p:spPr>
          <a:xfrm>
            <a:off x="502920" y="2587752"/>
            <a:ext cx="274320" cy="274320"/>
          </a:xfrm>
          <a:prstGeom prst="rect">
            <a:avLst/>
          </a:prstGeom>
          <a:solidFill>
            <a:srgbClr val="E53935"/>
          </a:solidFill>
          <a:ln w="12700">
            <a:solidFill>
              <a:srgbClr val="E53935"/>
            </a:solidFill>
            <a:prstDash val="solid"/>
          </a:ln>
        </p:spPr>
      </p:sp>
      <p:sp>
        <p:nvSpPr>
          <p:cNvPr id="28" name="Text 26"/>
          <p:cNvSpPr/>
          <p:nvPr/>
        </p:nvSpPr>
        <p:spPr>
          <a:xfrm>
            <a:off x="502920" y="2587752"/>
            <a:ext cx="27432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04</a:t>
            </a:r>
            <a:endParaRPr lang="en-US" sz="800" dirty="0"/>
          </a:p>
        </p:txBody>
      </p:sp>
      <p:sp>
        <p:nvSpPr>
          <p:cNvPr id="29" name="Text 27"/>
          <p:cNvSpPr/>
          <p:nvPr/>
        </p:nvSpPr>
        <p:spPr>
          <a:xfrm>
            <a:off x="841248" y="2587752"/>
            <a:ext cx="2084832" cy="320040"/>
          </a:xfrm>
          <a:prstGeom prst="rect">
            <a:avLst/>
          </a:prstGeom>
          <a:noFill/>
          <a:ln/>
        </p:spPr>
        <p:txBody>
          <a:bodyPr wrap="square" lIns="0" tIns="0" rIns="0" bIns="0" rtlCol="0" anchor="t"/>
          <a:lstStyle/>
          <a:p>
            <a:pPr indent="0" marL="0">
              <a:buNone/>
            </a:pPr>
            <a:r>
              <a:rPr lang="en-US" sz="1200" b="1" dirty="0">
                <a:solidFill>
                  <a:srgbClr val="1A2E3B"/>
                </a:solidFill>
                <a:latin typeface="Georgia" pitchFamily="34" charset="0"/>
                <a:ea typeface="Georgia" pitchFamily="34" charset="-122"/>
                <a:cs typeface="Georgia" pitchFamily="34" charset="-120"/>
              </a:rPr>
              <a:t>No Evaluation Set</a:t>
            </a:r>
            <a:endParaRPr lang="en-US" sz="1200" dirty="0"/>
          </a:p>
        </p:txBody>
      </p:sp>
      <p:sp>
        <p:nvSpPr>
          <p:cNvPr id="30" name="Text 28"/>
          <p:cNvSpPr/>
          <p:nvPr/>
        </p:nvSpPr>
        <p:spPr>
          <a:xfrm>
            <a:off x="502920" y="2953512"/>
            <a:ext cx="2423160" cy="822960"/>
          </a:xfrm>
          <a:prstGeom prst="rect">
            <a:avLst/>
          </a:prstGeom>
          <a:noFill/>
          <a:ln/>
        </p:spPr>
        <p:txBody>
          <a:bodyPr wrap="square" lIns="0" tIns="0" rIns="0" bIns="0" rtlCol="0" anchor="t"/>
          <a:lstStyle/>
          <a:p>
            <a:pPr indent="0" marL="0">
              <a:buNone/>
            </a:pPr>
            <a:r>
              <a:rPr lang="en-US" sz="950" dirty="0">
                <a:solidFill>
                  <a:srgbClr val="4A6278"/>
                </a:solidFill>
                <a:latin typeface="Calibri" pitchFamily="34" charset="0"/>
                <a:ea typeface="Calibri" pitchFamily="34" charset="-122"/>
                <a:cs typeface="Calibri" pitchFamily="34" charset="-120"/>
              </a:rPr>
              <a:t>Extraction precision/recall not formally measured. A 50-100 row hand-labeled ground-truth set is needed before publishing accuracy numbers.</a:t>
            </a:r>
            <a:endParaRPr lang="en-US" sz="950" dirty="0"/>
          </a:p>
        </p:txBody>
      </p:sp>
      <p:sp>
        <p:nvSpPr>
          <p:cNvPr id="31" name="Shape 29"/>
          <p:cNvSpPr/>
          <p:nvPr/>
        </p:nvSpPr>
        <p:spPr>
          <a:xfrm>
            <a:off x="3246120" y="2496312"/>
            <a:ext cx="2697480" cy="1389888"/>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32" name="Shape 30"/>
          <p:cNvSpPr/>
          <p:nvPr/>
        </p:nvSpPr>
        <p:spPr>
          <a:xfrm>
            <a:off x="3246120" y="2496312"/>
            <a:ext cx="45720" cy="1389888"/>
          </a:xfrm>
          <a:prstGeom prst="rect">
            <a:avLst/>
          </a:prstGeom>
          <a:solidFill>
            <a:srgbClr val="E53935"/>
          </a:solidFill>
          <a:ln w="12700">
            <a:solidFill>
              <a:srgbClr val="E53935"/>
            </a:solidFill>
            <a:prstDash val="solid"/>
          </a:ln>
        </p:spPr>
      </p:sp>
      <p:sp>
        <p:nvSpPr>
          <p:cNvPr id="33" name="Shape 31"/>
          <p:cNvSpPr/>
          <p:nvPr/>
        </p:nvSpPr>
        <p:spPr>
          <a:xfrm>
            <a:off x="3383280" y="2587752"/>
            <a:ext cx="274320" cy="274320"/>
          </a:xfrm>
          <a:prstGeom prst="rect">
            <a:avLst/>
          </a:prstGeom>
          <a:solidFill>
            <a:srgbClr val="E53935"/>
          </a:solidFill>
          <a:ln w="12700">
            <a:solidFill>
              <a:srgbClr val="E53935"/>
            </a:solidFill>
            <a:prstDash val="solid"/>
          </a:ln>
        </p:spPr>
      </p:sp>
      <p:sp>
        <p:nvSpPr>
          <p:cNvPr id="34" name="Text 32"/>
          <p:cNvSpPr/>
          <p:nvPr/>
        </p:nvSpPr>
        <p:spPr>
          <a:xfrm>
            <a:off x="3383280" y="2587752"/>
            <a:ext cx="27432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05</a:t>
            </a:r>
            <a:endParaRPr lang="en-US" sz="800" dirty="0"/>
          </a:p>
        </p:txBody>
      </p:sp>
      <p:sp>
        <p:nvSpPr>
          <p:cNvPr id="35" name="Text 33"/>
          <p:cNvSpPr/>
          <p:nvPr/>
        </p:nvSpPr>
        <p:spPr>
          <a:xfrm>
            <a:off x="3721608" y="2587752"/>
            <a:ext cx="2084832" cy="320040"/>
          </a:xfrm>
          <a:prstGeom prst="rect">
            <a:avLst/>
          </a:prstGeom>
          <a:noFill/>
          <a:ln/>
        </p:spPr>
        <p:txBody>
          <a:bodyPr wrap="square" lIns="0" tIns="0" rIns="0" bIns="0" rtlCol="0" anchor="t"/>
          <a:lstStyle/>
          <a:p>
            <a:pPr indent="0" marL="0">
              <a:buNone/>
            </a:pPr>
            <a:r>
              <a:rPr lang="en-US" sz="1200" b="1" dirty="0">
                <a:solidFill>
                  <a:srgbClr val="1A2E3B"/>
                </a:solidFill>
                <a:latin typeface="Georgia" pitchFamily="34" charset="0"/>
                <a:ea typeface="Georgia" pitchFamily="34" charset="-122"/>
                <a:cs typeface="Georgia" pitchFamily="34" charset="-120"/>
              </a:rPr>
              <a:t>No Source Discovery</a:t>
            </a:r>
            <a:endParaRPr lang="en-US" sz="1200" dirty="0"/>
          </a:p>
        </p:txBody>
      </p:sp>
      <p:sp>
        <p:nvSpPr>
          <p:cNvPr id="36" name="Text 34"/>
          <p:cNvSpPr/>
          <p:nvPr/>
        </p:nvSpPr>
        <p:spPr>
          <a:xfrm>
            <a:off x="3383280" y="2953512"/>
            <a:ext cx="2423160" cy="822960"/>
          </a:xfrm>
          <a:prstGeom prst="rect">
            <a:avLst/>
          </a:prstGeom>
          <a:noFill/>
          <a:ln/>
        </p:spPr>
        <p:txBody>
          <a:bodyPr wrap="square" lIns="0" tIns="0" rIns="0" bIns="0" rtlCol="0" anchor="t"/>
          <a:lstStyle/>
          <a:p>
            <a:pPr indent="0" marL="0">
              <a:buNone/>
            </a:pPr>
            <a:r>
              <a:rPr lang="en-US" sz="950" dirty="0">
                <a:solidFill>
                  <a:srgbClr val="4A6278"/>
                </a:solidFill>
                <a:latin typeface="Calibri" pitchFamily="34" charset="0"/>
                <a:ea typeface="Calibri" pitchFamily="34" charset="-122"/>
                <a:cs typeface="Calibri" pitchFamily="34" charset="-120"/>
              </a:rPr>
              <a:t>Batch prototype works on a fixed PDF folder. Source discovery (OpenAlex, Semantic Scholar, arXiv) is not yet implemented.</a:t>
            </a:r>
            <a:endParaRPr lang="en-US" sz="950" dirty="0"/>
          </a:p>
        </p:txBody>
      </p:sp>
      <p:sp>
        <p:nvSpPr>
          <p:cNvPr id="37" name="Shape 35"/>
          <p:cNvSpPr/>
          <p:nvPr/>
        </p:nvSpPr>
        <p:spPr>
          <a:xfrm>
            <a:off x="6126480" y="2496312"/>
            <a:ext cx="2697480" cy="1389888"/>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38" name="Shape 36"/>
          <p:cNvSpPr/>
          <p:nvPr/>
        </p:nvSpPr>
        <p:spPr>
          <a:xfrm>
            <a:off x="6126480" y="2496312"/>
            <a:ext cx="45720" cy="1389888"/>
          </a:xfrm>
          <a:prstGeom prst="rect">
            <a:avLst/>
          </a:prstGeom>
          <a:solidFill>
            <a:srgbClr val="E53935"/>
          </a:solidFill>
          <a:ln w="12700">
            <a:solidFill>
              <a:srgbClr val="E53935"/>
            </a:solidFill>
            <a:prstDash val="solid"/>
          </a:ln>
        </p:spPr>
      </p:sp>
      <p:sp>
        <p:nvSpPr>
          <p:cNvPr id="39" name="Shape 37"/>
          <p:cNvSpPr/>
          <p:nvPr/>
        </p:nvSpPr>
        <p:spPr>
          <a:xfrm>
            <a:off x="6263640" y="2587752"/>
            <a:ext cx="274320" cy="274320"/>
          </a:xfrm>
          <a:prstGeom prst="rect">
            <a:avLst/>
          </a:prstGeom>
          <a:solidFill>
            <a:srgbClr val="E53935"/>
          </a:solidFill>
          <a:ln w="12700">
            <a:solidFill>
              <a:srgbClr val="E53935"/>
            </a:solidFill>
            <a:prstDash val="solid"/>
          </a:ln>
        </p:spPr>
      </p:sp>
      <p:sp>
        <p:nvSpPr>
          <p:cNvPr id="40" name="Text 38"/>
          <p:cNvSpPr/>
          <p:nvPr/>
        </p:nvSpPr>
        <p:spPr>
          <a:xfrm>
            <a:off x="6263640" y="2587752"/>
            <a:ext cx="27432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06</a:t>
            </a:r>
            <a:endParaRPr lang="en-US" sz="800" dirty="0"/>
          </a:p>
        </p:txBody>
      </p:sp>
      <p:sp>
        <p:nvSpPr>
          <p:cNvPr id="41" name="Text 39"/>
          <p:cNvSpPr/>
          <p:nvPr/>
        </p:nvSpPr>
        <p:spPr>
          <a:xfrm>
            <a:off x="6601968" y="2587752"/>
            <a:ext cx="2084832" cy="320040"/>
          </a:xfrm>
          <a:prstGeom prst="rect">
            <a:avLst/>
          </a:prstGeom>
          <a:noFill/>
          <a:ln/>
        </p:spPr>
        <p:txBody>
          <a:bodyPr wrap="square" lIns="0" tIns="0" rIns="0" bIns="0" rtlCol="0" anchor="t"/>
          <a:lstStyle/>
          <a:p>
            <a:pPr indent="0" marL="0">
              <a:buNone/>
            </a:pPr>
            <a:r>
              <a:rPr lang="en-US" sz="1200" b="1" dirty="0">
                <a:solidFill>
                  <a:srgbClr val="1A2E3B"/>
                </a:solidFill>
                <a:latin typeface="Georgia" pitchFamily="34" charset="0"/>
                <a:ea typeface="Georgia" pitchFamily="34" charset="-122"/>
                <a:cs typeface="Georgia" pitchFamily="34" charset="-120"/>
              </a:rPr>
              <a:t>Empty Tables</a:t>
            </a:r>
            <a:endParaRPr lang="en-US" sz="1200" dirty="0"/>
          </a:p>
        </p:txBody>
      </p:sp>
      <p:sp>
        <p:nvSpPr>
          <p:cNvPr id="42" name="Text 40"/>
          <p:cNvSpPr/>
          <p:nvPr/>
        </p:nvSpPr>
        <p:spPr>
          <a:xfrm>
            <a:off x="6263640" y="2953512"/>
            <a:ext cx="2423160" cy="822960"/>
          </a:xfrm>
          <a:prstGeom prst="rect">
            <a:avLst/>
          </a:prstGeom>
          <a:noFill/>
          <a:ln/>
        </p:spPr>
        <p:txBody>
          <a:bodyPr wrap="square" lIns="0" tIns="0" rIns="0" bIns="0" rtlCol="0" anchor="t"/>
          <a:lstStyle/>
          <a:p>
            <a:pPr indent="0" marL="0">
              <a:buNone/>
            </a:pPr>
            <a:r>
              <a:rPr lang="en-US" sz="950" dirty="0">
                <a:solidFill>
                  <a:srgbClr val="4A6278"/>
                </a:solidFill>
                <a:latin typeface="Calibri" pitchFamily="34" charset="0"/>
                <a:ea typeface="Calibri" pitchFamily="34" charset="-122"/>
                <a:cs typeface="Calibri" pitchFamily="34" charset="-120"/>
              </a:rPr>
              <a:t>Fibers and Composites_materials tables contain zero rows in the current seed. The database is polymer-only today.</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EF5FA"/>
        </a:solidFill>
      </p:bgPr>
    </p:bg>
    <p:spTree>
      <p:nvGrpSpPr>
        <p:cNvPr id="1" name=""/>
        <p:cNvGrpSpPr/>
        <p:nvPr/>
      </p:nvGrpSpPr>
      <p:grpSpPr>
        <a:xfrm>
          <a:off x="0" y="0"/>
          <a:ext cx="0" cy="0"/>
          <a:chOff x="0" y="0"/>
          <a:chExt cx="0" cy="0"/>
        </a:xfrm>
      </p:grpSpPr>
      <p:sp>
        <p:nvSpPr>
          <p:cNvPr id="2" name="Shape 0"/>
          <p:cNvSpPr/>
          <p:nvPr/>
        </p:nvSpPr>
        <p:spPr>
          <a:xfrm>
            <a:off x="365760" y="256032"/>
            <a:ext cx="64008" cy="438912"/>
          </a:xfrm>
          <a:prstGeom prst="rect">
            <a:avLst/>
          </a:prstGeom>
          <a:solidFill>
            <a:srgbClr val="02C39A"/>
          </a:solidFill>
          <a:ln w="12700">
            <a:solidFill>
              <a:srgbClr val="02C39A"/>
            </a:solidFill>
            <a:prstDash val="solid"/>
          </a:ln>
        </p:spPr>
      </p:sp>
      <p:sp>
        <p:nvSpPr>
          <p:cNvPr id="3" name="Text 1"/>
          <p:cNvSpPr/>
          <p:nvPr/>
        </p:nvSpPr>
        <p:spPr>
          <a:xfrm>
            <a:off x="502920" y="201168"/>
            <a:ext cx="8321040" cy="548640"/>
          </a:xfrm>
          <a:prstGeom prst="rect">
            <a:avLst/>
          </a:prstGeom>
          <a:noFill/>
          <a:ln/>
        </p:spPr>
        <p:txBody>
          <a:bodyPr wrap="square" lIns="0" tIns="0" rIns="0" bIns="0" rtlCol="0" anchor="ctr"/>
          <a:lstStyle/>
          <a:p>
            <a:pPr indent="0" marL="0">
              <a:buNone/>
            </a:pPr>
            <a:r>
              <a:rPr lang="en-US" sz="2600" b="1" dirty="0">
                <a:solidFill>
                  <a:srgbClr val="065A82"/>
                </a:solidFill>
                <a:latin typeface="Georgia" pitchFamily="34" charset="0"/>
                <a:ea typeface="Georgia" pitchFamily="34" charset="-122"/>
                <a:cs typeface="Georgia" pitchFamily="34" charset="-120"/>
              </a:rPr>
              <a:t>Next Steps &amp; Future Work</a:t>
            </a:r>
            <a:endParaRPr lang="en-US" sz="2600" dirty="0"/>
          </a:p>
        </p:txBody>
      </p:sp>
      <p:sp>
        <p:nvSpPr>
          <p:cNvPr id="4" name="Shape 2"/>
          <p:cNvSpPr/>
          <p:nvPr/>
        </p:nvSpPr>
        <p:spPr>
          <a:xfrm>
            <a:off x="0" y="4887468"/>
            <a:ext cx="9144000" cy="256032"/>
          </a:xfrm>
          <a:prstGeom prst="rect">
            <a:avLst/>
          </a:prstGeom>
          <a:solidFill>
            <a:srgbClr val="1C7293"/>
          </a:solidFill>
          <a:ln w="12700">
            <a:solidFill>
              <a:srgbClr val="1C7293"/>
            </a:solidFill>
            <a:prstDash val="solid"/>
          </a:ln>
        </p:spPr>
      </p:sp>
      <p:sp>
        <p:nvSpPr>
          <p:cNvPr id="5" name="Text 3"/>
          <p:cNvSpPr/>
          <p:nvPr/>
        </p:nvSpPr>
        <p:spPr>
          <a:xfrm>
            <a:off x="274320" y="4905756"/>
            <a:ext cx="5486400" cy="219456"/>
          </a:xfrm>
          <a:prstGeom prst="rect">
            <a:avLst/>
          </a:prstGeom>
          <a:noFill/>
          <a:ln/>
        </p:spPr>
        <p:txBody>
          <a:bodyPr wrap="square" lIns="0" tIns="0" rIns="0" bIns="0" rtlCol="0" anchor="ctr"/>
          <a:lstStyle/>
          <a:p>
            <a:pPr indent="0" marL="0">
              <a:buNone/>
            </a:pPr>
            <a:r>
              <a:rPr lang="en-US" sz="800" dirty="0">
                <a:solidFill>
                  <a:srgbClr val="CCEEFF"/>
                </a:solidFill>
                <a:latin typeface="Calibri" pitchFamily="34" charset="0"/>
                <a:ea typeface="Calibri" pitchFamily="34" charset="-122"/>
                <a:cs typeface="Calibri" pitchFamily="34" charset="-120"/>
              </a:rPr>
              <a:t>Mathias Heider  |  ME8930 Course Project  |  May 2026</a:t>
            </a:r>
            <a:endParaRPr lang="en-US" sz="800" dirty="0"/>
          </a:p>
        </p:txBody>
      </p:sp>
      <p:sp>
        <p:nvSpPr>
          <p:cNvPr id="6" name="Text 4"/>
          <p:cNvSpPr/>
          <p:nvPr/>
        </p:nvSpPr>
        <p:spPr>
          <a:xfrm>
            <a:off x="6858000" y="4905756"/>
            <a:ext cx="2011680" cy="219456"/>
          </a:xfrm>
          <a:prstGeom prst="rect">
            <a:avLst/>
          </a:prstGeom>
          <a:noFill/>
          <a:ln/>
        </p:spPr>
        <p:txBody>
          <a:bodyPr wrap="square" lIns="0" tIns="0" rIns="0" bIns="0" rtlCol="0" anchor="ctr"/>
          <a:lstStyle/>
          <a:p>
            <a:pPr algn="r" indent="0" marL="0">
              <a:buNone/>
            </a:pPr>
            <a:r>
              <a:rPr lang="en-US" sz="800" dirty="0">
                <a:solidFill>
                  <a:srgbClr val="CCEEFF"/>
                </a:solidFill>
                <a:latin typeface="Calibri" pitchFamily="34" charset="0"/>
                <a:ea typeface="Calibri" pitchFamily="34" charset="-122"/>
                <a:cs typeface="Calibri" pitchFamily="34" charset="-120"/>
              </a:rPr>
              <a:t>9 / Next Steps</a:t>
            </a:r>
            <a:endParaRPr lang="en-US" sz="800" dirty="0"/>
          </a:p>
        </p:txBody>
      </p:sp>
      <p:sp>
        <p:nvSpPr>
          <p:cNvPr id="7" name="Shape 5"/>
          <p:cNvSpPr/>
          <p:nvPr/>
        </p:nvSpPr>
        <p:spPr>
          <a:xfrm>
            <a:off x="365760" y="1005840"/>
            <a:ext cx="4160520" cy="1170432"/>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8" name="Shape 6"/>
          <p:cNvSpPr/>
          <p:nvPr/>
        </p:nvSpPr>
        <p:spPr>
          <a:xfrm>
            <a:off x="365760" y="1005840"/>
            <a:ext cx="566928" cy="1170432"/>
          </a:xfrm>
          <a:prstGeom prst="rect">
            <a:avLst/>
          </a:prstGeom>
          <a:solidFill>
            <a:srgbClr val="E53935"/>
          </a:solidFill>
          <a:ln w="12700">
            <a:solidFill>
              <a:srgbClr val="E53935"/>
            </a:solidFill>
            <a:prstDash val="solid"/>
          </a:ln>
        </p:spPr>
      </p:sp>
      <p:sp>
        <p:nvSpPr>
          <p:cNvPr id="9" name="Text 7"/>
          <p:cNvSpPr/>
          <p:nvPr/>
        </p:nvSpPr>
        <p:spPr>
          <a:xfrm>
            <a:off x="365760" y="1005840"/>
            <a:ext cx="566928" cy="11704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P0</a:t>
            </a:r>
            <a:endParaRPr lang="en-US" sz="1200" dirty="0"/>
          </a:p>
        </p:txBody>
      </p:sp>
      <p:sp>
        <p:nvSpPr>
          <p:cNvPr id="10" name="Text 8"/>
          <p:cNvSpPr/>
          <p:nvPr/>
        </p:nvSpPr>
        <p:spPr>
          <a:xfrm>
            <a:off x="1024128" y="1115568"/>
            <a:ext cx="3383280" cy="320040"/>
          </a:xfrm>
          <a:prstGeom prst="rect">
            <a:avLst/>
          </a:prstGeom>
          <a:noFill/>
          <a:ln/>
        </p:spPr>
        <p:txBody>
          <a:bodyPr wrap="square" lIns="0" tIns="0" rIns="0" bIns="0" rtlCol="0" anchor="t"/>
          <a:lstStyle/>
          <a:p>
            <a:pPr indent="0" marL="0">
              <a:buNone/>
            </a:pPr>
            <a:r>
              <a:rPr lang="en-US" sz="1200" b="1" dirty="0">
                <a:solidFill>
                  <a:srgbClr val="1A2E3B"/>
                </a:solidFill>
                <a:latin typeface="Georgia" pitchFamily="34" charset="0"/>
                <a:ea typeface="Georgia" pitchFamily="34" charset="-122"/>
                <a:cs typeface="Georgia" pitchFamily="34" charset="-120"/>
              </a:rPr>
              <a:t>Add sources table + provenance</a:t>
            </a:r>
            <a:endParaRPr lang="en-US" sz="1200" dirty="0"/>
          </a:p>
        </p:txBody>
      </p:sp>
      <p:sp>
        <p:nvSpPr>
          <p:cNvPr id="11" name="Text 9"/>
          <p:cNvSpPr/>
          <p:nvPr/>
        </p:nvSpPr>
        <p:spPr>
          <a:xfrm>
            <a:off x="1024128" y="1444752"/>
            <a:ext cx="3383280" cy="621792"/>
          </a:xfrm>
          <a:prstGeom prst="rect">
            <a:avLst/>
          </a:prstGeom>
          <a:noFill/>
          <a:ln/>
        </p:spPr>
        <p:txBody>
          <a:bodyPr wrap="square" lIns="0" tIns="0" rIns="0" bIns="0" rtlCol="0" anchor="t"/>
          <a:lstStyle/>
          <a:p>
            <a:pPr indent="0" marL="0">
              <a:buNone/>
            </a:pPr>
            <a:r>
              <a:rPr lang="en-US" sz="950" dirty="0">
                <a:solidFill>
                  <a:srgbClr val="4A6278"/>
                </a:solidFill>
                <a:latin typeface="Calibri" pitchFamily="34" charset="0"/>
                <a:ea typeface="Calibri" pitchFamily="34" charset="-122"/>
                <a:cs typeface="Calibri" pitchFamily="34" charset="-120"/>
              </a:rPr>
              <a:t>Every inserted row gets a FK to a sources table tracking PDF hash, DOI, and page number. Critical for reproducibility.</a:t>
            </a:r>
            <a:endParaRPr lang="en-US" sz="950" dirty="0"/>
          </a:p>
        </p:txBody>
      </p:sp>
      <p:sp>
        <p:nvSpPr>
          <p:cNvPr id="12" name="Shape 10"/>
          <p:cNvSpPr/>
          <p:nvPr/>
        </p:nvSpPr>
        <p:spPr>
          <a:xfrm>
            <a:off x="4709160" y="1005840"/>
            <a:ext cx="4160520" cy="1170432"/>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13" name="Shape 11"/>
          <p:cNvSpPr/>
          <p:nvPr/>
        </p:nvSpPr>
        <p:spPr>
          <a:xfrm>
            <a:off x="4709160" y="1005840"/>
            <a:ext cx="566928" cy="1170432"/>
          </a:xfrm>
          <a:prstGeom prst="rect">
            <a:avLst/>
          </a:prstGeom>
          <a:solidFill>
            <a:srgbClr val="E65100"/>
          </a:solidFill>
          <a:ln w="12700">
            <a:solidFill>
              <a:srgbClr val="E65100"/>
            </a:solidFill>
            <a:prstDash val="solid"/>
          </a:ln>
        </p:spPr>
      </p:sp>
      <p:sp>
        <p:nvSpPr>
          <p:cNvPr id="14" name="Text 12"/>
          <p:cNvSpPr/>
          <p:nvPr/>
        </p:nvSpPr>
        <p:spPr>
          <a:xfrm>
            <a:off x="4709160" y="1005840"/>
            <a:ext cx="566928" cy="11704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P1</a:t>
            </a:r>
            <a:endParaRPr lang="en-US" sz="1200" dirty="0"/>
          </a:p>
        </p:txBody>
      </p:sp>
      <p:sp>
        <p:nvSpPr>
          <p:cNvPr id="15" name="Text 13"/>
          <p:cNvSpPr/>
          <p:nvPr/>
        </p:nvSpPr>
        <p:spPr>
          <a:xfrm>
            <a:off x="5367528" y="1115568"/>
            <a:ext cx="3383280" cy="320040"/>
          </a:xfrm>
          <a:prstGeom prst="rect">
            <a:avLst/>
          </a:prstGeom>
          <a:noFill/>
          <a:ln/>
        </p:spPr>
        <p:txBody>
          <a:bodyPr wrap="square" lIns="0" tIns="0" rIns="0" bIns="0" rtlCol="0" anchor="t"/>
          <a:lstStyle/>
          <a:p>
            <a:pPr indent="0" marL="0">
              <a:buNone/>
            </a:pPr>
            <a:r>
              <a:rPr lang="en-US" sz="1200" b="1" dirty="0">
                <a:solidFill>
                  <a:srgbClr val="1A2E3B"/>
                </a:solidFill>
                <a:latin typeface="Georgia" pitchFamily="34" charset="0"/>
                <a:ea typeface="Georgia" pitchFamily="34" charset="-122"/>
                <a:cs typeface="Georgia" pitchFamily="34" charset="-120"/>
              </a:rPr>
              <a:t>Hand-label evaluation set</a:t>
            </a:r>
            <a:endParaRPr lang="en-US" sz="1200" dirty="0"/>
          </a:p>
        </p:txBody>
      </p:sp>
      <p:sp>
        <p:nvSpPr>
          <p:cNvPr id="16" name="Text 14"/>
          <p:cNvSpPr/>
          <p:nvPr/>
        </p:nvSpPr>
        <p:spPr>
          <a:xfrm>
            <a:off x="5367528" y="1444752"/>
            <a:ext cx="3383280" cy="621792"/>
          </a:xfrm>
          <a:prstGeom prst="rect">
            <a:avLst/>
          </a:prstGeom>
          <a:noFill/>
          <a:ln/>
        </p:spPr>
        <p:txBody>
          <a:bodyPr wrap="square" lIns="0" tIns="0" rIns="0" bIns="0" rtlCol="0" anchor="t"/>
          <a:lstStyle/>
          <a:p>
            <a:pPr indent="0" marL="0">
              <a:buNone/>
            </a:pPr>
            <a:r>
              <a:rPr lang="en-US" sz="950" dirty="0">
                <a:solidFill>
                  <a:srgbClr val="4A6278"/>
                </a:solidFill>
                <a:latin typeface="Calibri" pitchFamily="34" charset="0"/>
                <a:ea typeface="Calibri" pitchFamily="34" charset="-122"/>
                <a:cs typeface="Calibri" pitchFamily="34" charset="-120"/>
              </a:rPr>
              <a:t>50-100 row gold-standard ground truth for extraction precision/recall. Required before publishing accuracy numbers.</a:t>
            </a:r>
            <a:endParaRPr lang="en-US" sz="950" dirty="0"/>
          </a:p>
        </p:txBody>
      </p:sp>
      <p:sp>
        <p:nvSpPr>
          <p:cNvPr id="17" name="Shape 15"/>
          <p:cNvSpPr/>
          <p:nvPr/>
        </p:nvSpPr>
        <p:spPr>
          <a:xfrm>
            <a:off x="365760" y="2286000"/>
            <a:ext cx="4160520" cy="1170432"/>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18" name="Shape 16"/>
          <p:cNvSpPr/>
          <p:nvPr/>
        </p:nvSpPr>
        <p:spPr>
          <a:xfrm>
            <a:off x="365760" y="2286000"/>
            <a:ext cx="566928" cy="1170432"/>
          </a:xfrm>
          <a:prstGeom prst="rect">
            <a:avLst/>
          </a:prstGeom>
          <a:solidFill>
            <a:srgbClr val="1C7293"/>
          </a:solidFill>
          <a:ln w="12700">
            <a:solidFill>
              <a:srgbClr val="1C7293"/>
            </a:solidFill>
            <a:prstDash val="solid"/>
          </a:ln>
        </p:spPr>
      </p:sp>
      <p:sp>
        <p:nvSpPr>
          <p:cNvPr id="19" name="Text 17"/>
          <p:cNvSpPr/>
          <p:nvPr/>
        </p:nvSpPr>
        <p:spPr>
          <a:xfrm>
            <a:off x="365760" y="2286000"/>
            <a:ext cx="566928" cy="11704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P1</a:t>
            </a:r>
            <a:endParaRPr lang="en-US" sz="1200" dirty="0"/>
          </a:p>
        </p:txBody>
      </p:sp>
      <p:sp>
        <p:nvSpPr>
          <p:cNvPr id="20" name="Text 18"/>
          <p:cNvSpPr/>
          <p:nvPr/>
        </p:nvSpPr>
        <p:spPr>
          <a:xfrm>
            <a:off x="1024128" y="2395728"/>
            <a:ext cx="3383280" cy="320040"/>
          </a:xfrm>
          <a:prstGeom prst="rect">
            <a:avLst/>
          </a:prstGeom>
          <a:noFill/>
          <a:ln/>
        </p:spPr>
        <p:txBody>
          <a:bodyPr wrap="square" lIns="0" tIns="0" rIns="0" bIns="0" rtlCol="0" anchor="t"/>
          <a:lstStyle/>
          <a:p>
            <a:pPr indent="0" marL="0">
              <a:buNone/>
            </a:pPr>
            <a:r>
              <a:rPr lang="en-US" sz="1200" b="1" dirty="0">
                <a:solidFill>
                  <a:srgbClr val="1A2E3B"/>
                </a:solidFill>
                <a:latin typeface="Georgia" pitchFamily="34" charset="0"/>
                <a:ea typeface="Georgia" pitchFamily="34" charset="-122"/>
                <a:cs typeface="Georgia" pitchFamily="34" charset="-120"/>
              </a:rPr>
              <a:t>Classifier for class routing</a:t>
            </a:r>
            <a:endParaRPr lang="en-US" sz="1200" dirty="0"/>
          </a:p>
        </p:txBody>
      </p:sp>
      <p:sp>
        <p:nvSpPr>
          <p:cNvPr id="21" name="Text 19"/>
          <p:cNvSpPr/>
          <p:nvPr/>
        </p:nvSpPr>
        <p:spPr>
          <a:xfrm>
            <a:off x="1024128" y="2724912"/>
            <a:ext cx="3383280" cy="621792"/>
          </a:xfrm>
          <a:prstGeom prst="rect">
            <a:avLst/>
          </a:prstGeom>
          <a:noFill/>
          <a:ln/>
        </p:spPr>
        <p:txBody>
          <a:bodyPr wrap="square" lIns="0" tIns="0" rIns="0" bIns="0" rtlCol="0" anchor="t"/>
          <a:lstStyle/>
          <a:p>
            <a:pPr indent="0" marL="0">
              <a:buNone/>
            </a:pPr>
            <a:r>
              <a:rPr lang="en-US" sz="950" dirty="0">
                <a:solidFill>
                  <a:srgbClr val="4A6278"/>
                </a:solidFill>
                <a:latin typeface="Calibri" pitchFamily="34" charset="0"/>
                <a:ea typeface="Calibri" pitchFamily="34" charset="-122"/>
                <a:cs typeface="Calibri" pitchFamily="34" charset="-120"/>
              </a:rPr>
              <a:t>Replace keyword heuristic with a small classifier on extracted material name + properties. Fewer misrouting errors.</a:t>
            </a:r>
            <a:endParaRPr lang="en-US" sz="950" dirty="0"/>
          </a:p>
        </p:txBody>
      </p:sp>
      <p:sp>
        <p:nvSpPr>
          <p:cNvPr id="22" name="Shape 20"/>
          <p:cNvSpPr/>
          <p:nvPr/>
        </p:nvSpPr>
        <p:spPr>
          <a:xfrm>
            <a:off x="4709160" y="2286000"/>
            <a:ext cx="4160520" cy="1170432"/>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23" name="Shape 21"/>
          <p:cNvSpPr/>
          <p:nvPr/>
        </p:nvSpPr>
        <p:spPr>
          <a:xfrm>
            <a:off x="4709160" y="2286000"/>
            <a:ext cx="566928" cy="1170432"/>
          </a:xfrm>
          <a:prstGeom prst="rect">
            <a:avLst/>
          </a:prstGeom>
          <a:solidFill>
            <a:srgbClr val="065A82"/>
          </a:solidFill>
          <a:ln w="12700">
            <a:solidFill>
              <a:srgbClr val="065A82"/>
            </a:solidFill>
            <a:prstDash val="solid"/>
          </a:ln>
        </p:spPr>
      </p:sp>
      <p:sp>
        <p:nvSpPr>
          <p:cNvPr id="24" name="Text 22"/>
          <p:cNvSpPr/>
          <p:nvPr/>
        </p:nvSpPr>
        <p:spPr>
          <a:xfrm>
            <a:off x="4709160" y="2286000"/>
            <a:ext cx="566928" cy="11704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P2</a:t>
            </a:r>
            <a:endParaRPr lang="en-US" sz="1200" dirty="0"/>
          </a:p>
        </p:txBody>
      </p:sp>
      <p:sp>
        <p:nvSpPr>
          <p:cNvPr id="25" name="Text 23"/>
          <p:cNvSpPr/>
          <p:nvPr/>
        </p:nvSpPr>
        <p:spPr>
          <a:xfrm>
            <a:off x="5367528" y="2395728"/>
            <a:ext cx="3383280" cy="320040"/>
          </a:xfrm>
          <a:prstGeom prst="rect">
            <a:avLst/>
          </a:prstGeom>
          <a:noFill/>
          <a:ln/>
        </p:spPr>
        <p:txBody>
          <a:bodyPr wrap="square" lIns="0" tIns="0" rIns="0" bIns="0" rtlCol="0" anchor="t"/>
          <a:lstStyle/>
          <a:p>
            <a:pPr indent="0" marL="0">
              <a:buNone/>
            </a:pPr>
            <a:r>
              <a:rPr lang="en-US" sz="1200" b="1" dirty="0">
                <a:solidFill>
                  <a:srgbClr val="1A2E3B"/>
                </a:solidFill>
                <a:latin typeface="Georgia" pitchFamily="34" charset="0"/>
                <a:ea typeface="Georgia" pitchFamily="34" charset="-122"/>
                <a:cs typeface="Georgia" pitchFamily="34" charset="-120"/>
              </a:rPr>
              <a:t>Source discovery agent</a:t>
            </a:r>
            <a:endParaRPr lang="en-US" sz="1200" dirty="0"/>
          </a:p>
        </p:txBody>
      </p:sp>
      <p:sp>
        <p:nvSpPr>
          <p:cNvPr id="26" name="Text 24"/>
          <p:cNvSpPr/>
          <p:nvPr/>
        </p:nvSpPr>
        <p:spPr>
          <a:xfrm>
            <a:off x="5367528" y="2724912"/>
            <a:ext cx="3383280" cy="621792"/>
          </a:xfrm>
          <a:prstGeom prst="rect">
            <a:avLst/>
          </a:prstGeom>
          <a:noFill/>
          <a:ln/>
        </p:spPr>
        <p:txBody>
          <a:bodyPr wrap="square" lIns="0" tIns="0" rIns="0" bIns="0" rtlCol="0" anchor="t"/>
          <a:lstStyle/>
          <a:p>
            <a:pPr indent="0" marL="0">
              <a:buNone/>
            </a:pPr>
            <a:r>
              <a:rPr lang="en-US" sz="950" dirty="0">
                <a:solidFill>
                  <a:srgbClr val="4A6278"/>
                </a:solidFill>
                <a:latin typeface="Calibri" pitchFamily="34" charset="0"/>
                <a:ea typeface="Calibri" pitchFamily="34" charset="-122"/>
                <a:cs typeface="Calibri" pitchFamily="34" charset="-120"/>
              </a:rPr>
              <a:t>OpenAlex / Semantic Scholar / arXiv APIs with paper-relevance scoring. Closes the final loop in autonomous ingestion.</a:t>
            </a:r>
            <a:endParaRPr lang="en-US" sz="950" dirty="0"/>
          </a:p>
        </p:txBody>
      </p:sp>
      <p:sp>
        <p:nvSpPr>
          <p:cNvPr id="27" name="Shape 25"/>
          <p:cNvSpPr/>
          <p:nvPr/>
        </p:nvSpPr>
        <p:spPr>
          <a:xfrm>
            <a:off x="365760" y="3566160"/>
            <a:ext cx="4160520" cy="1170432"/>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28" name="Shape 26"/>
          <p:cNvSpPr/>
          <p:nvPr/>
        </p:nvSpPr>
        <p:spPr>
          <a:xfrm>
            <a:off x="365760" y="3566160"/>
            <a:ext cx="566928" cy="1170432"/>
          </a:xfrm>
          <a:prstGeom prst="rect">
            <a:avLst/>
          </a:prstGeom>
          <a:solidFill>
            <a:srgbClr val="028090"/>
          </a:solidFill>
          <a:ln w="12700">
            <a:solidFill>
              <a:srgbClr val="028090"/>
            </a:solidFill>
            <a:prstDash val="solid"/>
          </a:ln>
        </p:spPr>
      </p:sp>
      <p:sp>
        <p:nvSpPr>
          <p:cNvPr id="29" name="Text 27"/>
          <p:cNvSpPr/>
          <p:nvPr/>
        </p:nvSpPr>
        <p:spPr>
          <a:xfrm>
            <a:off x="365760" y="3566160"/>
            <a:ext cx="566928" cy="11704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P2</a:t>
            </a:r>
            <a:endParaRPr lang="en-US" sz="1200" dirty="0"/>
          </a:p>
        </p:txBody>
      </p:sp>
      <p:sp>
        <p:nvSpPr>
          <p:cNvPr id="30" name="Text 28"/>
          <p:cNvSpPr/>
          <p:nvPr/>
        </p:nvSpPr>
        <p:spPr>
          <a:xfrm>
            <a:off x="1024128" y="3675888"/>
            <a:ext cx="3383280" cy="320040"/>
          </a:xfrm>
          <a:prstGeom prst="rect">
            <a:avLst/>
          </a:prstGeom>
          <a:noFill/>
          <a:ln/>
        </p:spPr>
        <p:txBody>
          <a:bodyPr wrap="square" lIns="0" tIns="0" rIns="0" bIns="0" rtlCol="0" anchor="t"/>
          <a:lstStyle/>
          <a:p>
            <a:pPr indent="0" marL="0">
              <a:buNone/>
            </a:pPr>
            <a:r>
              <a:rPr lang="en-US" sz="1200" b="1" dirty="0">
                <a:solidFill>
                  <a:srgbClr val="1A2E3B"/>
                </a:solidFill>
                <a:latin typeface="Georgia" pitchFamily="34" charset="0"/>
                <a:ea typeface="Georgia" pitchFamily="34" charset="-122"/>
                <a:cs typeface="Georgia" pitchFamily="34" charset="-120"/>
              </a:rPr>
              <a:t>Config-driven validation rules</a:t>
            </a:r>
            <a:endParaRPr lang="en-US" sz="1200" dirty="0"/>
          </a:p>
        </p:txBody>
      </p:sp>
      <p:sp>
        <p:nvSpPr>
          <p:cNvPr id="31" name="Text 29"/>
          <p:cNvSpPr/>
          <p:nvPr/>
        </p:nvSpPr>
        <p:spPr>
          <a:xfrm>
            <a:off x="1024128" y="4005072"/>
            <a:ext cx="3383280" cy="621792"/>
          </a:xfrm>
          <a:prstGeom prst="rect">
            <a:avLst/>
          </a:prstGeom>
          <a:noFill/>
          <a:ln/>
        </p:spPr>
        <p:txBody>
          <a:bodyPr wrap="square" lIns="0" tIns="0" rIns="0" bIns="0" rtlCol="0" anchor="t"/>
          <a:lstStyle/>
          <a:p>
            <a:pPr indent="0" marL="0">
              <a:buNone/>
            </a:pPr>
            <a:r>
              <a:rPr lang="en-US" sz="950" dirty="0">
                <a:solidFill>
                  <a:srgbClr val="4A6278"/>
                </a:solidFill>
                <a:latin typeface="Calibri" pitchFamily="34" charset="0"/>
                <a:ea typeface="Calibri" pitchFamily="34" charset="-122"/>
                <a:cs typeface="Calibri" pitchFamily="34" charset="-120"/>
              </a:rPr>
              <a:t>Move plausibility ranges to a YAML/JSON config so domain experts can edit them without touching code.</a:t>
            </a:r>
            <a:endParaRPr lang="en-US" sz="950" dirty="0"/>
          </a:p>
        </p:txBody>
      </p:sp>
      <p:sp>
        <p:nvSpPr>
          <p:cNvPr id="32" name="Shape 30"/>
          <p:cNvSpPr/>
          <p:nvPr/>
        </p:nvSpPr>
        <p:spPr>
          <a:xfrm>
            <a:off x="4709160" y="3566160"/>
            <a:ext cx="4160520" cy="1170432"/>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33" name="Shape 31"/>
          <p:cNvSpPr/>
          <p:nvPr/>
        </p:nvSpPr>
        <p:spPr>
          <a:xfrm>
            <a:off x="4709160" y="3566160"/>
            <a:ext cx="566928" cy="1170432"/>
          </a:xfrm>
          <a:prstGeom prst="rect">
            <a:avLst/>
          </a:prstGeom>
          <a:solidFill>
            <a:srgbClr val="02C39A"/>
          </a:solidFill>
          <a:ln w="12700">
            <a:solidFill>
              <a:srgbClr val="02C39A"/>
            </a:solidFill>
            <a:prstDash val="solid"/>
          </a:ln>
        </p:spPr>
      </p:sp>
      <p:sp>
        <p:nvSpPr>
          <p:cNvPr id="34" name="Text 32"/>
          <p:cNvSpPr/>
          <p:nvPr/>
        </p:nvSpPr>
        <p:spPr>
          <a:xfrm>
            <a:off x="4709160" y="3566160"/>
            <a:ext cx="566928" cy="11704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P3</a:t>
            </a:r>
            <a:endParaRPr lang="en-US" sz="1200" dirty="0"/>
          </a:p>
        </p:txBody>
      </p:sp>
      <p:sp>
        <p:nvSpPr>
          <p:cNvPr id="35" name="Text 33"/>
          <p:cNvSpPr/>
          <p:nvPr/>
        </p:nvSpPr>
        <p:spPr>
          <a:xfrm>
            <a:off x="5367528" y="3675888"/>
            <a:ext cx="3383280" cy="320040"/>
          </a:xfrm>
          <a:prstGeom prst="rect">
            <a:avLst/>
          </a:prstGeom>
          <a:noFill/>
          <a:ln/>
        </p:spPr>
        <p:txBody>
          <a:bodyPr wrap="square" lIns="0" tIns="0" rIns="0" bIns="0" rtlCol="0" anchor="t"/>
          <a:lstStyle/>
          <a:p>
            <a:pPr indent="0" marL="0">
              <a:buNone/>
            </a:pPr>
            <a:r>
              <a:rPr lang="en-US" sz="1200" b="1" dirty="0">
                <a:solidFill>
                  <a:srgbClr val="1A2E3B"/>
                </a:solidFill>
                <a:latin typeface="Georgia" pitchFamily="34" charset="0"/>
                <a:ea typeface="Georgia" pitchFamily="34" charset="-122"/>
                <a:cs typeface="Georgia" pitchFamily="34" charset="-120"/>
              </a:rPr>
              <a:t>Populate Fibers + Composites</a:t>
            </a:r>
            <a:endParaRPr lang="en-US" sz="1200" dirty="0"/>
          </a:p>
        </p:txBody>
      </p:sp>
      <p:sp>
        <p:nvSpPr>
          <p:cNvPr id="36" name="Text 34"/>
          <p:cNvSpPr/>
          <p:nvPr/>
        </p:nvSpPr>
        <p:spPr>
          <a:xfrm>
            <a:off x="5367528" y="4005072"/>
            <a:ext cx="3383280" cy="621792"/>
          </a:xfrm>
          <a:prstGeom prst="rect">
            <a:avLst/>
          </a:prstGeom>
          <a:noFill/>
          <a:ln/>
        </p:spPr>
        <p:txBody>
          <a:bodyPr wrap="square" lIns="0" tIns="0" rIns="0" bIns="0" rtlCol="0" anchor="t"/>
          <a:lstStyle/>
          <a:p>
            <a:pPr indent="0" marL="0">
              <a:buNone/>
            </a:pPr>
            <a:r>
              <a:rPr lang="en-US" sz="950" dirty="0">
                <a:solidFill>
                  <a:srgbClr val="4A6278"/>
                </a:solidFill>
                <a:latin typeface="Calibri" pitchFamily="34" charset="0"/>
                <a:ea typeface="Calibri" pitchFamily="34" charset="-122"/>
                <a:cs typeface="Calibri" pitchFamily="34" charset="-120"/>
              </a:rPr>
              <a:t>Systematic ingestion of fiber and laminate datasheet corpora. Unlocks the full three-class taxonomy for ML training.</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21B2E"/>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2C39A"/>
          </a:solidFill>
          <a:ln w="12700">
            <a:solidFill>
              <a:srgbClr val="02C39A"/>
            </a:solidFill>
            <a:prstDash val="solid"/>
          </a:ln>
        </p:spPr>
      </p:sp>
      <p:sp>
        <p:nvSpPr>
          <p:cNvPr id="3" name="Shape 1"/>
          <p:cNvSpPr/>
          <p:nvPr/>
        </p:nvSpPr>
        <p:spPr>
          <a:xfrm>
            <a:off x="201168" y="0"/>
            <a:ext cx="91440" cy="5143500"/>
          </a:xfrm>
          <a:prstGeom prst="rect">
            <a:avLst/>
          </a:prstGeom>
          <a:solidFill>
            <a:srgbClr val="065A82"/>
          </a:solidFill>
          <a:ln w="12700">
            <a:solidFill>
              <a:srgbClr val="065A82"/>
            </a:solidFill>
            <a:prstDash val="solid"/>
          </a:ln>
        </p:spPr>
      </p:sp>
      <p:sp>
        <p:nvSpPr>
          <p:cNvPr id="4" name="Text 2"/>
          <p:cNvSpPr/>
          <p:nvPr/>
        </p:nvSpPr>
        <p:spPr>
          <a:xfrm>
            <a:off x="502920" y="502920"/>
            <a:ext cx="7772400" cy="1005840"/>
          </a:xfrm>
          <a:prstGeom prst="rect">
            <a:avLst/>
          </a:prstGeom>
          <a:noFill/>
          <a:ln/>
        </p:spPr>
        <p:txBody>
          <a:bodyPr wrap="square" rtlCol="0" anchor="ctr"/>
          <a:lstStyle/>
          <a:p>
            <a:pPr indent="0" marL="0">
              <a:buNone/>
            </a:pPr>
            <a:r>
              <a:rPr lang="en-US" sz="5200" b="1" dirty="0">
                <a:solidFill>
                  <a:srgbClr val="FFFFFF"/>
                </a:solidFill>
                <a:latin typeface="Georgia" pitchFamily="34" charset="0"/>
                <a:ea typeface="Georgia" pitchFamily="34" charset="-122"/>
                <a:cs typeface="Georgia" pitchFamily="34" charset="-120"/>
              </a:rPr>
              <a:t>Thank you!</a:t>
            </a:r>
            <a:endParaRPr lang="en-US" sz="5200" dirty="0"/>
          </a:p>
        </p:txBody>
      </p:sp>
      <p:sp>
        <p:nvSpPr>
          <p:cNvPr id="5" name="Shape 3"/>
          <p:cNvSpPr/>
          <p:nvPr/>
        </p:nvSpPr>
        <p:spPr>
          <a:xfrm>
            <a:off x="502920" y="1463040"/>
            <a:ext cx="4114800" cy="45720"/>
          </a:xfrm>
          <a:prstGeom prst="rect">
            <a:avLst/>
          </a:prstGeom>
          <a:solidFill>
            <a:srgbClr val="02C39A"/>
          </a:solidFill>
          <a:ln w="12700">
            <a:solidFill>
              <a:srgbClr val="02C39A"/>
            </a:solidFill>
            <a:prstDash val="solid"/>
          </a:ln>
        </p:spPr>
      </p:sp>
      <p:sp>
        <p:nvSpPr>
          <p:cNvPr id="6" name="Text 4"/>
          <p:cNvSpPr/>
          <p:nvPr/>
        </p:nvSpPr>
        <p:spPr>
          <a:xfrm>
            <a:off x="502920" y="1600200"/>
            <a:ext cx="4572000" cy="640080"/>
          </a:xfrm>
          <a:prstGeom prst="rect">
            <a:avLst/>
          </a:prstGeom>
          <a:noFill/>
          <a:ln/>
        </p:spPr>
        <p:txBody>
          <a:bodyPr wrap="square" rtlCol="0" anchor="ctr"/>
          <a:lstStyle/>
          <a:p>
            <a:pPr indent="0" marL="0">
              <a:buNone/>
            </a:pPr>
            <a:r>
              <a:rPr lang="en-US" sz="3000" i="1" dirty="0">
                <a:solidFill>
                  <a:srgbClr val="9EC8E0"/>
                </a:solidFill>
                <a:latin typeface="Georgia" pitchFamily="34" charset="0"/>
                <a:ea typeface="Georgia" pitchFamily="34" charset="-122"/>
                <a:cs typeface="Georgia" pitchFamily="34" charset="-120"/>
              </a:rPr>
              <a:t>Questions?</a:t>
            </a:r>
            <a:endParaRPr lang="en-US" sz="3000" dirty="0"/>
          </a:p>
        </p:txBody>
      </p:sp>
      <p:sp>
        <p:nvSpPr>
          <p:cNvPr id="7" name="Text 5"/>
          <p:cNvSpPr/>
          <p:nvPr/>
        </p:nvSpPr>
        <p:spPr>
          <a:xfrm>
            <a:off x="502920" y="2377440"/>
            <a:ext cx="5943600" cy="1463040"/>
          </a:xfrm>
          <a:prstGeom prst="rect">
            <a:avLst/>
          </a:prstGeom>
          <a:noFill/>
          <a:ln/>
        </p:spPr>
        <p:txBody>
          <a:bodyPr wrap="square" rtlCol="0" anchor="t"/>
          <a:lstStyle/>
          <a:p>
            <a:pPr indent="0" marL="0">
              <a:buNone/>
            </a:pPr>
            <a:r>
              <a:rPr lang="en-US" sz="1200" b="1" dirty="0">
                <a:solidFill>
                  <a:srgbClr val="9EC8E0"/>
                </a:solidFill>
                <a:latin typeface="Calibri" pitchFamily="34" charset="0"/>
                <a:ea typeface="Calibri" pitchFamily="34" charset="-122"/>
                <a:cs typeface="Calibri" pitchFamily="34" charset="-120"/>
              </a:rPr>
              <a:t>Mathias Heider</a:t>
            </a:r>
            <a:endParaRPr lang="en-US" sz="1200" dirty="0"/>
          </a:p>
          <a:p>
            <a:pPr indent="0" marL="0">
              <a:buNone/>
            </a:pPr>
            <a:r>
              <a:rPr lang="en-US" sz="1200" dirty="0">
                <a:solidFill>
                  <a:srgbClr val="9EC8E0"/>
                </a:solidFill>
                <a:latin typeface="Calibri" pitchFamily="34" charset="0"/>
                <a:ea typeface="Calibri" pitchFamily="34" charset="-122"/>
                <a:cs typeface="Calibri" pitchFamily="34" charset="-120"/>
              </a:rPr>
              <a:t>mathias.heider@gmail.com</a:t>
            </a:r>
            <a:endParaRPr lang="en-US" sz="1200" dirty="0"/>
          </a:p>
          <a:p>
            <a:pPr indent="0" marL="0">
              <a:buNone/>
            </a:pPr>
            <a:r>
              <a:rPr lang="en-US" sz="1200" dirty="0">
                <a:solidFill>
                  <a:srgbClr val="9EC8E0"/>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9EC8E0"/>
                </a:solidFill>
                <a:latin typeface="Calibri" pitchFamily="34" charset="0"/>
                <a:ea typeface="Calibri" pitchFamily="34" charset="-122"/>
                <a:cs typeface="Calibri" pitchFamily="34" charset="-120"/>
              </a:rPr>
              <a:t>App: </a:t>
            </a:r>
            <a:pPr indent="0" marL="0">
              <a:buNone/>
            </a:pPr>
            <a:r>
              <a:rPr lang="en-US" sz="1200" dirty="0">
                <a:solidFill>
                  <a:srgbClr val="9EC8E0"/>
                </a:solidFill>
                <a:latin typeface="Calibri" pitchFamily="34" charset="0"/>
                <a:ea typeface="Calibri" pitchFamily="34" charset="-122"/>
                <a:cs typeface="Calibri" pitchFamily="34" charset="-120"/>
              </a:rPr>
              <a:t>huggingface.co/spaces/aim4composites/MaterialsDatabase</a:t>
            </a:r>
            <a:endParaRPr lang="en-US" sz="1200" dirty="0"/>
          </a:p>
          <a:p>
            <a:pPr indent="0" marL="0">
              <a:buNone/>
            </a:pPr>
            <a:r>
              <a:rPr lang="en-US" sz="1200" i="1" dirty="0">
                <a:solidFill>
                  <a:srgbClr val="9EC8E0"/>
                </a:solidFill>
                <a:latin typeface="Calibri" pitchFamily="34" charset="0"/>
                <a:ea typeface="Calibri" pitchFamily="34" charset="-122"/>
                <a:cs typeface="Calibri" pitchFamily="34" charset="-120"/>
              </a:rPr>
              <a:t>Joint work with Abhijit -- Clemson University + University of Delaware</a:t>
            </a:r>
            <a:endParaRPr lang="en-US" sz="1200" dirty="0"/>
          </a:p>
        </p:txBody>
      </p:sp>
      <p:sp>
        <p:nvSpPr>
          <p:cNvPr id="8" name="Shape 6"/>
          <p:cNvSpPr/>
          <p:nvPr/>
        </p:nvSpPr>
        <p:spPr>
          <a:xfrm>
            <a:off x="502920" y="3931920"/>
            <a:ext cx="7772400" cy="822960"/>
          </a:xfrm>
          <a:prstGeom prst="rect">
            <a:avLst/>
          </a:prstGeom>
          <a:solidFill>
            <a:srgbClr val="065A82"/>
          </a:solidFill>
          <a:ln w="12700">
            <a:solidFill>
              <a:srgbClr val="065A82"/>
            </a:solidFill>
            <a:prstDash val="solid"/>
          </a:ln>
        </p:spPr>
      </p:sp>
      <p:sp>
        <p:nvSpPr>
          <p:cNvPr id="9" name="Text 7"/>
          <p:cNvSpPr/>
          <p:nvPr/>
        </p:nvSpPr>
        <p:spPr>
          <a:xfrm>
            <a:off x="640080" y="3950208"/>
            <a:ext cx="7498080" cy="777240"/>
          </a:xfrm>
          <a:prstGeom prst="rect">
            <a:avLst/>
          </a:prstGeom>
          <a:noFill/>
          <a:ln/>
        </p:spPr>
        <p:txBody>
          <a:bodyPr wrap="square" lIns="0" tIns="0" rIns="0" bIns="0" rtlCol="0" anchor="ctr"/>
          <a:lstStyle/>
          <a:p>
            <a:pPr indent="0" marL="0">
              <a:buNone/>
            </a:pPr>
            <a:r>
              <a:rPr lang="en-US" sz="950" i="1" dirty="0">
                <a:solidFill>
                  <a:srgbClr val="9EC8E0"/>
                </a:solidFill>
                <a:latin typeface="Calibri" pitchFamily="34" charset="0"/>
                <a:ea typeface="Calibri" pitchFamily="34" charset="-122"/>
                <a:cs typeface="Calibri" pitchFamily="34" charset="-120"/>
              </a:rPr>
              <a:t>Acknowledgments: Joint research with Abhijit (AbhijitClemson) and the AIM Composites team. Thanks to the ME8930 instructor for framing the autonomous-AI question and to Google for Gemini API credits.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AIM Composites Materials Database</dc:title>
  <dc:subject>PptxGenJS Presentation</dc:subject>
  <dc:creator>Mathias Heider</dc:creator>
  <cp:lastModifiedBy>Mathias Heider</cp:lastModifiedBy>
  <cp:revision>1</cp:revision>
  <dcterms:created xsi:type="dcterms:W3CDTF">2026-05-19T07:23:17Z</dcterms:created>
  <dcterms:modified xsi:type="dcterms:W3CDTF">2026-05-19T07:23:17Z</dcterms:modified>
</cp:coreProperties>
</file>