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of rows</c:v>
                </c:pt>
              </c:strCache>
            </c:strRef>
          </c:tx>
          <c:spPr>
            <a:solidFill>
              <a:srgbClr val="02C39A"/>
            </a:solidFill>
            <a:effectLst/>
          </c:spPr>
          <c:invertIfNegative val="0"/>
          <c:dLbls>
            <c:numFmt formatCode="#,##0" sourceLinked="0"/>
            <c:txPr>
              <a:bodyPr/>
              <a:lstStyle/>
              <a:p>
                <a:pPr>
                  <a:defRPr b="0" i="0" strike="noStrike" sz="1200" u="none">
                    <a:solidFill>
                      <a:srgbClr val="1A2E3B"/>
                    </a:solidFill>
                    <a:latin typeface="Arial"/>
                  </a:defRPr>
                </a:pPr>
              </a:p>
            </c:txPr>
            <c:showLegendKey val="0"/>
            <c:showVal val="1"/>
            <c:showCatName val="0"/>
            <c:showSerName val="0"/>
            <c:showPercent val="0"/>
            <c:showBubbleSize val="0"/>
            <c:showLeaderLines val="0"/>
          </c:dLbls>
          <c:dPt>
            <c:idx val="0"/>
            <c:invertIfNegative val="0"/>
            <c:bubble3D val="0"/>
            <c:spPr>
              <a:solidFill>
                <a:srgbClr val="02C39A"/>
              </a:solidFill>
              <a:effectLst/>
            </c:spPr>
          </c:dPt>
          <c:dPt>
            <c:idx val="1"/>
            <c:invertIfNegative val="0"/>
            <c:bubble3D val="0"/>
            <c:spPr>
              <a:solidFill>
                <a:srgbClr val="F9A825"/>
              </a:solidFill>
              <a:effectLst/>
            </c:spPr>
          </c:dPt>
          <c:dPt>
            <c:idx val="2"/>
            <c:invertIfNegative val="0"/>
            <c:bubble3D val="0"/>
            <c:spPr>
              <a:solidFill>
                <a:srgbClr val="E53935"/>
              </a:solidFill>
              <a:effectLst/>
            </c:spPr>
          </c:dPt>
          <c:dPt>
            <c:idx val="3"/>
            <c:invertIfNegative val="0"/>
            <c:bubble3D val="0"/>
            <c:spPr>
              <a:solidFill>
                <a:srgbClr val="E53935"/>
              </a:solidFill>
              <a:effectLst/>
            </c:spPr>
          </c:dPt>
          <c:cat>
            <c:multiLvlStrRef>
              <c:f>Sheet1!$A$2:$A$5</c:f>
              <c:multiLvlStrCache>
                <c:ptCount val="4"/>
                <c:lvl>
                  <c:pt idx="0">
                    <c:v>Passed</c:v>
                  </c:pt>
                  <c:pt idx="1">
                    <c:v>Missing unit (dim-less)</c:v>
                  </c:pt>
                  <c:pt idx="2">
                    <c:v>Inline unit value</c:v>
                  </c:pt>
                  <c:pt idx="3">
                    <c:v>Out-of-range</c:v>
                  </c:pt>
                </c:lvl>
              </c:multiLvlStrCache>
            </c:multiLvlStrRef>
          </c:cat>
          <c:val>
            <c:numRef>
              <c:f>Sheet1!$B$2:$B$5</c:f>
              <c:numCache>
                <c:formatCode>General</c:formatCode>
                <c:ptCount val="4"/>
                <c:pt idx="0">
                  <c:v>76</c:v>
                </c:pt>
                <c:pt idx="1">
                  <c:v>15</c:v>
                </c:pt>
                <c:pt idx="2">
                  <c:v>8</c:v>
                </c:pt>
                <c:pt idx="3">
                  <c:v>1</c:v>
                </c:pt>
              </c:numCache>
            </c:numRef>
          </c:val>
        </c:ser>
        <c:dLbls>
          <c:numFmt formatCode="#,##0" sourceLinked="0"/>
          <c:txPr>
            <a:bodyPr/>
            <a:lstStyle/>
            <a:p>
              <a:pPr>
                <a:defRPr b="0" i="0" strike="noStrike" sz="1200" u="none">
                  <a:solidFill>
                    <a:srgbClr val="1A2E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6278"/>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627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am presenting the AIM Composites Materials Database, an AI-assisted, open-source repository for thermoplastic composite property data built as part of ME8930. This is a joint effort between Clemson University and the University of Delaware. I will walk you through the motivation, the system we built, then we will do a live demo, and close with where this is headed.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 map for today. We will spend roughly 2 minutes each on the motivation, related work, and architecture sections, then go deeper on the extraction pipeline and user workflows. The live demo is in the middle. We will close with the autonomous ingestion work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motivation: machine learning for composites engineering -- forward property prediction, inverse design, process-quality modeling -- all share one bottleneck: training data. Property data is either locked inside PDFs, sparse and paywalled in commercial databases, or simply missing. This project is our attempt to close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put our work in context: existing databases all have serious limitations for thermoplastic composites research. On the extraction side, the literature has moved from NLP rule systems toward LLM-based approaches. Structured output prompting -- which is what we use with Gemini -- substantially reduces hallucination. The gap we fill: there is no open, FAIR-compliant, queryable repository for this material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main layers. PostgreSQL stores everything using an entity-attribute-value schema. A Streamlit web application sits on top with four pages. The AI pipeline is Gemini 2.5 Flash with structured JSON output. The whole thing runs as a public Docker container on Hugging Face Spaces. The URL is huggingface.co/spaces/aim4composites/MaterialsDatabase.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uses an entity-attribute-value layout: each property observation is one row. We have three tables sharing this schema. Why EAV? First, composite property data is inherently sparse. Second, the property taxonomy is open. Third, each measurement has its own test conditions. The tradeoff is that aggregation queries require filtering on property_name rather than selecting a column, and unit consistency must be enforced application-side.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system is the Gemini extraction pipeline. A user drops a PDF. We base64-encode it and send it inline to Gemini 2.5 Flash. The key design choice is structured output: we supply a responseSchema that forces a fixed JSON shape, and we set temperature to 0 for determinism. The system prompt frames the model as an expert materials scientist and asks for every property type in a single flat list. The JSON response is flattened into a pandas DataFrame that maps directly onto the EAV schema. In parallel, PyMuPDF and OpenCV run a plot-extraction pass that finds figures and maps them to property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users interact with the database. First, browsing: the Categorized Search page. Second, manual upload: a form-based entry mode. Third, PDF-assisted upload: the main ingestion path. Drag in a PDF, Gemini extracts all properties, you review the table, assign a class, and insert. This is still human-in-the-loop but we are working to automate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seed data covers four engineering thermoplastics: PTFE, ABS, PEKK, and Nylon 66, giving us 289 property rows across six sections. The Fibers and Composites tables are empty. During seed review we found four recurring quality issues: unit inconsistency, mixed unit systems, duplicate rows at different test conditions -- correct behavior but complicates schema constraints -- and most critically, no source attribution. Adding provenance is the highest-priority schema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 taxonomy organizes everything into three classes. Within each class, properties are grouped into up to ten sections. Within each section, users choose from a curated list of canonical property names plus a free-text fallback. This normalization keeps property names consistent for downstream ML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LIVE DEMO -- approximately 7 minutes.
Demo script:
1. Open huggingface.co/spaces/aim4composites/MaterialsDatabase in browser.
2. Browse -&gt; show PEEK material -&gt; Inspect tab -&gt; scroll through property rows, show a plot image.
3. Upload -&gt; PDF-assisted -&gt; drag in a test datasheet -&gt; show Gemini extraction -&gt; walk through the review table.
4. Map a detected figure to a property row.
5. Terminal -- show batch_ingest.py run on a small PDF folder.
Key talking points: everything is live, open-source, and publicly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is to close the ingestion loop completely. The target is a four-component autonomous agent: source discovery, extraction (already production-ready), validation, and insertion with provenance tracking. Our batch_ingest.py prototype already covers steps 2 through 4. Step 1 -- source discovery -- is the next piece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preliminary numbers. Gemini processing takes 10 to 25 seconds per PDF. Validation flags split into three buckets: about 15% flagged for missing units -- but most are dimensionless quantities, so false positives. Around 5-10% flagged for inline-unit values -- a real format inconsistency. A small number have out-of-range numerics. Crucially, deduplication works: re-ingesting a previously seen PDF inserts zero new rows. These numbers are indicative, not rigorous -- a hand-labeled ground truth set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there are six areas where the system falls short today. Most critically, there is no provenance -- we do not record where a property value came from. Schema rigidity means multi-dimensional data does not fit the EAV model cleanly. Class routing by keywords is fragile. We have not measured extraction precision and recall. Source discovery is not built yet. And the database is polymer-only.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steps are organized by priority. P0 -- most urgent -- is adding provenance tracking. P1 covers the evaluation set and the classifier. P2 adds source discovery and config-driven validation rules. P3 is systematic ingestion of fibers and composites datasheets to unlock the full taxonomy for ML training. The project is actively developed and the codebase is fully open on Hugging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would love to take questions on the schema design, the Gemini extraction approach, the autonomous agent architecture, or anything else. The app is live at the URL on screen if you want to try it yourself. The codebase is fully open-source.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B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w="12700">
            <a:solidFill>
              <a:srgbClr val="02C39A"/>
            </a:solidFill>
            <a:prstDash val="solid"/>
          </a:ln>
        </p:spPr>
      </p:sp>
      <p:sp>
        <p:nvSpPr>
          <p:cNvPr id="3" name="Shape 1"/>
          <p:cNvSpPr/>
          <p:nvPr/>
        </p:nvSpPr>
        <p:spPr>
          <a:xfrm>
            <a:off x="201168" y="0"/>
            <a:ext cx="109728" cy="5143500"/>
          </a:xfrm>
          <a:prstGeom prst="rect">
            <a:avLst/>
          </a:prstGeom>
          <a:solidFill>
            <a:srgbClr val="065A82"/>
          </a:solidFill>
          <a:ln w="12700">
            <a:solidFill>
              <a:srgbClr val="065A82"/>
            </a:solidFill>
            <a:prstDash val="solid"/>
          </a:ln>
        </p:spPr>
      </p:sp>
      <p:sp>
        <p:nvSpPr>
          <p:cNvPr id="4" name="Shape 2"/>
          <p:cNvSpPr/>
          <p:nvPr/>
        </p:nvSpPr>
        <p:spPr>
          <a:xfrm>
            <a:off x="502920" y="347472"/>
            <a:ext cx="2194560" cy="292608"/>
          </a:xfrm>
          <a:prstGeom prst="rect">
            <a:avLst/>
          </a:prstGeom>
          <a:solidFill>
            <a:srgbClr val="1C7293"/>
          </a:solidFill>
          <a:ln w="12700">
            <a:solidFill>
              <a:srgbClr val="1C7293"/>
            </a:solidFill>
            <a:prstDash val="solid"/>
          </a:ln>
        </p:spPr>
      </p:sp>
      <p:sp>
        <p:nvSpPr>
          <p:cNvPr id="5" name="Text 3"/>
          <p:cNvSpPr/>
          <p:nvPr/>
        </p:nvSpPr>
        <p:spPr>
          <a:xfrm>
            <a:off x="502920" y="347472"/>
            <a:ext cx="219456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ME8930  |  AI for Composites and Manufacturing</a:t>
            </a:r>
            <a:endParaRPr lang="en-US" sz="800" dirty="0"/>
          </a:p>
        </p:txBody>
      </p:sp>
      <p:sp>
        <p:nvSpPr>
          <p:cNvPr id="6" name="Text 4"/>
          <p:cNvSpPr/>
          <p:nvPr/>
        </p:nvSpPr>
        <p:spPr>
          <a:xfrm>
            <a:off x="502920" y="804672"/>
            <a:ext cx="6217920" cy="1828800"/>
          </a:xfrm>
          <a:prstGeom prst="rect">
            <a:avLst/>
          </a:prstGeom>
          <a:noFill/>
          <a:ln/>
        </p:spPr>
        <p:txBody>
          <a:bodyPr wrap="square" rtlCol="0" anchor="t"/>
          <a:lstStyle/>
          <a:p>
            <a:pPr algn="l" indent="0" marL="0">
              <a:buNone/>
            </a:pPr>
            <a:r>
              <a:rPr lang="en-US" sz="4000" b="1" dirty="0">
                <a:solidFill>
                  <a:srgbClr val="FFFFFF"/>
                </a:solidFill>
                <a:latin typeface="Georgia" pitchFamily="34" charset="0"/>
                <a:ea typeface="Georgia" pitchFamily="34" charset="-122"/>
                <a:cs typeface="Georgia" pitchFamily="34" charset="-120"/>
              </a:rPr>
              <a:t>AIM Composites</a:t>
            </a:r>
            <a:endParaRPr lang="en-US" sz="4000" dirty="0"/>
          </a:p>
          <a:p>
            <a:pPr algn="l" indent="0" marL="0">
              <a:buNone/>
            </a:pPr>
            <a:r>
              <a:rPr lang="en-US" sz="4000" b="1" dirty="0">
                <a:solidFill>
                  <a:srgbClr val="FFFFFF"/>
                </a:solidFill>
                <a:latin typeface="Georgia" pitchFamily="34" charset="0"/>
                <a:ea typeface="Georgia" pitchFamily="34" charset="-122"/>
                <a:cs typeface="Georgia" pitchFamily="34" charset="-120"/>
              </a:rPr>
              <a:t>Materials Database</a:t>
            </a:r>
            <a:endParaRPr lang="en-US" sz="4000" dirty="0"/>
          </a:p>
        </p:txBody>
      </p:sp>
      <p:sp>
        <p:nvSpPr>
          <p:cNvPr id="7" name="Text 5"/>
          <p:cNvSpPr/>
          <p:nvPr/>
        </p:nvSpPr>
        <p:spPr>
          <a:xfrm>
            <a:off x="502920" y="2606040"/>
            <a:ext cx="5943600" cy="457200"/>
          </a:xfrm>
          <a:prstGeom prst="rect">
            <a:avLst/>
          </a:prstGeom>
          <a:noFill/>
          <a:ln/>
        </p:spPr>
        <p:txBody>
          <a:bodyPr wrap="square" lIns="0" tIns="0" rIns="0" bIns="0" rtlCol="0" anchor="ctr"/>
          <a:lstStyle/>
          <a:p>
            <a:pPr indent="0" marL="0">
              <a:buNone/>
            </a:pPr>
            <a:r>
              <a:rPr lang="en-US" sz="1400" i="1" dirty="0">
                <a:solidFill>
                  <a:srgbClr val="9EC8E0"/>
                </a:solidFill>
                <a:latin typeface="Calibri" pitchFamily="34" charset="0"/>
                <a:ea typeface="Calibri" pitchFamily="34" charset="-122"/>
                <a:cs typeface="Calibri" pitchFamily="34" charset="-120"/>
              </a:rPr>
              <a:t>An AI-Assisted Repository for Composite Thermoplastic Property Data</a:t>
            </a:r>
            <a:endParaRPr lang="en-US" sz="1400" dirty="0"/>
          </a:p>
        </p:txBody>
      </p:sp>
      <p:sp>
        <p:nvSpPr>
          <p:cNvPr id="8" name="Shape 6"/>
          <p:cNvSpPr/>
          <p:nvPr/>
        </p:nvSpPr>
        <p:spPr>
          <a:xfrm>
            <a:off x="502920" y="3246120"/>
            <a:ext cx="4114800" cy="54864"/>
          </a:xfrm>
          <a:prstGeom prst="rect">
            <a:avLst/>
          </a:prstGeom>
          <a:solidFill>
            <a:srgbClr val="02C39A"/>
          </a:solidFill>
          <a:ln w="12700">
            <a:solidFill>
              <a:srgbClr val="02C39A"/>
            </a:solidFill>
            <a:prstDash val="solid"/>
          </a:ln>
        </p:spPr>
      </p:sp>
      <p:sp>
        <p:nvSpPr>
          <p:cNvPr id="9" name="Text 7"/>
          <p:cNvSpPr/>
          <p:nvPr/>
        </p:nvSpPr>
        <p:spPr>
          <a:xfrm>
            <a:off x="502920" y="3364992"/>
            <a:ext cx="5029200" cy="292608"/>
          </a:xfrm>
          <a:prstGeom prst="rect">
            <a:avLst/>
          </a:prstGeom>
          <a:noFill/>
          <a:ln/>
        </p:spPr>
        <p:txBody>
          <a:bodyPr wrap="square" lIns="0" tIns="0" rIns="0" bIns="0" rtlCol="0" anchor="ctr"/>
          <a:lstStyle/>
          <a:p>
            <a:pPr indent="0" marL="0">
              <a:buNone/>
            </a:pPr>
            <a:r>
              <a:rPr lang="en-US" sz="1200" dirty="0">
                <a:solidFill>
                  <a:srgbClr val="9EC8E0"/>
                </a:solidFill>
                <a:latin typeface="Calibri" pitchFamily="34" charset="0"/>
                <a:ea typeface="Calibri" pitchFamily="34" charset="-122"/>
                <a:cs typeface="Calibri" pitchFamily="34" charset="-120"/>
              </a:rPr>
              <a:t>Mathias Heider   |   Joint work with Abhijit (Clemson + UDel)</a:t>
            </a:r>
            <a:endParaRPr lang="en-US" sz="1200" dirty="0"/>
          </a:p>
        </p:txBody>
      </p:sp>
      <p:sp>
        <p:nvSpPr>
          <p:cNvPr id="10" name="Text 8"/>
          <p:cNvSpPr/>
          <p:nvPr/>
        </p:nvSpPr>
        <p:spPr>
          <a:xfrm>
            <a:off x="502920" y="3639312"/>
            <a:ext cx="1828800" cy="256032"/>
          </a:xfrm>
          <a:prstGeom prst="rect">
            <a:avLst/>
          </a:prstGeom>
          <a:noFill/>
          <a:ln/>
        </p:spPr>
        <p:txBody>
          <a:bodyPr wrap="square" lIns="0" tIns="0" rIns="0" bIns="0" rtlCol="0" anchor="ctr"/>
          <a:lstStyle/>
          <a:p>
            <a:pPr indent="0" marL="0">
              <a:buNone/>
            </a:pPr>
            <a:r>
              <a:rPr lang="en-US" sz="1100" dirty="0">
                <a:solidFill>
                  <a:srgbClr val="7F9BAD"/>
                </a:solidFill>
                <a:latin typeface="Calibri" pitchFamily="34" charset="0"/>
                <a:ea typeface="Calibri" pitchFamily="34" charset="-122"/>
                <a:cs typeface="Calibri" pitchFamily="34" charset="-120"/>
              </a:rPr>
              <a:t>May 2026</a:t>
            </a:r>
            <a:endParaRPr lang="en-US" sz="1100" dirty="0"/>
          </a:p>
        </p:txBody>
      </p:sp>
      <p:sp>
        <p:nvSpPr>
          <p:cNvPr id="11" name="Shape 9"/>
          <p:cNvSpPr/>
          <p:nvPr/>
        </p:nvSpPr>
        <p:spPr>
          <a:xfrm>
            <a:off x="6858000" y="457200"/>
            <a:ext cx="566928" cy="384048"/>
          </a:xfrm>
          <a:prstGeom prst="rect">
            <a:avLst/>
          </a:prstGeom>
          <a:solidFill>
            <a:srgbClr val="1C7293">
              <a:alpha val="18000"/>
            </a:srgbClr>
          </a:solidFill>
          <a:ln w="12700">
            <a:solidFill>
              <a:srgbClr val="1C7293">
                <a:alpha val="40000"/>
              </a:srgbClr>
            </a:solidFill>
            <a:prstDash val="solid"/>
          </a:ln>
        </p:spPr>
      </p:sp>
      <p:sp>
        <p:nvSpPr>
          <p:cNvPr id="12" name="Shape 10"/>
          <p:cNvSpPr/>
          <p:nvPr/>
        </p:nvSpPr>
        <p:spPr>
          <a:xfrm>
            <a:off x="7516368" y="457200"/>
            <a:ext cx="566928" cy="384048"/>
          </a:xfrm>
          <a:prstGeom prst="rect">
            <a:avLst/>
          </a:prstGeom>
          <a:solidFill>
            <a:srgbClr val="1C7293">
              <a:alpha val="18000"/>
            </a:srgbClr>
          </a:solidFill>
          <a:ln w="12700">
            <a:solidFill>
              <a:srgbClr val="1C7293">
                <a:alpha val="40000"/>
              </a:srgbClr>
            </a:solidFill>
            <a:prstDash val="solid"/>
          </a:ln>
        </p:spPr>
      </p:sp>
      <p:sp>
        <p:nvSpPr>
          <p:cNvPr id="13" name="Shape 11"/>
          <p:cNvSpPr/>
          <p:nvPr/>
        </p:nvSpPr>
        <p:spPr>
          <a:xfrm>
            <a:off x="8174736" y="457200"/>
            <a:ext cx="566928" cy="384048"/>
          </a:xfrm>
          <a:prstGeom prst="rect">
            <a:avLst/>
          </a:prstGeom>
          <a:solidFill>
            <a:srgbClr val="1C7293">
              <a:alpha val="18000"/>
            </a:srgbClr>
          </a:solidFill>
          <a:ln w="12700">
            <a:solidFill>
              <a:srgbClr val="1C7293">
                <a:alpha val="40000"/>
              </a:srgbClr>
            </a:solidFill>
            <a:prstDash val="solid"/>
          </a:ln>
        </p:spPr>
      </p:sp>
      <p:sp>
        <p:nvSpPr>
          <p:cNvPr id="14" name="Shape 12"/>
          <p:cNvSpPr/>
          <p:nvPr/>
        </p:nvSpPr>
        <p:spPr>
          <a:xfrm>
            <a:off x="6858000" y="960120"/>
            <a:ext cx="566928" cy="384048"/>
          </a:xfrm>
          <a:prstGeom prst="rect">
            <a:avLst/>
          </a:prstGeom>
          <a:solidFill>
            <a:srgbClr val="1C7293">
              <a:alpha val="18000"/>
            </a:srgbClr>
          </a:solidFill>
          <a:ln w="12700">
            <a:solidFill>
              <a:srgbClr val="1C7293">
                <a:alpha val="40000"/>
              </a:srgbClr>
            </a:solidFill>
            <a:prstDash val="solid"/>
          </a:ln>
        </p:spPr>
      </p:sp>
      <p:sp>
        <p:nvSpPr>
          <p:cNvPr id="15" name="Shape 13"/>
          <p:cNvSpPr/>
          <p:nvPr/>
        </p:nvSpPr>
        <p:spPr>
          <a:xfrm>
            <a:off x="7516368" y="960120"/>
            <a:ext cx="566928" cy="384048"/>
          </a:xfrm>
          <a:prstGeom prst="rect">
            <a:avLst/>
          </a:prstGeom>
          <a:solidFill>
            <a:srgbClr val="1C7293">
              <a:alpha val="18000"/>
            </a:srgbClr>
          </a:solidFill>
          <a:ln w="12700">
            <a:solidFill>
              <a:srgbClr val="1C7293">
                <a:alpha val="40000"/>
              </a:srgbClr>
            </a:solidFill>
            <a:prstDash val="solid"/>
          </a:ln>
        </p:spPr>
      </p:sp>
      <p:sp>
        <p:nvSpPr>
          <p:cNvPr id="16" name="Shape 14"/>
          <p:cNvSpPr/>
          <p:nvPr/>
        </p:nvSpPr>
        <p:spPr>
          <a:xfrm>
            <a:off x="8174736" y="960120"/>
            <a:ext cx="566928" cy="384048"/>
          </a:xfrm>
          <a:prstGeom prst="rect">
            <a:avLst/>
          </a:prstGeom>
          <a:solidFill>
            <a:srgbClr val="1C7293">
              <a:alpha val="18000"/>
            </a:srgbClr>
          </a:solidFill>
          <a:ln w="12700">
            <a:solidFill>
              <a:srgbClr val="1C7293">
                <a:alpha val="40000"/>
              </a:srgbClr>
            </a:solidFill>
            <a:prstDash val="solid"/>
          </a:ln>
        </p:spPr>
      </p:sp>
      <p:sp>
        <p:nvSpPr>
          <p:cNvPr id="17" name="Shape 15"/>
          <p:cNvSpPr/>
          <p:nvPr/>
        </p:nvSpPr>
        <p:spPr>
          <a:xfrm>
            <a:off x="6858000" y="1463040"/>
            <a:ext cx="566928" cy="384048"/>
          </a:xfrm>
          <a:prstGeom prst="rect">
            <a:avLst/>
          </a:prstGeom>
          <a:solidFill>
            <a:srgbClr val="1C7293">
              <a:alpha val="18000"/>
            </a:srgbClr>
          </a:solidFill>
          <a:ln w="12700">
            <a:solidFill>
              <a:srgbClr val="1C7293">
                <a:alpha val="40000"/>
              </a:srgbClr>
            </a:solidFill>
            <a:prstDash val="solid"/>
          </a:ln>
        </p:spPr>
      </p:sp>
      <p:sp>
        <p:nvSpPr>
          <p:cNvPr id="18" name="Shape 16"/>
          <p:cNvSpPr/>
          <p:nvPr/>
        </p:nvSpPr>
        <p:spPr>
          <a:xfrm>
            <a:off x="7516368" y="1463040"/>
            <a:ext cx="566928" cy="384048"/>
          </a:xfrm>
          <a:prstGeom prst="rect">
            <a:avLst/>
          </a:prstGeom>
          <a:solidFill>
            <a:srgbClr val="1C7293">
              <a:alpha val="18000"/>
            </a:srgbClr>
          </a:solidFill>
          <a:ln w="12700">
            <a:solidFill>
              <a:srgbClr val="1C7293">
                <a:alpha val="40000"/>
              </a:srgbClr>
            </a:solidFill>
            <a:prstDash val="solid"/>
          </a:ln>
        </p:spPr>
      </p:sp>
      <p:sp>
        <p:nvSpPr>
          <p:cNvPr id="19" name="Shape 17"/>
          <p:cNvSpPr/>
          <p:nvPr/>
        </p:nvSpPr>
        <p:spPr>
          <a:xfrm>
            <a:off x="8174736" y="1463040"/>
            <a:ext cx="566928" cy="384048"/>
          </a:xfrm>
          <a:prstGeom prst="rect">
            <a:avLst/>
          </a:prstGeom>
          <a:solidFill>
            <a:srgbClr val="1C7293">
              <a:alpha val="18000"/>
            </a:srgbClr>
          </a:solidFill>
          <a:ln w="12700">
            <a:solidFill>
              <a:srgbClr val="1C7293">
                <a:alpha val="40000"/>
              </a:srgbClr>
            </a:solidFill>
            <a:prstDash val="solid"/>
          </a:ln>
        </p:spPr>
      </p:sp>
      <p:sp>
        <p:nvSpPr>
          <p:cNvPr id="20" name="Shape 18"/>
          <p:cNvSpPr/>
          <p:nvPr/>
        </p:nvSpPr>
        <p:spPr>
          <a:xfrm>
            <a:off x="6858000" y="1965960"/>
            <a:ext cx="566928" cy="384048"/>
          </a:xfrm>
          <a:prstGeom prst="rect">
            <a:avLst/>
          </a:prstGeom>
          <a:solidFill>
            <a:srgbClr val="1C7293">
              <a:alpha val="18000"/>
            </a:srgbClr>
          </a:solidFill>
          <a:ln w="12700">
            <a:solidFill>
              <a:srgbClr val="1C7293">
                <a:alpha val="40000"/>
              </a:srgbClr>
            </a:solidFill>
            <a:prstDash val="solid"/>
          </a:ln>
        </p:spPr>
      </p:sp>
      <p:sp>
        <p:nvSpPr>
          <p:cNvPr id="21" name="Shape 19"/>
          <p:cNvSpPr/>
          <p:nvPr/>
        </p:nvSpPr>
        <p:spPr>
          <a:xfrm>
            <a:off x="7516368" y="1965960"/>
            <a:ext cx="566928" cy="384048"/>
          </a:xfrm>
          <a:prstGeom prst="rect">
            <a:avLst/>
          </a:prstGeom>
          <a:solidFill>
            <a:srgbClr val="1C7293">
              <a:alpha val="18000"/>
            </a:srgbClr>
          </a:solidFill>
          <a:ln w="12700">
            <a:solidFill>
              <a:srgbClr val="1C7293">
                <a:alpha val="40000"/>
              </a:srgbClr>
            </a:solidFill>
            <a:prstDash val="solid"/>
          </a:ln>
        </p:spPr>
      </p:sp>
      <p:sp>
        <p:nvSpPr>
          <p:cNvPr id="22" name="Shape 20"/>
          <p:cNvSpPr/>
          <p:nvPr/>
        </p:nvSpPr>
        <p:spPr>
          <a:xfrm>
            <a:off x="8174736" y="1965960"/>
            <a:ext cx="566928" cy="384048"/>
          </a:xfrm>
          <a:prstGeom prst="rect">
            <a:avLst/>
          </a:prstGeom>
          <a:solidFill>
            <a:srgbClr val="1C7293">
              <a:alpha val="18000"/>
            </a:srgbClr>
          </a:solidFill>
          <a:ln w="12700">
            <a:solidFill>
              <a:srgbClr val="1C7293">
                <a:alpha val="40000"/>
              </a:srgbClr>
            </a:solidFill>
            <a:prstDash val="solid"/>
          </a:ln>
        </p:spPr>
      </p:sp>
      <p:sp>
        <p:nvSpPr>
          <p:cNvPr id="23" name="Shape 21"/>
          <p:cNvSpPr/>
          <p:nvPr/>
        </p:nvSpPr>
        <p:spPr>
          <a:xfrm>
            <a:off x="6858000" y="2468880"/>
            <a:ext cx="566928" cy="384048"/>
          </a:xfrm>
          <a:prstGeom prst="rect">
            <a:avLst/>
          </a:prstGeom>
          <a:solidFill>
            <a:srgbClr val="1C7293">
              <a:alpha val="18000"/>
            </a:srgbClr>
          </a:solidFill>
          <a:ln w="12700">
            <a:solidFill>
              <a:srgbClr val="1C7293">
                <a:alpha val="40000"/>
              </a:srgbClr>
            </a:solidFill>
            <a:prstDash val="solid"/>
          </a:ln>
        </p:spPr>
      </p:sp>
      <p:sp>
        <p:nvSpPr>
          <p:cNvPr id="24" name="Shape 22"/>
          <p:cNvSpPr/>
          <p:nvPr/>
        </p:nvSpPr>
        <p:spPr>
          <a:xfrm>
            <a:off x="7516368" y="2468880"/>
            <a:ext cx="566928" cy="384048"/>
          </a:xfrm>
          <a:prstGeom prst="rect">
            <a:avLst/>
          </a:prstGeom>
          <a:solidFill>
            <a:srgbClr val="1C7293">
              <a:alpha val="18000"/>
            </a:srgbClr>
          </a:solidFill>
          <a:ln w="12700">
            <a:solidFill>
              <a:srgbClr val="1C7293">
                <a:alpha val="40000"/>
              </a:srgbClr>
            </a:solidFill>
            <a:prstDash val="solid"/>
          </a:ln>
        </p:spPr>
      </p:sp>
      <p:sp>
        <p:nvSpPr>
          <p:cNvPr id="25" name="Shape 23"/>
          <p:cNvSpPr/>
          <p:nvPr/>
        </p:nvSpPr>
        <p:spPr>
          <a:xfrm>
            <a:off x="8174736" y="2468880"/>
            <a:ext cx="566928" cy="384048"/>
          </a:xfrm>
          <a:prstGeom prst="rect">
            <a:avLst/>
          </a:prstGeom>
          <a:solidFill>
            <a:srgbClr val="1C7293">
              <a:alpha val="18000"/>
            </a:srgbClr>
          </a:solidFill>
          <a:ln w="12700">
            <a:solidFill>
              <a:srgbClr val="1C7293">
                <a:alpha val="40000"/>
              </a:srgbClr>
            </a:solidFill>
            <a:prstDash val="solid"/>
          </a:ln>
        </p:spPr>
      </p:sp>
      <p:sp>
        <p:nvSpPr>
          <p:cNvPr id="26" name="Shape 24"/>
          <p:cNvSpPr/>
          <p:nvPr/>
        </p:nvSpPr>
        <p:spPr>
          <a:xfrm>
            <a:off x="6858000" y="2971800"/>
            <a:ext cx="566928" cy="384048"/>
          </a:xfrm>
          <a:prstGeom prst="rect">
            <a:avLst/>
          </a:prstGeom>
          <a:solidFill>
            <a:srgbClr val="1C7293">
              <a:alpha val="18000"/>
            </a:srgbClr>
          </a:solidFill>
          <a:ln w="12700">
            <a:solidFill>
              <a:srgbClr val="1C7293">
                <a:alpha val="40000"/>
              </a:srgbClr>
            </a:solidFill>
            <a:prstDash val="solid"/>
          </a:ln>
        </p:spPr>
      </p:sp>
      <p:sp>
        <p:nvSpPr>
          <p:cNvPr id="27" name="Shape 25"/>
          <p:cNvSpPr/>
          <p:nvPr/>
        </p:nvSpPr>
        <p:spPr>
          <a:xfrm>
            <a:off x="7516368" y="2971800"/>
            <a:ext cx="566928" cy="384048"/>
          </a:xfrm>
          <a:prstGeom prst="rect">
            <a:avLst/>
          </a:prstGeom>
          <a:solidFill>
            <a:srgbClr val="1C7293">
              <a:alpha val="18000"/>
            </a:srgbClr>
          </a:solidFill>
          <a:ln w="12700">
            <a:solidFill>
              <a:srgbClr val="1C7293">
                <a:alpha val="40000"/>
              </a:srgbClr>
            </a:solidFill>
            <a:prstDash val="solid"/>
          </a:ln>
        </p:spPr>
      </p:sp>
      <p:sp>
        <p:nvSpPr>
          <p:cNvPr id="28" name="Shape 26"/>
          <p:cNvSpPr/>
          <p:nvPr/>
        </p:nvSpPr>
        <p:spPr>
          <a:xfrm>
            <a:off x="8174736" y="2971800"/>
            <a:ext cx="566928" cy="384048"/>
          </a:xfrm>
          <a:prstGeom prst="rect">
            <a:avLst/>
          </a:prstGeom>
          <a:solidFill>
            <a:srgbClr val="1C7293">
              <a:alpha val="18000"/>
            </a:srgbClr>
          </a:solidFill>
          <a:ln w="12700">
            <a:solidFill>
              <a:srgbClr val="1C7293">
                <a:alpha val="40000"/>
              </a:srgbClr>
            </a:solidFill>
            <a:prstDash val="solid"/>
          </a:ln>
        </p:spPr>
      </p:sp>
      <p:sp>
        <p:nvSpPr>
          <p:cNvPr id="29" name="Shape 27"/>
          <p:cNvSpPr/>
          <p:nvPr/>
        </p:nvSpPr>
        <p:spPr>
          <a:xfrm>
            <a:off x="6858000" y="3474720"/>
            <a:ext cx="566928" cy="384048"/>
          </a:xfrm>
          <a:prstGeom prst="rect">
            <a:avLst/>
          </a:prstGeom>
          <a:solidFill>
            <a:srgbClr val="1C7293">
              <a:alpha val="18000"/>
            </a:srgbClr>
          </a:solidFill>
          <a:ln w="12700">
            <a:solidFill>
              <a:srgbClr val="1C7293">
                <a:alpha val="40000"/>
              </a:srgbClr>
            </a:solidFill>
            <a:prstDash val="solid"/>
          </a:ln>
        </p:spPr>
      </p:sp>
      <p:sp>
        <p:nvSpPr>
          <p:cNvPr id="30" name="Shape 28"/>
          <p:cNvSpPr/>
          <p:nvPr/>
        </p:nvSpPr>
        <p:spPr>
          <a:xfrm>
            <a:off x="7516368" y="3474720"/>
            <a:ext cx="566928" cy="384048"/>
          </a:xfrm>
          <a:prstGeom prst="rect">
            <a:avLst/>
          </a:prstGeom>
          <a:solidFill>
            <a:srgbClr val="1C7293">
              <a:alpha val="18000"/>
            </a:srgbClr>
          </a:solidFill>
          <a:ln w="12700">
            <a:solidFill>
              <a:srgbClr val="1C7293">
                <a:alpha val="40000"/>
              </a:srgbClr>
            </a:solidFill>
            <a:prstDash val="solid"/>
          </a:ln>
        </p:spPr>
      </p:sp>
      <p:sp>
        <p:nvSpPr>
          <p:cNvPr id="31" name="Shape 29"/>
          <p:cNvSpPr/>
          <p:nvPr/>
        </p:nvSpPr>
        <p:spPr>
          <a:xfrm>
            <a:off x="8174736" y="3474720"/>
            <a:ext cx="566928" cy="384048"/>
          </a:xfrm>
          <a:prstGeom prst="rect">
            <a:avLst/>
          </a:prstGeom>
          <a:solidFill>
            <a:srgbClr val="1C7293">
              <a:alpha val="18000"/>
            </a:srgbClr>
          </a:solidFill>
          <a:ln w="12700">
            <a:solidFill>
              <a:srgbClr val="1C7293">
                <a:alpha val="40000"/>
              </a:srgbClr>
            </a:solidFill>
            <a:prstDash val="solid"/>
          </a:ln>
        </p:spPr>
      </p:sp>
      <p:sp>
        <p:nvSpPr>
          <p:cNvPr id="32" name="Shape 30"/>
          <p:cNvSpPr/>
          <p:nvPr/>
        </p:nvSpPr>
        <p:spPr>
          <a:xfrm>
            <a:off x="6858000" y="3977640"/>
            <a:ext cx="566928" cy="384048"/>
          </a:xfrm>
          <a:prstGeom prst="rect">
            <a:avLst/>
          </a:prstGeom>
          <a:solidFill>
            <a:srgbClr val="1C7293">
              <a:alpha val="18000"/>
            </a:srgbClr>
          </a:solidFill>
          <a:ln w="12700">
            <a:solidFill>
              <a:srgbClr val="1C7293">
                <a:alpha val="40000"/>
              </a:srgbClr>
            </a:solidFill>
            <a:prstDash val="solid"/>
          </a:ln>
        </p:spPr>
      </p:sp>
      <p:sp>
        <p:nvSpPr>
          <p:cNvPr id="33" name="Shape 31"/>
          <p:cNvSpPr/>
          <p:nvPr/>
        </p:nvSpPr>
        <p:spPr>
          <a:xfrm>
            <a:off x="7516368" y="3977640"/>
            <a:ext cx="566928" cy="384048"/>
          </a:xfrm>
          <a:prstGeom prst="rect">
            <a:avLst/>
          </a:prstGeom>
          <a:solidFill>
            <a:srgbClr val="1C7293">
              <a:alpha val="18000"/>
            </a:srgbClr>
          </a:solidFill>
          <a:ln w="12700">
            <a:solidFill>
              <a:srgbClr val="1C7293">
                <a:alpha val="40000"/>
              </a:srgbClr>
            </a:solidFill>
            <a:prstDash val="solid"/>
          </a:ln>
        </p:spPr>
      </p:sp>
      <p:sp>
        <p:nvSpPr>
          <p:cNvPr id="34" name="Shape 32"/>
          <p:cNvSpPr/>
          <p:nvPr/>
        </p:nvSpPr>
        <p:spPr>
          <a:xfrm>
            <a:off x="8174736" y="3977640"/>
            <a:ext cx="566928" cy="384048"/>
          </a:xfrm>
          <a:prstGeom prst="rect">
            <a:avLst/>
          </a:prstGeom>
          <a:solidFill>
            <a:srgbClr val="1C7293">
              <a:alpha val="18000"/>
            </a:srgbClr>
          </a:solidFill>
          <a:ln w="12700">
            <a:solidFill>
              <a:srgbClr val="1C7293">
                <a:alpha val="40000"/>
              </a:srgbClr>
            </a:solidFill>
            <a:prstDash val="solid"/>
          </a:ln>
        </p:spPr>
      </p:sp>
      <p:sp>
        <p:nvSpPr>
          <p:cNvPr id="35" name="Shape 33"/>
          <p:cNvSpPr/>
          <p:nvPr/>
        </p:nvSpPr>
        <p:spPr>
          <a:xfrm>
            <a:off x="6858000" y="4480560"/>
            <a:ext cx="566928" cy="384048"/>
          </a:xfrm>
          <a:prstGeom prst="rect">
            <a:avLst/>
          </a:prstGeom>
          <a:solidFill>
            <a:srgbClr val="1C7293">
              <a:alpha val="18000"/>
            </a:srgbClr>
          </a:solidFill>
          <a:ln w="12700">
            <a:solidFill>
              <a:srgbClr val="1C7293">
                <a:alpha val="40000"/>
              </a:srgbClr>
            </a:solidFill>
            <a:prstDash val="solid"/>
          </a:ln>
        </p:spPr>
      </p:sp>
      <p:sp>
        <p:nvSpPr>
          <p:cNvPr id="36" name="Shape 34"/>
          <p:cNvSpPr/>
          <p:nvPr/>
        </p:nvSpPr>
        <p:spPr>
          <a:xfrm>
            <a:off x="7516368" y="4480560"/>
            <a:ext cx="566928" cy="384048"/>
          </a:xfrm>
          <a:prstGeom prst="rect">
            <a:avLst/>
          </a:prstGeom>
          <a:solidFill>
            <a:srgbClr val="1C7293">
              <a:alpha val="18000"/>
            </a:srgbClr>
          </a:solidFill>
          <a:ln w="12700">
            <a:solidFill>
              <a:srgbClr val="1C7293">
                <a:alpha val="40000"/>
              </a:srgbClr>
            </a:solidFill>
            <a:prstDash val="solid"/>
          </a:ln>
        </p:spPr>
      </p:sp>
      <p:sp>
        <p:nvSpPr>
          <p:cNvPr id="37" name="Shape 35"/>
          <p:cNvSpPr/>
          <p:nvPr/>
        </p:nvSpPr>
        <p:spPr>
          <a:xfrm>
            <a:off x="8174736" y="4480560"/>
            <a:ext cx="566928" cy="384048"/>
          </a:xfrm>
          <a:prstGeom prst="rect">
            <a:avLst/>
          </a:prstGeom>
          <a:solidFill>
            <a:srgbClr val="1C7293">
              <a:alpha val="18000"/>
            </a:srgbClr>
          </a:solidFill>
          <a:ln w="12700">
            <a:solidFill>
              <a:srgbClr val="1C7293">
                <a:alpha val="4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Today's Agenda</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Agenda</a:t>
            </a:r>
            <a:endParaRPr lang="en-US" sz="800" dirty="0"/>
          </a:p>
        </p:txBody>
      </p:sp>
      <p:sp>
        <p:nvSpPr>
          <p:cNvPr id="7" name="Shape 5"/>
          <p:cNvSpPr/>
          <p:nvPr/>
        </p:nvSpPr>
        <p:spPr>
          <a:xfrm>
            <a:off x="365760" y="98755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45720" cy="621792"/>
          </a:xfrm>
          <a:prstGeom prst="rect">
            <a:avLst/>
          </a:prstGeom>
          <a:solidFill>
            <a:srgbClr val="1C7293"/>
          </a:solidFill>
          <a:ln w="12700">
            <a:solidFill>
              <a:srgbClr val="1C7293"/>
            </a:solidFill>
            <a:prstDash val="solid"/>
          </a:ln>
        </p:spPr>
      </p:sp>
      <p:sp>
        <p:nvSpPr>
          <p:cNvPr id="9" name="Text 7"/>
          <p:cNvSpPr/>
          <p:nvPr/>
        </p:nvSpPr>
        <p:spPr>
          <a:xfrm>
            <a:off x="475488" y="106070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914400" y="104241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The Problem</a:t>
            </a:r>
            <a:endParaRPr lang="en-US" sz="1300" dirty="0"/>
          </a:p>
        </p:txBody>
      </p:sp>
      <p:sp>
        <p:nvSpPr>
          <p:cNvPr id="11" name="Text 9"/>
          <p:cNvSpPr/>
          <p:nvPr/>
        </p:nvSpPr>
        <p:spPr>
          <a:xfrm>
            <a:off x="914400" y="128016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Why ML for composites needs a better data foundation</a:t>
            </a:r>
            <a:endParaRPr lang="en-US" sz="950" dirty="0"/>
          </a:p>
        </p:txBody>
      </p:sp>
      <p:sp>
        <p:nvSpPr>
          <p:cNvPr id="12" name="Shape 10"/>
          <p:cNvSpPr/>
          <p:nvPr/>
        </p:nvSpPr>
        <p:spPr>
          <a:xfrm>
            <a:off x="365760" y="171907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3" name="Shape 11"/>
          <p:cNvSpPr/>
          <p:nvPr/>
        </p:nvSpPr>
        <p:spPr>
          <a:xfrm>
            <a:off x="365760" y="1719072"/>
            <a:ext cx="45720" cy="621792"/>
          </a:xfrm>
          <a:prstGeom prst="rect">
            <a:avLst/>
          </a:prstGeom>
          <a:solidFill>
            <a:srgbClr val="1C7293"/>
          </a:solidFill>
          <a:ln w="12700">
            <a:solidFill>
              <a:srgbClr val="1C7293"/>
            </a:solidFill>
            <a:prstDash val="solid"/>
          </a:ln>
        </p:spPr>
      </p:sp>
      <p:sp>
        <p:nvSpPr>
          <p:cNvPr id="14" name="Text 12"/>
          <p:cNvSpPr/>
          <p:nvPr/>
        </p:nvSpPr>
        <p:spPr>
          <a:xfrm>
            <a:off x="475488" y="179222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914400" y="177393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Related Work</a:t>
            </a:r>
            <a:endParaRPr lang="en-US" sz="1300" dirty="0"/>
          </a:p>
        </p:txBody>
      </p:sp>
      <p:sp>
        <p:nvSpPr>
          <p:cNvPr id="16" name="Text 14"/>
          <p:cNvSpPr/>
          <p:nvPr/>
        </p:nvSpPr>
        <p:spPr>
          <a:xfrm>
            <a:off x="914400" y="201168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Existing databases &amp; LLM extraction literature</a:t>
            </a:r>
            <a:endParaRPr lang="en-US" sz="950" dirty="0"/>
          </a:p>
        </p:txBody>
      </p:sp>
      <p:sp>
        <p:nvSpPr>
          <p:cNvPr id="17" name="Shape 15"/>
          <p:cNvSpPr/>
          <p:nvPr/>
        </p:nvSpPr>
        <p:spPr>
          <a:xfrm>
            <a:off x="365760" y="245059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8" name="Shape 16"/>
          <p:cNvSpPr/>
          <p:nvPr/>
        </p:nvSpPr>
        <p:spPr>
          <a:xfrm>
            <a:off x="365760" y="2450592"/>
            <a:ext cx="45720" cy="621792"/>
          </a:xfrm>
          <a:prstGeom prst="rect">
            <a:avLst/>
          </a:prstGeom>
          <a:solidFill>
            <a:srgbClr val="1C7293"/>
          </a:solidFill>
          <a:ln w="12700">
            <a:solidFill>
              <a:srgbClr val="1C7293"/>
            </a:solidFill>
            <a:prstDash val="solid"/>
          </a:ln>
        </p:spPr>
      </p:sp>
      <p:sp>
        <p:nvSpPr>
          <p:cNvPr id="19" name="Text 17"/>
          <p:cNvSpPr/>
          <p:nvPr/>
        </p:nvSpPr>
        <p:spPr>
          <a:xfrm>
            <a:off x="475488" y="252374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914400" y="250545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What We Built</a:t>
            </a:r>
            <a:endParaRPr lang="en-US" sz="1300" dirty="0"/>
          </a:p>
        </p:txBody>
      </p:sp>
      <p:sp>
        <p:nvSpPr>
          <p:cNvPr id="21" name="Text 19"/>
          <p:cNvSpPr/>
          <p:nvPr/>
        </p:nvSpPr>
        <p:spPr>
          <a:xfrm>
            <a:off x="914400" y="274320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Architecture, schema, and deployment overview</a:t>
            </a:r>
            <a:endParaRPr lang="en-US" sz="950" dirty="0"/>
          </a:p>
        </p:txBody>
      </p:sp>
      <p:sp>
        <p:nvSpPr>
          <p:cNvPr id="22" name="Shape 20"/>
          <p:cNvSpPr/>
          <p:nvPr/>
        </p:nvSpPr>
        <p:spPr>
          <a:xfrm>
            <a:off x="365760" y="318211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365760" y="3182112"/>
            <a:ext cx="45720" cy="621792"/>
          </a:xfrm>
          <a:prstGeom prst="rect">
            <a:avLst/>
          </a:prstGeom>
          <a:solidFill>
            <a:srgbClr val="1C7293"/>
          </a:solidFill>
          <a:ln w="12700">
            <a:solidFill>
              <a:srgbClr val="1C7293"/>
            </a:solidFill>
            <a:prstDash val="solid"/>
          </a:ln>
        </p:spPr>
      </p:sp>
      <p:sp>
        <p:nvSpPr>
          <p:cNvPr id="24" name="Text 22"/>
          <p:cNvSpPr/>
          <p:nvPr/>
        </p:nvSpPr>
        <p:spPr>
          <a:xfrm>
            <a:off x="475488" y="325526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914400" y="323697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Extraction Pipeline</a:t>
            </a:r>
            <a:endParaRPr lang="en-US" sz="1300" dirty="0"/>
          </a:p>
        </p:txBody>
      </p:sp>
      <p:sp>
        <p:nvSpPr>
          <p:cNvPr id="26" name="Text 24"/>
          <p:cNvSpPr/>
          <p:nvPr/>
        </p:nvSpPr>
        <p:spPr>
          <a:xfrm>
            <a:off x="914400" y="347472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PDF to structured rows via Gemini 2.5 Flash</a:t>
            </a:r>
            <a:endParaRPr lang="en-US" sz="950" dirty="0"/>
          </a:p>
        </p:txBody>
      </p:sp>
      <p:sp>
        <p:nvSpPr>
          <p:cNvPr id="27" name="Shape 25"/>
          <p:cNvSpPr/>
          <p:nvPr/>
        </p:nvSpPr>
        <p:spPr>
          <a:xfrm>
            <a:off x="365760" y="391363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8" name="Shape 26"/>
          <p:cNvSpPr/>
          <p:nvPr/>
        </p:nvSpPr>
        <p:spPr>
          <a:xfrm>
            <a:off x="365760" y="3913632"/>
            <a:ext cx="45720" cy="621792"/>
          </a:xfrm>
          <a:prstGeom prst="rect">
            <a:avLst/>
          </a:prstGeom>
          <a:solidFill>
            <a:srgbClr val="1C7293"/>
          </a:solidFill>
          <a:ln w="12700">
            <a:solidFill>
              <a:srgbClr val="1C7293"/>
            </a:solidFill>
            <a:prstDash val="solid"/>
          </a:ln>
        </p:spPr>
      </p:sp>
      <p:sp>
        <p:nvSpPr>
          <p:cNvPr id="29" name="Text 27"/>
          <p:cNvSpPr/>
          <p:nvPr/>
        </p:nvSpPr>
        <p:spPr>
          <a:xfrm>
            <a:off x="475488" y="398678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5</a:t>
            </a:r>
            <a:endParaRPr lang="en-US" sz="1800" dirty="0"/>
          </a:p>
        </p:txBody>
      </p:sp>
      <p:sp>
        <p:nvSpPr>
          <p:cNvPr id="30" name="Text 28"/>
          <p:cNvSpPr/>
          <p:nvPr/>
        </p:nvSpPr>
        <p:spPr>
          <a:xfrm>
            <a:off x="914400" y="396849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User Workflows</a:t>
            </a:r>
            <a:endParaRPr lang="en-US" sz="1300" dirty="0"/>
          </a:p>
        </p:txBody>
      </p:sp>
      <p:sp>
        <p:nvSpPr>
          <p:cNvPr id="31" name="Text 29"/>
          <p:cNvSpPr/>
          <p:nvPr/>
        </p:nvSpPr>
        <p:spPr>
          <a:xfrm>
            <a:off x="914400" y="420624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Browse, manual upload, PDF-assisted upload</a:t>
            </a:r>
            <a:endParaRPr lang="en-US" sz="950" dirty="0"/>
          </a:p>
        </p:txBody>
      </p:sp>
      <p:sp>
        <p:nvSpPr>
          <p:cNvPr id="32" name="Shape 30"/>
          <p:cNvSpPr/>
          <p:nvPr/>
        </p:nvSpPr>
        <p:spPr>
          <a:xfrm>
            <a:off x="4846320" y="98755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3" name="Shape 31"/>
          <p:cNvSpPr/>
          <p:nvPr/>
        </p:nvSpPr>
        <p:spPr>
          <a:xfrm>
            <a:off x="4846320" y="987552"/>
            <a:ext cx="45720" cy="621792"/>
          </a:xfrm>
          <a:prstGeom prst="rect">
            <a:avLst/>
          </a:prstGeom>
          <a:solidFill>
            <a:srgbClr val="1C7293"/>
          </a:solidFill>
          <a:ln w="12700">
            <a:solidFill>
              <a:srgbClr val="1C7293"/>
            </a:solidFill>
            <a:prstDash val="solid"/>
          </a:ln>
        </p:spPr>
      </p:sp>
      <p:sp>
        <p:nvSpPr>
          <p:cNvPr id="34" name="Text 32"/>
          <p:cNvSpPr/>
          <p:nvPr/>
        </p:nvSpPr>
        <p:spPr>
          <a:xfrm>
            <a:off x="4956048" y="106070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6</a:t>
            </a:r>
            <a:endParaRPr lang="en-US" sz="1800" dirty="0"/>
          </a:p>
        </p:txBody>
      </p:sp>
      <p:sp>
        <p:nvSpPr>
          <p:cNvPr id="35" name="Text 33"/>
          <p:cNvSpPr/>
          <p:nvPr/>
        </p:nvSpPr>
        <p:spPr>
          <a:xfrm>
            <a:off x="5394960" y="104241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Current Data</a:t>
            </a:r>
            <a:endParaRPr lang="en-US" sz="1300" dirty="0"/>
          </a:p>
        </p:txBody>
      </p:sp>
      <p:sp>
        <p:nvSpPr>
          <p:cNvPr id="36" name="Text 34"/>
          <p:cNvSpPr/>
          <p:nvPr/>
        </p:nvSpPr>
        <p:spPr>
          <a:xfrm>
            <a:off x="5394960" y="128016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289 rows, 4 materials, quality findings</a:t>
            </a:r>
            <a:endParaRPr lang="en-US" sz="950" dirty="0"/>
          </a:p>
        </p:txBody>
      </p:sp>
      <p:sp>
        <p:nvSpPr>
          <p:cNvPr id="37" name="Shape 35"/>
          <p:cNvSpPr/>
          <p:nvPr/>
        </p:nvSpPr>
        <p:spPr>
          <a:xfrm>
            <a:off x="4846320" y="1719072"/>
            <a:ext cx="4206240" cy="621792"/>
          </a:xfrm>
          <a:prstGeom prst="rect">
            <a:avLst/>
          </a:prstGeom>
          <a:solidFill>
            <a:srgbClr val="FFF8E1"/>
          </a:solidFill>
          <a:ln w="12700">
            <a:solidFill>
              <a:srgbClr val="F9A825"/>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4846320" y="1719072"/>
            <a:ext cx="45720" cy="621792"/>
          </a:xfrm>
          <a:prstGeom prst="rect">
            <a:avLst/>
          </a:prstGeom>
          <a:solidFill>
            <a:srgbClr val="F9A825"/>
          </a:solidFill>
          <a:ln w="12700">
            <a:solidFill>
              <a:srgbClr val="F9A825"/>
            </a:solidFill>
            <a:prstDash val="solid"/>
          </a:ln>
        </p:spPr>
      </p:sp>
      <p:sp>
        <p:nvSpPr>
          <p:cNvPr id="39" name="Text 37"/>
          <p:cNvSpPr/>
          <p:nvPr/>
        </p:nvSpPr>
        <p:spPr>
          <a:xfrm>
            <a:off x="4956048" y="1792224"/>
            <a:ext cx="365760" cy="475488"/>
          </a:xfrm>
          <a:prstGeom prst="rect">
            <a:avLst/>
          </a:prstGeom>
          <a:noFill/>
          <a:ln/>
        </p:spPr>
        <p:txBody>
          <a:bodyPr wrap="square" lIns="0" tIns="0" rIns="0" bIns="0" rtlCol="0" anchor="ctr"/>
          <a:lstStyle/>
          <a:p>
            <a:pPr algn="ctr" indent="0" marL="0">
              <a:buNone/>
            </a:pPr>
            <a:r>
              <a:rPr lang="en-US" sz="1800" b="1" dirty="0">
                <a:solidFill>
                  <a:srgbClr val="F9A825"/>
                </a:solidFill>
                <a:latin typeface="Calibri" pitchFamily="34" charset="0"/>
                <a:ea typeface="Calibri" pitchFamily="34" charset="-122"/>
                <a:cs typeface="Calibri" pitchFamily="34" charset="-120"/>
              </a:rPr>
              <a:t>7</a:t>
            </a:r>
            <a:endParaRPr lang="en-US" sz="1800" dirty="0"/>
          </a:p>
        </p:txBody>
      </p:sp>
      <p:sp>
        <p:nvSpPr>
          <p:cNvPr id="40" name="Text 38"/>
          <p:cNvSpPr/>
          <p:nvPr/>
        </p:nvSpPr>
        <p:spPr>
          <a:xfrm>
            <a:off x="5394960" y="1773936"/>
            <a:ext cx="3474720" cy="256032"/>
          </a:xfrm>
          <a:prstGeom prst="rect">
            <a:avLst/>
          </a:prstGeom>
          <a:noFill/>
          <a:ln/>
        </p:spPr>
        <p:txBody>
          <a:bodyPr wrap="square" lIns="0" tIns="0" rIns="0" bIns="0" rtlCol="0" anchor="t"/>
          <a:lstStyle/>
          <a:p>
            <a:pPr indent="0" marL="0">
              <a:buNone/>
            </a:pPr>
            <a:r>
              <a:rPr lang="en-US" sz="1300" b="1" dirty="0">
                <a:solidFill>
                  <a:srgbClr val="B8860B"/>
                </a:solidFill>
                <a:latin typeface="Georgia" pitchFamily="34" charset="0"/>
                <a:ea typeface="Georgia" pitchFamily="34" charset="-122"/>
                <a:cs typeface="Georgia" pitchFamily="34" charset="-120"/>
              </a:rPr>
              <a:t>LIVE DEMO</a:t>
            </a:r>
            <a:endParaRPr lang="en-US" sz="1300" dirty="0"/>
          </a:p>
        </p:txBody>
      </p:sp>
      <p:sp>
        <p:nvSpPr>
          <p:cNvPr id="41" name="Text 39"/>
          <p:cNvSpPr/>
          <p:nvPr/>
        </p:nvSpPr>
        <p:spPr>
          <a:xfrm>
            <a:off x="5394960" y="201168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Walk through the running Hugging Face Space</a:t>
            </a:r>
            <a:endParaRPr lang="en-US" sz="950" dirty="0"/>
          </a:p>
        </p:txBody>
      </p:sp>
      <p:sp>
        <p:nvSpPr>
          <p:cNvPr id="42" name="Shape 40"/>
          <p:cNvSpPr/>
          <p:nvPr/>
        </p:nvSpPr>
        <p:spPr>
          <a:xfrm>
            <a:off x="4846320" y="245059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43" name="Shape 41"/>
          <p:cNvSpPr/>
          <p:nvPr/>
        </p:nvSpPr>
        <p:spPr>
          <a:xfrm>
            <a:off x="4846320" y="2450592"/>
            <a:ext cx="45720" cy="621792"/>
          </a:xfrm>
          <a:prstGeom prst="rect">
            <a:avLst/>
          </a:prstGeom>
          <a:solidFill>
            <a:srgbClr val="1C7293"/>
          </a:solidFill>
          <a:ln w="12700">
            <a:solidFill>
              <a:srgbClr val="1C7293"/>
            </a:solidFill>
            <a:prstDash val="solid"/>
          </a:ln>
        </p:spPr>
      </p:sp>
      <p:sp>
        <p:nvSpPr>
          <p:cNvPr id="44" name="Text 42"/>
          <p:cNvSpPr/>
          <p:nvPr/>
        </p:nvSpPr>
        <p:spPr>
          <a:xfrm>
            <a:off x="4956048" y="252374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8</a:t>
            </a:r>
            <a:endParaRPr lang="en-US" sz="1800" dirty="0"/>
          </a:p>
        </p:txBody>
      </p:sp>
      <p:sp>
        <p:nvSpPr>
          <p:cNvPr id="45" name="Text 43"/>
          <p:cNvSpPr/>
          <p:nvPr/>
        </p:nvSpPr>
        <p:spPr>
          <a:xfrm>
            <a:off x="5394960" y="250545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Autonomous Ingestion</a:t>
            </a:r>
            <a:endParaRPr lang="en-US" sz="1300" dirty="0"/>
          </a:p>
        </p:txBody>
      </p:sp>
      <p:sp>
        <p:nvSpPr>
          <p:cNvPr id="46" name="Text 44"/>
          <p:cNvSpPr/>
          <p:nvPr/>
        </p:nvSpPr>
        <p:spPr>
          <a:xfrm>
            <a:off x="5394960" y="274320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Batch prototype &amp; path to fully automated ingestion</a:t>
            </a:r>
            <a:endParaRPr lang="en-US" sz="950" dirty="0"/>
          </a:p>
        </p:txBody>
      </p:sp>
      <p:sp>
        <p:nvSpPr>
          <p:cNvPr id="47" name="Shape 45"/>
          <p:cNvSpPr/>
          <p:nvPr/>
        </p:nvSpPr>
        <p:spPr>
          <a:xfrm>
            <a:off x="4846320" y="3182112"/>
            <a:ext cx="4206240" cy="62179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48" name="Shape 46"/>
          <p:cNvSpPr/>
          <p:nvPr/>
        </p:nvSpPr>
        <p:spPr>
          <a:xfrm>
            <a:off x="4846320" y="3182112"/>
            <a:ext cx="45720" cy="621792"/>
          </a:xfrm>
          <a:prstGeom prst="rect">
            <a:avLst/>
          </a:prstGeom>
          <a:solidFill>
            <a:srgbClr val="1C7293"/>
          </a:solidFill>
          <a:ln w="12700">
            <a:solidFill>
              <a:srgbClr val="1C7293"/>
            </a:solidFill>
            <a:prstDash val="solid"/>
          </a:ln>
        </p:spPr>
      </p:sp>
      <p:sp>
        <p:nvSpPr>
          <p:cNvPr id="49" name="Text 47"/>
          <p:cNvSpPr/>
          <p:nvPr/>
        </p:nvSpPr>
        <p:spPr>
          <a:xfrm>
            <a:off x="4956048" y="3255264"/>
            <a:ext cx="365760" cy="475488"/>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9</a:t>
            </a:r>
            <a:endParaRPr lang="en-US" sz="1800" dirty="0"/>
          </a:p>
        </p:txBody>
      </p:sp>
      <p:sp>
        <p:nvSpPr>
          <p:cNvPr id="50" name="Text 48"/>
          <p:cNvSpPr/>
          <p:nvPr/>
        </p:nvSpPr>
        <p:spPr>
          <a:xfrm>
            <a:off x="5394960" y="3236976"/>
            <a:ext cx="3474720" cy="256032"/>
          </a:xfrm>
          <a:prstGeom prst="rect">
            <a:avLst/>
          </a:prstGeom>
          <a:noFill/>
          <a:ln/>
        </p:spPr>
        <p:txBody>
          <a:bodyPr wrap="square" lIns="0" tIns="0" rIns="0" bIns="0" rtlCol="0" anchor="t"/>
          <a:lstStyle/>
          <a:p>
            <a:pPr indent="0" marL="0">
              <a:buNone/>
            </a:pPr>
            <a:r>
              <a:rPr lang="en-US" sz="1300" b="1" dirty="0">
                <a:solidFill>
                  <a:srgbClr val="1A2E3B"/>
                </a:solidFill>
                <a:latin typeface="Georgia" pitchFamily="34" charset="0"/>
                <a:ea typeface="Georgia" pitchFamily="34" charset="-122"/>
                <a:cs typeface="Georgia" pitchFamily="34" charset="-120"/>
              </a:rPr>
              <a:t>Next Steps</a:t>
            </a:r>
            <a:endParaRPr lang="en-US" sz="1300" dirty="0"/>
          </a:p>
        </p:txBody>
      </p:sp>
      <p:sp>
        <p:nvSpPr>
          <p:cNvPr id="51" name="Text 49"/>
          <p:cNvSpPr/>
          <p:nvPr/>
        </p:nvSpPr>
        <p:spPr>
          <a:xfrm>
            <a:off x="5394960" y="3474720"/>
            <a:ext cx="3474720" cy="25603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Provenance, evals, source discovery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The Data Bottleneck for ML in Composites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1 / The Problem</a:t>
            </a:r>
            <a:endParaRPr lang="en-US" sz="800" dirty="0"/>
          </a:p>
        </p:txBody>
      </p:sp>
      <p:sp>
        <p:nvSpPr>
          <p:cNvPr id="7" name="Shape 5"/>
          <p:cNvSpPr/>
          <p:nvPr/>
        </p:nvSpPr>
        <p:spPr>
          <a:xfrm>
            <a:off x="365760" y="987552"/>
            <a:ext cx="2606040" cy="31089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45720" cy="3108960"/>
          </a:xfrm>
          <a:prstGeom prst="rect">
            <a:avLst/>
          </a:prstGeom>
          <a:solidFill>
            <a:srgbClr val="065A82"/>
          </a:solidFill>
          <a:ln w="12700">
            <a:solidFill>
              <a:srgbClr val="065A82"/>
            </a:solidFill>
            <a:prstDash val="solid"/>
          </a:ln>
        </p:spPr>
      </p:sp>
      <p:sp>
        <p:nvSpPr>
          <p:cNvPr id="9" name="Shape 7"/>
          <p:cNvSpPr/>
          <p:nvPr/>
        </p:nvSpPr>
        <p:spPr>
          <a:xfrm>
            <a:off x="1097280" y="1115568"/>
            <a:ext cx="1143000" cy="457200"/>
          </a:xfrm>
          <a:prstGeom prst="rect">
            <a:avLst/>
          </a:prstGeom>
          <a:solidFill>
            <a:srgbClr val="065A82"/>
          </a:solidFill>
          <a:ln w="12700">
            <a:solidFill>
              <a:srgbClr val="065A82"/>
            </a:solidFill>
            <a:prstDash val="solid"/>
          </a:ln>
        </p:spPr>
      </p:sp>
      <p:sp>
        <p:nvSpPr>
          <p:cNvPr id="10" name="Text 8"/>
          <p:cNvSpPr/>
          <p:nvPr/>
        </p:nvSpPr>
        <p:spPr>
          <a:xfrm>
            <a:off x="1097280" y="1115568"/>
            <a:ext cx="1143000" cy="45720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PDF</a:t>
            </a:r>
            <a:endParaRPr lang="en-US" sz="1400" dirty="0"/>
          </a:p>
        </p:txBody>
      </p:sp>
      <p:sp>
        <p:nvSpPr>
          <p:cNvPr id="11" name="Text 9"/>
          <p:cNvSpPr/>
          <p:nvPr/>
        </p:nvSpPr>
        <p:spPr>
          <a:xfrm>
            <a:off x="502920" y="1664208"/>
            <a:ext cx="2331720" cy="384048"/>
          </a:xfrm>
          <a:prstGeom prst="rect">
            <a:avLst/>
          </a:prstGeom>
          <a:noFill/>
          <a:ln/>
        </p:spPr>
        <p:txBody>
          <a:bodyPr wrap="square" lIns="0" tIns="0" rIns="0" bIns="0" rtlCol="0" anchor="ctr"/>
          <a:lstStyle/>
          <a:p>
            <a:pPr algn="ctr" indent="0" marL="0">
              <a:buNone/>
            </a:pPr>
            <a:r>
              <a:rPr lang="en-US" sz="1350" b="1" dirty="0">
                <a:solidFill>
                  <a:srgbClr val="065A82"/>
                </a:solidFill>
                <a:latin typeface="Georgia" pitchFamily="34" charset="0"/>
                <a:ea typeface="Georgia" pitchFamily="34" charset="-122"/>
                <a:cs typeface="Georgia" pitchFamily="34" charset="-120"/>
              </a:rPr>
              <a:t>Locked in PDFs</a:t>
            </a:r>
            <a:endParaRPr lang="en-US" sz="1350" dirty="0"/>
          </a:p>
        </p:txBody>
      </p:sp>
      <p:sp>
        <p:nvSpPr>
          <p:cNvPr id="12" name="Shape 10"/>
          <p:cNvSpPr/>
          <p:nvPr/>
        </p:nvSpPr>
        <p:spPr>
          <a:xfrm>
            <a:off x="1005840" y="2103120"/>
            <a:ext cx="1325880" cy="36576"/>
          </a:xfrm>
          <a:prstGeom prst="rect">
            <a:avLst/>
          </a:prstGeom>
          <a:solidFill>
            <a:srgbClr val="02C39A"/>
          </a:solidFill>
          <a:ln w="12700">
            <a:solidFill>
              <a:srgbClr val="02C39A"/>
            </a:solidFill>
            <a:prstDash val="solid"/>
          </a:ln>
        </p:spPr>
      </p:sp>
      <p:sp>
        <p:nvSpPr>
          <p:cNvPr id="13" name="Text 11"/>
          <p:cNvSpPr/>
          <p:nvPr/>
        </p:nvSpPr>
        <p:spPr>
          <a:xfrm>
            <a:off x="502920" y="2194560"/>
            <a:ext cx="2331720" cy="1627632"/>
          </a:xfrm>
          <a:prstGeom prst="rect">
            <a:avLst/>
          </a:prstGeom>
          <a:noFill/>
          <a:ln/>
        </p:spPr>
        <p:txBody>
          <a:bodyPr wrap="square" lIns="0" tIns="0" rIns="0" bIns="0" rtlCol="0" anchor="t"/>
          <a:lstStyle/>
          <a:p>
            <a:pPr algn="l" indent="0" marL="0">
              <a:buNone/>
            </a:pPr>
            <a:r>
              <a:rPr lang="en-US" sz="1100" dirty="0">
                <a:solidFill>
                  <a:srgbClr val="4A6278"/>
                </a:solidFill>
                <a:latin typeface="Calibri" pitchFamily="34" charset="0"/>
                <a:ea typeface="Calibri" pitchFamily="34" charset="-122"/>
                <a:cs typeface="Calibri" pitchFamily="34" charset="-120"/>
              </a:rPr>
              <a:t>Manufacturer datasheets &amp; journal papers are unstructured. No machine-readable format, no standardized column names.</a:t>
            </a:r>
            <a:endParaRPr lang="en-US" sz="1100" dirty="0"/>
          </a:p>
        </p:txBody>
      </p:sp>
      <p:sp>
        <p:nvSpPr>
          <p:cNvPr id="14" name="Shape 12"/>
          <p:cNvSpPr/>
          <p:nvPr/>
        </p:nvSpPr>
        <p:spPr>
          <a:xfrm>
            <a:off x="3200400" y="987552"/>
            <a:ext cx="2606040" cy="31089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5" name="Shape 13"/>
          <p:cNvSpPr/>
          <p:nvPr/>
        </p:nvSpPr>
        <p:spPr>
          <a:xfrm>
            <a:off x="3200400" y="987552"/>
            <a:ext cx="45720" cy="3108960"/>
          </a:xfrm>
          <a:prstGeom prst="rect">
            <a:avLst/>
          </a:prstGeom>
          <a:solidFill>
            <a:srgbClr val="065A82"/>
          </a:solidFill>
          <a:ln w="12700">
            <a:solidFill>
              <a:srgbClr val="065A82"/>
            </a:solidFill>
            <a:prstDash val="solid"/>
          </a:ln>
        </p:spPr>
      </p:sp>
      <p:sp>
        <p:nvSpPr>
          <p:cNvPr id="16" name="Shape 14"/>
          <p:cNvSpPr/>
          <p:nvPr/>
        </p:nvSpPr>
        <p:spPr>
          <a:xfrm>
            <a:off x="3931920" y="1115568"/>
            <a:ext cx="1143000" cy="457200"/>
          </a:xfrm>
          <a:prstGeom prst="rect">
            <a:avLst/>
          </a:prstGeom>
          <a:solidFill>
            <a:srgbClr val="065A82"/>
          </a:solidFill>
          <a:ln w="12700">
            <a:solidFill>
              <a:srgbClr val="065A82"/>
            </a:solidFill>
            <a:prstDash val="solid"/>
          </a:ln>
        </p:spPr>
      </p:sp>
      <p:sp>
        <p:nvSpPr>
          <p:cNvPr id="17" name="Text 15"/>
          <p:cNvSpPr/>
          <p:nvPr/>
        </p:nvSpPr>
        <p:spPr>
          <a:xfrm>
            <a:off x="3931920" y="1115568"/>
            <a:ext cx="1143000" cy="45720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DB</a:t>
            </a:r>
            <a:endParaRPr lang="en-US" sz="1400" dirty="0"/>
          </a:p>
        </p:txBody>
      </p:sp>
      <p:sp>
        <p:nvSpPr>
          <p:cNvPr id="18" name="Text 16"/>
          <p:cNvSpPr/>
          <p:nvPr/>
        </p:nvSpPr>
        <p:spPr>
          <a:xfrm>
            <a:off x="3337560" y="1664208"/>
            <a:ext cx="2331720" cy="384048"/>
          </a:xfrm>
          <a:prstGeom prst="rect">
            <a:avLst/>
          </a:prstGeom>
          <a:noFill/>
          <a:ln/>
        </p:spPr>
        <p:txBody>
          <a:bodyPr wrap="square" lIns="0" tIns="0" rIns="0" bIns="0" rtlCol="0" anchor="ctr"/>
          <a:lstStyle/>
          <a:p>
            <a:pPr algn="ctr" indent="0" marL="0">
              <a:buNone/>
            </a:pPr>
            <a:r>
              <a:rPr lang="en-US" sz="1350" b="1" dirty="0">
                <a:solidFill>
                  <a:srgbClr val="065A82"/>
                </a:solidFill>
                <a:latin typeface="Georgia" pitchFamily="34" charset="0"/>
                <a:ea typeface="Georgia" pitchFamily="34" charset="-122"/>
                <a:cs typeface="Georgia" pitchFamily="34" charset="-120"/>
              </a:rPr>
              <a:t>Sparse &amp; Paywalled</a:t>
            </a:r>
            <a:endParaRPr lang="en-US" sz="1350" dirty="0"/>
          </a:p>
        </p:txBody>
      </p:sp>
      <p:sp>
        <p:nvSpPr>
          <p:cNvPr id="19" name="Shape 17"/>
          <p:cNvSpPr/>
          <p:nvPr/>
        </p:nvSpPr>
        <p:spPr>
          <a:xfrm>
            <a:off x="3840480" y="2103120"/>
            <a:ext cx="1325880" cy="36576"/>
          </a:xfrm>
          <a:prstGeom prst="rect">
            <a:avLst/>
          </a:prstGeom>
          <a:solidFill>
            <a:srgbClr val="02C39A"/>
          </a:solidFill>
          <a:ln w="12700">
            <a:solidFill>
              <a:srgbClr val="02C39A"/>
            </a:solidFill>
            <a:prstDash val="solid"/>
          </a:ln>
        </p:spPr>
      </p:sp>
      <p:sp>
        <p:nvSpPr>
          <p:cNvPr id="20" name="Text 18"/>
          <p:cNvSpPr/>
          <p:nvPr/>
        </p:nvSpPr>
        <p:spPr>
          <a:xfrm>
            <a:off x="3337560" y="2194560"/>
            <a:ext cx="2331720" cy="1627632"/>
          </a:xfrm>
          <a:prstGeom prst="rect">
            <a:avLst/>
          </a:prstGeom>
          <a:noFill/>
          <a:ln/>
        </p:spPr>
        <p:txBody>
          <a:bodyPr wrap="square" lIns="0" tIns="0" rIns="0" bIns="0" rtlCol="0" anchor="t"/>
          <a:lstStyle/>
          <a:p>
            <a:pPr algn="l" indent="0" marL="0">
              <a:buNone/>
            </a:pPr>
            <a:r>
              <a:rPr lang="en-US" sz="1100" dirty="0">
                <a:solidFill>
                  <a:srgbClr val="4A6278"/>
                </a:solidFill>
                <a:latin typeface="Calibri" pitchFamily="34" charset="0"/>
                <a:ea typeface="Calibri" pitchFamily="34" charset="-122"/>
                <a:cs typeface="Calibri" pitchFamily="34" charset="-120"/>
              </a:rPr>
              <a:t>Public databases (MatWeb, Granta MI) are costly, test-condition-poor, and sparse for thermoplastic composites.</a:t>
            </a:r>
            <a:endParaRPr lang="en-US" sz="1100" dirty="0"/>
          </a:p>
        </p:txBody>
      </p:sp>
      <p:sp>
        <p:nvSpPr>
          <p:cNvPr id="21" name="Shape 19"/>
          <p:cNvSpPr/>
          <p:nvPr/>
        </p:nvSpPr>
        <p:spPr>
          <a:xfrm>
            <a:off x="6035040" y="987552"/>
            <a:ext cx="2606040" cy="31089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2" name="Shape 20"/>
          <p:cNvSpPr/>
          <p:nvPr/>
        </p:nvSpPr>
        <p:spPr>
          <a:xfrm>
            <a:off x="6035040" y="987552"/>
            <a:ext cx="45720" cy="3108960"/>
          </a:xfrm>
          <a:prstGeom prst="rect">
            <a:avLst/>
          </a:prstGeom>
          <a:solidFill>
            <a:srgbClr val="065A82"/>
          </a:solidFill>
          <a:ln w="12700">
            <a:solidFill>
              <a:srgbClr val="065A82"/>
            </a:solidFill>
            <a:prstDash val="solid"/>
          </a:ln>
        </p:spPr>
      </p:sp>
      <p:sp>
        <p:nvSpPr>
          <p:cNvPr id="23" name="Shape 21"/>
          <p:cNvSpPr/>
          <p:nvPr/>
        </p:nvSpPr>
        <p:spPr>
          <a:xfrm>
            <a:off x="6766560" y="1115568"/>
            <a:ext cx="1143000" cy="457200"/>
          </a:xfrm>
          <a:prstGeom prst="rect">
            <a:avLst/>
          </a:prstGeom>
          <a:solidFill>
            <a:srgbClr val="065A82"/>
          </a:solidFill>
          <a:ln w="12700">
            <a:solidFill>
              <a:srgbClr val="065A82"/>
            </a:solidFill>
            <a:prstDash val="solid"/>
          </a:ln>
        </p:spPr>
      </p:sp>
      <p:sp>
        <p:nvSpPr>
          <p:cNvPr id="24" name="Text 22"/>
          <p:cNvSpPr/>
          <p:nvPr/>
        </p:nvSpPr>
        <p:spPr>
          <a:xfrm>
            <a:off x="6766560" y="1115568"/>
            <a:ext cx="1143000" cy="45720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GAP</a:t>
            </a:r>
            <a:endParaRPr lang="en-US" sz="1400" dirty="0"/>
          </a:p>
        </p:txBody>
      </p:sp>
      <p:sp>
        <p:nvSpPr>
          <p:cNvPr id="25" name="Text 23"/>
          <p:cNvSpPr/>
          <p:nvPr/>
        </p:nvSpPr>
        <p:spPr>
          <a:xfrm>
            <a:off x="6172200" y="1664208"/>
            <a:ext cx="2331720" cy="384048"/>
          </a:xfrm>
          <a:prstGeom prst="rect">
            <a:avLst/>
          </a:prstGeom>
          <a:noFill/>
          <a:ln/>
        </p:spPr>
        <p:txBody>
          <a:bodyPr wrap="square" lIns="0" tIns="0" rIns="0" bIns="0" rtlCol="0" anchor="ctr"/>
          <a:lstStyle/>
          <a:p>
            <a:pPr algn="ctr" indent="0" marL="0">
              <a:buNone/>
            </a:pPr>
            <a:r>
              <a:rPr lang="en-US" sz="1350" b="1" dirty="0">
                <a:solidFill>
                  <a:srgbClr val="065A82"/>
                </a:solidFill>
                <a:latin typeface="Georgia" pitchFamily="34" charset="0"/>
                <a:ea typeface="Georgia" pitchFamily="34" charset="-122"/>
                <a:cs typeface="Georgia" pitchFamily="34" charset="-120"/>
              </a:rPr>
              <a:t>No Open Standard</a:t>
            </a:r>
            <a:endParaRPr lang="en-US" sz="1350" dirty="0"/>
          </a:p>
        </p:txBody>
      </p:sp>
      <p:sp>
        <p:nvSpPr>
          <p:cNvPr id="26" name="Shape 24"/>
          <p:cNvSpPr/>
          <p:nvPr/>
        </p:nvSpPr>
        <p:spPr>
          <a:xfrm>
            <a:off x="6675120" y="2103120"/>
            <a:ext cx="1325880" cy="36576"/>
          </a:xfrm>
          <a:prstGeom prst="rect">
            <a:avLst/>
          </a:prstGeom>
          <a:solidFill>
            <a:srgbClr val="02C39A"/>
          </a:solidFill>
          <a:ln w="12700">
            <a:solidFill>
              <a:srgbClr val="02C39A"/>
            </a:solidFill>
            <a:prstDash val="solid"/>
          </a:ln>
        </p:spPr>
      </p:sp>
      <p:sp>
        <p:nvSpPr>
          <p:cNvPr id="27" name="Text 25"/>
          <p:cNvSpPr/>
          <p:nvPr/>
        </p:nvSpPr>
        <p:spPr>
          <a:xfrm>
            <a:off x="6172200" y="2194560"/>
            <a:ext cx="2331720" cy="1627632"/>
          </a:xfrm>
          <a:prstGeom prst="rect">
            <a:avLst/>
          </a:prstGeom>
          <a:noFill/>
          <a:ln/>
        </p:spPr>
        <p:txBody>
          <a:bodyPr wrap="square" lIns="0" tIns="0" rIns="0" bIns="0" rtlCol="0" anchor="t"/>
          <a:lstStyle/>
          <a:p>
            <a:pPr algn="l" indent="0" marL="0">
              <a:buNone/>
            </a:pPr>
            <a:r>
              <a:rPr lang="en-US" sz="1100" dirty="0">
                <a:solidFill>
                  <a:srgbClr val="4A6278"/>
                </a:solidFill>
                <a:latin typeface="Calibri" pitchFamily="34" charset="0"/>
                <a:ea typeface="Calibri" pitchFamily="34" charset="-122"/>
                <a:cs typeface="Calibri" pitchFamily="34" charset="-120"/>
              </a:rPr>
              <a:t>No widely accepted open repository for thermoplastic composite mechanical, thermal &amp; processing data exists.</a:t>
            </a:r>
            <a:endParaRPr lang="en-US" sz="1100" dirty="0"/>
          </a:p>
        </p:txBody>
      </p:sp>
      <p:sp>
        <p:nvSpPr>
          <p:cNvPr id="28" name="Shape 26"/>
          <p:cNvSpPr/>
          <p:nvPr/>
        </p:nvSpPr>
        <p:spPr>
          <a:xfrm>
            <a:off x="365760" y="4279392"/>
            <a:ext cx="8412480" cy="585216"/>
          </a:xfrm>
          <a:prstGeom prst="rect">
            <a:avLst/>
          </a:prstGeom>
          <a:solidFill>
            <a:srgbClr val="065A82"/>
          </a:solidFill>
          <a:ln w="12700">
            <a:solidFill>
              <a:srgbClr val="065A82"/>
            </a:solidFill>
            <a:prstDash val="solid"/>
          </a:ln>
        </p:spPr>
      </p:sp>
      <p:sp>
        <p:nvSpPr>
          <p:cNvPr id="29" name="Text 27"/>
          <p:cNvSpPr/>
          <p:nvPr/>
        </p:nvSpPr>
        <p:spPr>
          <a:xfrm>
            <a:off x="502920" y="4279392"/>
            <a:ext cx="8138160" cy="585216"/>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ML models for composites -- forward prediction, inverse design, process-quality -- all bottleneck on training data that does not exist in usable form.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Related Work</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2 / Related Work</a:t>
            </a:r>
            <a:endParaRPr lang="en-US" sz="800" dirty="0"/>
          </a:p>
        </p:txBody>
      </p:sp>
      <p:sp>
        <p:nvSpPr>
          <p:cNvPr id="7" name="Shape 5"/>
          <p:cNvSpPr/>
          <p:nvPr/>
        </p:nvSpPr>
        <p:spPr>
          <a:xfrm>
            <a:off x="365760" y="987552"/>
            <a:ext cx="3931920" cy="352044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Text 6"/>
          <p:cNvSpPr/>
          <p:nvPr/>
        </p:nvSpPr>
        <p:spPr>
          <a:xfrm>
            <a:off x="502920" y="1078992"/>
            <a:ext cx="3611880" cy="347472"/>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Existing Databases</a:t>
            </a:r>
            <a:endParaRPr lang="en-US" sz="1400" dirty="0"/>
          </a:p>
        </p:txBody>
      </p:sp>
      <p:sp>
        <p:nvSpPr>
          <p:cNvPr id="9" name="Text 7"/>
          <p:cNvSpPr/>
          <p:nvPr/>
        </p:nvSpPr>
        <p:spPr>
          <a:xfrm>
            <a:off x="530352" y="1508760"/>
            <a:ext cx="3611880" cy="2651760"/>
          </a:xfrm>
          <a:prstGeom prst="rect">
            <a:avLst/>
          </a:prstGeom>
          <a:noFill/>
          <a:ln/>
        </p:spPr>
        <p:txBody>
          <a:bodyPr wrap="square" lIns="0" tIns="0" rIns="0" bIns="0" rtlCol="0" anchor="t"/>
          <a:lstStyle/>
          <a:p>
            <a:pPr indent="0" marL="0">
              <a:buNone/>
            </a:pPr>
            <a:r>
              <a:rPr lang="en-US" sz="1050" b="1" dirty="0">
                <a:solidFill>
                  <a:srgbClr val="4A6278"/>
                </a:solidFill>
                <a:latin typeface="Calibri" pitchFamily="34" charset="0"/>
                <a:ea typeface="Calibri" pitchFamily="34" charset="-122"/>
                <a:cs typeface="Calibri" pitchFamily="34" charset="-120"/>
              </a:rPr>
              <a:t>MatWeb</a:t>
            </a:r>
            <a:pPr indent="0" marL="0">
              <a:buNone/>
            </a:pPr>
            <a:r>
              <a:rPr lang="en-US" sz="1050" dirty="0">
                <a:solidFill>
                  <a:srgbClr val="4A6278"/>
                </a:solidFill>
                <a:latin typeface="Calibri" pitchFamily="34" charset="0"/>
                <a:ea typeface="Calibri" pitchFamily="34" charset="-122"/>
                <a:cs typeface="Calibri" pitchFamily="34" charset="-120"/>
              </a:rPr>
              <a:t> -- 160k+ materials; paywalled, no test conditions, sparse for thermoplastic composites.</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Granta MI (Ansys)</a:t>
            </a:r>
            <a:pPr indent="0" marL="0">
              <a:buNone/>
            </a:pPr>
            <a:r>
              <a:rPr lang="en-US" sz="1050" dirty="0">
                <a:solidFill>
                  <a:srgbClr val="4A6278"/>
                </a:solidFill>
                <a:latin typeface="Calibri" pitchFamily="34" charset="0"/>
                <a:ea typeface="Calibri" pitchFamily="34" charset="-122"/>
                <a:cs typeface="Calibri" pitchFamily="34" charset="-120"/>
              </a:rPr>
              <a:t> -- Most complete composites data, but enterprise-priced; focused on thermoset prepregs.</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CMH-17</a:t>
            </a:r>
            <a:pPr indent="0" marL="0">
              <a:buNone/>
            </a:pPr>
            <a:r>
              <a:rPr lang="en-US" sz="1050" dirty="0">
                <a:solidFill>
                  <a:srgbClr val="4A6278"/>
                </a:solidFill>
                <a:latin typeface="Calibri" pitchFamily="34" charset="0"/>
                <a:ea typeface="Calibri" pitchFamily="34" charset="-122"/>
                <a:cs typeface="Calibri" pitchFamily="34" charset="-120"/>
              </a:rPr>
              <a:t> -- Authoritative aerospace allowables; not bulk-queryable; thermoplastics underrepresented.</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NIST MDR</a:t>
            </a:r>
            <a:pPr indent="0" marL="0">
              <a:buNone/>
            </a:pPr>
            <a:r>
              <a:rPr lang="en-US" sz="1050" dirty="0">
                <a:solidFill>
                  <a:srgbClr val="4A6278"/>
                </a:solidFill>
                <a:latin typeface="Calibri" pitchFamily="34" charset="0"/>
                <a:ea typeface="Calibri" pitchFamily="34" charset="-122"/>
                <a:cs typeface="Calibri" pitchFamily="34" charset="-120"/>
              </a:rPr>
              <a:t> -- Metals &amp; ceramics focus; no open thermoplastic composite repository exists.</a:t>
            </a:r>
            <a:endParaRPr lang="en-US" sz="1050" dirty="0"/>
          </a:p>
        </p:txBody>
      </p:sp>
      <p:sp>
        <p:nvSpPr>
          <p:cNvPr id="10" name="Shape 8"/>
          <p:cNvSpPr/>
          <p:nvPr/>
        </p:nvSpPr>
        <p:spPr>
          <a:xfrm>
            <a:off x="4572000" y="987552"/>
            <a:ext cx="4206240" cy="352044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1" name="Text 9"/>
          <p:cNvSpPr/>
          <p:nvPr/>
        </p:nvSpPr>
        <p:spPr>
          <a:xfrm>
            <a:off x="4709160" y="1078992"/>
            <a:ext cx="3931920" cy="347472"/>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LLM Extraction Literature</a:t>
            </a:r>
            <a:endParaRPr lang="en-US" sz="1400" dirty="0"/>
          </a:p>
        </p:txBody>
      </p:sp>
      <p:sp>
        <p:nvSpPr>
          <p:cNvPr id="12" name="Text 10"/>
          <p:cNvSpPr/>
          <p:nvPr/>
        </p:nvSpPr>
        <p:spPr>
          <a:xfrm>
            <a:off x="4709160" y="1508760"/>
            <a:ext cx="3931920" cy="2651760"/>
          </a:xfrm>
          <a:prstGeom prst="rect">
            <a:avLst/>
          </a:prstGeom>
          <a:noFill/>
          <a:ln/>
        </p:spPr>
        <p:txBody>
          <a:bodyPr wrap="square" lIns="0" tIns="0" rIns="0" bIns="0" rtlCol="0" anchor="t"/>
          <a:lstStyle/>
          <a:p>
            <a:pPr indent="0" marL="0">
              <a:buNone/>
            </a:pPr>
            <a:r>
              <a:rPr lang="en-US" sz="1050" b="1" dirty="0">
                <a:solidFill>
                  <a:srgbClr val="4A6278"/>
                </a:solidFill>
                <a:latin typeface="Calibri" pitchFamily="34" charset="0"/>
                <a:ea typeface="Calibri" pitchFamily="34" charset="-122"/>
                <a:cs typeface="Calibri" pitchFamily="34" charset="-120"/>
              </a:rPr>
              <a:t>ChemDataExtractor (2016+)</a:t>
            </a:r>
            <a:pPr indent="0" marL="0">
              <a:buNone/>
            </a:pPr>
            <a:r>
              <a:rPr lang="en-US" sz="1050" dirty="0">
                <a:solidFill>
                  <a:srgbClr val="4A6278"/>
                </a:solidFill>
                <a:latin typeface="Calibri" pitchFamily="34" charset="0"/>
                <a:ea typeface="Calibri" pitchFamily="34" charset="-122"/>
                <a:cs typeface="Calibri" pitchFamily="34" charset="-120"/>
              </a:rPr>
              <a:t> -- NLP pipeline: 93% F-score on identifiers; used to extract 720k stress-strain records.</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PropertyExtractor (Gupta 2024)</a:t>
            </a:r>
            <a:pPr indent="0" marL="0">
              <a:buNone/>
            </a:pPr>
            <a:r>
              <a:rPr lang="en-US" sz="1050" dirty="0">
                <a:solidFill>
                  <a:srgbClr val="4A6278"/>
                </a:solidFill>
                <a:latin typeface="Calibri" pitchFamily="34" charset="0"/>
                <a:ea typeface="Calibri" pitchFamily="34" charset="-122"/>
                <a:cs typeface="Calibri" pitchFamily="34" charset="-120"/>
              </a:rPr>
              <a:t> -- Zero/few-shot with Gemini-Pro &amp; GPT-4; dynamic extraction hierarchy refinement.</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Liang et al. (2024)</a:t>
            </a:r>
            <a:pPr indent="0" marL="0">
              <a:buNone/>
            </a:pPr>
            <a:r>
              <a:rPr lang="en-US" sz="1050" dirty="0">
                <a:solidFill>
                  <a:srgbClr val="4A6278"/>
                </a:solidFill>
                <a:latin typeface="Calibri" pitchFamily="34" charset="0"/>
                <a:ea typeface="Calibri" pitchFamily="34" charset="-122"/>
                <a:cs typeface="Calibri" pitchFamily="34" charset="-120"/>
              </a:rPr>
              <a:t> -- GPT-4 achieves F1 approx 0.91 on thermoelectric extraction; Gemini shows uneven quality on categoricals.</a:t>
            </a:r>
            <a:endParaRPr lang="en-US" sz="1050" dirty="0"/>
          </a:p>
          <a:p>
            <a:pPr indent="0" marL="0">
              <a:buNone/>
            </a:pPr>
            <a:r>
              <a:rPr lang="en-US" sz="1050" dirty="0">
                <a:solidFill>
                  <a:srgbClr val="4A6278"/>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4A6278"/>
                </a:solidFill>
                <a:latin typeface="Calibri" pitchFamily="34" charset="0"/>
                <a:ea typeface="Calibri" pitchFamily="34" charset="-122"/>
                <a:cs typeface="Calibri" pitchFamily="34" charset="-120"/>
              </a:rPr>
              <a:t>Structured-output prompting</a:t>
            </a:r>
            <a:pPr indent="0" marL="0">
              <a:buNone/>
            </a:pPr>
            <a:r>
              <a:rPr lang="en-US" sz="1050" dirty="0">
                <a:solidFill>
                  <a:srgbClr val="4A6278"/>
                </a:solidFill>
                <a:latin typeface="Calibri" pitchFamily="34" charset="0"/>
                <a:ea typeface="Calibri" pitchFamily="34" charset="-122"/>
                <a:cs typeface="Calibri" pitchFamily="34" charset="-120"/>
              </a:rPr>
              <a:t> significantly reduces hallucination vs. free-text generation -- the design choice we adopted.</a:t>
            </a:r>
            <a:endParaRPr lang="en-US" sz="1050" dirty="0"/>
          </a:p>
        </p:txBody>
      </p:sp>
      <p:sp>
        <p:nvSpPr>
          <p:cNvPr id="13" name="Shape 11"/>
          <p:cNvSpPr/>
          <p:nvPr/>
        </p:nvSpPr>
        <p:spPr>
          <a:xfrm>
            <a:off x="365760" y="4279392"/>
            <a:ext cx="8412480" cy="566928"/>
          </a:xfrm>
          <a:prstGeom prst="rect">
            <a:avLst/>
          </a:prstGeom>
          <a:solidFill>
            <a:srgbClr val="02C39A"/>
          </a:solidFill>
          <a:ln w="12700">
            <a:solidFill>
              <a:srgbClr val="02C39A"/>
            </a:solidFill>
            <a:prstDash val="solid"/>
          </a:ln>
        </p:spPr>
      </p:sp>
      <p:sp>
        <p:nvSpPr>
          <p:cNvPr id="14" name="Text 12"/>
          <p:cNvSpPr/>
          <p:nvPr/>
        </p:nvSpPr>
        <p:spPr>
          <a:xfrm>
            <a:off x="502920" y="4279392"/>
            <a:ext cx="8138160" cy="566928"/>
          </a:xfrm>
          <a:prstGeom prst="rect">
            <a:avLst/>
          </a:prstGeom>
          <a:noFill/>
          <a:ln/>
        </p:spPr>
        <p:txBody>
          <a:bodyPr wrap="square" lIns="0" tIns="0" rIns="0" bIns="0" rtlCol="0" anchor="ctr"/>
          <a:lstStyle/>
          <a:p>
            <a:pPr indent="0" marL="0">
              <a:buNone/>
            </a:pPr>
            <a:r>
              <a:rPr lang="en-US" sz="1200" b="1" dirty="0">
                <a:solidFill>
                  <a:srgbClr val="021B2E"/>
                </a:solidFill>
                <a:latin typeface="Calibri" pitchFamily="34" charset="0"/>
                <a:ea typeface="Calibri" pitchFamily="34" charset="-122"/>
                <a:cs typeface="Calibri" pitchFamily="34" charset="-120"/>
              </a:rPr>
              <a:t>Gap: No open, FAIR-compliant, queryable database for thermoplastic composite experimental data.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What We Built -- System at a Glance</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3 / Architecture</a:t>
            </a:r>
            <a:endParaRPr lang="en-US" sz="800" dirty="0"/>
          </a:p>
        </p:txBody>
      </p:sp>
      <p:sp>
        <p:nvSpPr>
          <p:cNvPr id="7" name="Shape 5"/>
          <p:cNvSpPr/>
          <p:nvPr/>
        </p:nvSpPr>
        <p:spPr>
          <a:xfrm>
            <a:off x="365760" y="987552"/>
            <a:ext cx="1920240" cy="32004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1920240" cy="457200"/>
          </a:xfrm>
          <a:prstGeom prst="rect">
            <a:avLst/>
          </a:prstGeom>
          <a:solidFill>
            <a:srgbClr val="065A82"/>
          </a:solidFill>
          <a:ln w="12700">
            <a:solidFill>
              <a:srgbClr val="065A82"/>
            </a:solidFill>
            <a:prstDash val="solid"/>
          </a:ln>
        </p:spPr>
      </p:sp>
      <p:sp>
        <p:nvSpPr>
          <p:cNvPr id="9" name="Text 7"/>
          <p:cNvSpPr/>
          <p:nvPr/>
        </p:nvSpPr>
        <p:spPr>
          <a:xfrm>
            <a:off x="365760" y="987552"/>
            <a:ext cx="192024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STORAGE</a:t>
            </a:r>
            <a:endParaRPr lang="en-US" sz="900" dirty="0"/>
          </a:p>
        </p:txBody>
      </p:sp>
      <p:sp>
        <p:nvSpPr>
          <p:cNvPr id="10" name="Shape 8"/>
          <p:cNvSpPr/>
          <p:nvPr/>
        </p:nvSpPr>
        <p:spPr>
          <a:xfrm>
            <a:off x="868680" y="1536192"/>
            <a:ext cx="914400" cy="365760"/>
          </a:xfrm>
          <a:prstGeom prst="rect">
            <a:avLst/>
          </a:prstGeom>
          <a:solidFill>
            <a:srgbClr val="065A82"/>
          </a:solidFill>
          <a:ln w="12700">
            <a:solidFill>
              <a:srgbClr val="065A82"/>
            </a:solidFill>
            <a:prstDash val="solid"/>
          </a:ln>
        </p:spPr>
      </p:sp>
      <p:sp>
        <p:nvSpPr>
          <p:cNvPr id="11" name="Text 9"/>
          <p:cNvSpPr/>
          <p:nvPr/>
        </p:nvSpPr>
        <p:spPr>
          <a:xfrm>
            <a:off x="868680" y="1536192"/>
            <a:ext cx="914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DB</a:t>
            </a:r>
            <a:endParaRPr lang="en-US" sz="1500" dirty="0"/>
          </a:p>
        </p:txBody>
      </p:sp>
      <p:sp>
        <p:nvSpPr>
          <p:cNvPr id="12" name="Text 10"/>
          <p:cNvSpPr/>
          <p:nvPr/>
        </p:nvSpPr>
        <p:spPr>
          <a:xfrm>
            <a:off x="457200" y="1993392"/>
            <a:ext cx="1737360" cy="347472"/>
          </a:xfrm>
          <a:prstGeom prst="rect">
            <a:avLst/>
          </a:prstGeom>
          <a:noFill/>
          <a:ln/>
        </p:spPr>
        <p:txBody>
          <a:bodyPr wrap="square" lIns="0" tIns="0" rIns="0" bIns="0" rtlCol="0" anchor="ctr"/>
          <a:lstStyle/>
          <a:p>
            <a:pPr algn="ctr" indent="0" marL="0">
              <a:buNone/>
            </a:pPr>
            <a:r>
              <a:rPr lang="en-US" sz="1250" b="1" dirty="0">
                <a:solidFill>
                  <a:srgbClr val="1A2E3B"/>
                </a:solidFill>
                <a:latin typeface="Georgia" pitchFamily="34" charset="0"/>
                <a:ea typeface="Georgia" pitchFamily="34" charset="-122"/>
                <a:cs typeface="Georgia" pitchFamily="34" charset="-120"/>
              </a:rPr>
              <a:t>PostgreSQL</a:t>
            </a:r>
            <a:endParaRPr lang="en-US" sz="1250" dirty="0"/>
          </a:p>
        </p:txBody>
      </p:sp>
      <p:sp>
        <p:nvSpPr>
          <p:cNvPr id="13" name="Text 11"/>
          <p:cNvSpPr/>
          <p:nvPr/>
        </p:nvSpPr>
        <p:spPr>
          <a:xfrm>
            <a:off x="457200" y="2377440"/>
            <a:ext cx="1737360" cy="1371600"/>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3 EAV tables</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Polymers | Fibers</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Composites</a:t>
            </a:r>
            <a:endParaRPr lang="en-US" sz="1000" dirty="0"/>
          </a:p>
        </p:txBody>
      </p:sp>
      <p:sp>
        <p:nvSpPr>
          <p:cNvPr id="14" name="Text 12"/>
          <p:cNvSpPr/>
          <p:nvPr/>
        </p:nvSpPr>
        <p:spPr>
          <a:xfrm>
            <a:off x="2304288" y="2304288"/>
            <a:ext cx="210312" cy="347472"/>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-&gt;</a:t>
            </a:r>
            <a:endParaRPr lang="en-US" sz="1800" dirty="0"/>
          </a:p>
        </p:txBody>
      </p:sp>
      <p:sp>
        <p:nvSpPr>
          <p:cNvPr id="15" name="Shape 13"/>
          <p:cNvSpPr/>
          <p:nvPr/>
        </p:nvSpPr>
        <p:spPr>
          <a:xfrm>
            <a:off x="2514600" y="987552"/>
            <a:ext cx="1920240" cy="32004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2514600" y="987552"/>
            <a:ext cx="1920240" cy="457200"/>
          </a:xfrm>
          <a:prstGeom prst="rect">
            <a:avLst/>
          </a:prstGeom>
          <a:solidFill>
            <a:srgbClr val="1C7293"/>
          </a:solidFill>
          <a:ln w="12700">
            <a:solidFill>
              <a:srgbClr val="1C7293"/>
            </a:solidFill>
            <a:prstDash val="solid"/>
          </a:ln>
        </p:spPr>
      </p:sp>
      <p:sp>
        <p:nvSpPr>
          <p:cNvPr id="17" name="Text 15"/>
          <p:cNvSpPr/>
          <p:nvPr/>
        </p:nvSpPr>
        <p:spPr>
          <a:xfrm>
            <a:off x="2514600" y="987552"/>
            <a:ext cx="192024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APPLICATION</a:t>
            </a:r>
            <a:endParaRPr lang="en-US" sz="900" dirty="0"/>
          </a:p>
        </p:txBody>
      </p:sp>
      <p:sp>
        <p:nvSpPr>
          <p:cNvPr id="18" name="Shape 16"/>
          <p:cNvSpPr/>
          <p:nvPr/>
        </p:nvSpPr>
        <p:spPr>
          <a:xfrm>
            <a:off x="3017520" y="1536192"/>
            <a:ext cx="914400" cy="365760"/>
          </a:xfrm>
          <a:prstGeom prst="rect">
            <a:avLst/>
          </a:prstGeom>
          <a:solidFill>
            <a:srgbClr val="1C7293"/>
          </a:solidFill>
          <a:ln w="12700">
            <a:solidFill>
              <a:srgbClr val="1C7293"/>
            </a:solidFill>
            <a:prstDash val="solid"/>
          </a:ln>
        </p:spPr>
      </p:sp>
      <p:sp>
        <p:nvSpPr>
          <p:cNvPr id="19" name="Text 17"/>
          <p:cNvSpPr/>
          <p:nvPr/>
        </p:nvSpPr>
        <p:spPr>
          <a:xfrm>
            <a:off x="3017520" y="1536192"/>
            <a:ext cx="914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APP</a:t>
            </a:r>
            <a:endParaRPr lang="en-US" sz="1500" dirty="0"/>
          </a:p>
        </p:txBody>
      </p:sp>
      <p:sp>
        <p:nvSpPr>
          <p:cNvPr id="20" name="Text 18"/>
          <p:cNvSpPr/>
          <p:nvPr/>
        </p:nvSpPr>
        <p:spPr>
          <a:xfrm>
            <a:off x="2606040" y="1993392"/>
            <a:ext cx="1737360" cy="347472"/>
          </a:xfrm>
          <a:prstGeom prst="rect">
            <a:avLst/>
          </a:prstGeom>
          <a:noFill/>
          <a:ln/>
        </p:spPr>
        <p:txBody>
          <a:bodyPr wrap="square" lIns="0" tIns="0" rIns="0" bIns="0" rtlCol="0" anchor="ctr"/>
          <a:lstStyle/>
          <a:p>
            <a:pPr algn="ctr" indent="0" marL="0">
              <a:buNone/>
            </a:pPr>
            <a:r>
              <a:rPr lang="en-US" sz="1250" b="1" dirty="0">
                <a:solidFill>
                  <a:srgbClr val="1A2E3B"/>
                </a:solidFill>
                <a:latin typeface="Georgia" pitchFamily="34" charset="0"/>
                <a:ea typeface="Georgia" pitchFamily="34" charset="-122"/>
                <a:cs typeface="Georgia" pitchFamily="34" charset="-120"/>
              </a:rPr>
              <a:t>Streamlit</a:t>
            </a:r>
            <a:endParaRPr lang="en-US" sz="1250" dirty="0"/>
          </a:p>
        </p:txBody>
      </p:sp>
      <p:sp>
        <p:nvSpPr>
          <p:cNvPr id="21" name="Text 19"/>
          <p:cNvSpPr/>
          <p:nvPr/>
        </p:nvSpPr>
        <p:spPr>
          <a:xfrm>
            <a:off x="2606040" y="2377440"/>
            <a:ext cx="1737360" cy="1371600"/>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Home | Search</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Upload | Contact</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SQLAlchemy layer</a:t>
            </a:r>
            <a:endParaRPr lang="en-US" sz="1000" dirty="0"/>
          </a:p>
        </p:txBody>
      </p:sp>
      <p:sp>
        <p:nvSpPr>
          <p:cNvPr id="22" name="Text 20"/>
          <p:cNvSpPr/>
          <p:nvPr/>
        </p:nvSpPr>
        <p:spPr>
          <a:xfrm>
            <a:off x="4453128" y="2304288"/>
            <a:ext cx="210312" cy="347472"/>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-&gt;</a:t>
            </a:r>
            <a:endParaRPr lang="en-US" sz="1800" dirty="0"/>
          </a:p>
        </p:txBody>
      </p:sp>
      <p:sp>
        <p:nvSpPr>
          <p:cNvPr id="23" name="Shape 21"/>
          <p:cNvSpPr/>
          <p:nvPr/>
        </p:nvSpPr>
        <p:spPr>
          <a:xfrm>
            <a:off x="4663440" y="987552"/>
            <a:ext cx="1920240" cy="32004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4" name="Shape 22"/>
          <p:cNvSpPr/>
          <p:nvPr/>
        </p:nvSpPr>
        <p:spPr>
          <a:xfrm>
            <a:off x="4663440" y="987552"/>
            <a:ext cx="1920240" cy="457200"/>
          </a:xfrm>
          <a:prstGeom prst="rect">
            <a:avLst/>
          </a:prstGeom>
          <a:solidFill>
            <a:srgbClr val="028090"/>
          </a:solidFill>
          <a:ln w="12700">
            <a:solidFill>
              <a:srgbClr val="028090"/>
            </a:solidFill>
            <a:prstDash val="solid"/>
          </a:ln>
        </p:spPr>
      </p:sp>
      <p:sp>
        <p:nvSpPr>
          <p:cNvPr id="25" name="Text 23"/>
          <p:cNvSpPr/>
          <p:nvPr/>
        </p:nvSpPr>
        <p:spPr>
          <a:xfrm>
            <a:off x="4663440" y="987552"/>
            <a:ext cx="192024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AI PIPELINE</a:t>
            </a:r>
            <a:endParaRPr lang="en-US" sz="900" dirty="0"/>
          </a:p>
        </p:txBody>
      </p:sp>
      <p:sp>
        <p:nvSpPr>
          <p:cNvPr id="26" name="Shape 24"/>
          <p:cNvSpPr/>
          <p:nvPr/>
        </p:nvSpPr>
        <p:spPr>
          <a:xfrm>
            <a:off x="5166360" y="1536192"/>
            <a:ext cx="914400" cy="365760"/>
          </a:xfrm>
          <a:prstGeom prst="rect">
            <a:avLst/>
          </a:prstGeom>
          <a:solidFill>
            <a:srgbClr val="028090"/>
          </a:solidFill>
          <a:ln w="12700">
            <a:solidFill>
              <a:srgbClr val="028090"/>
            </a:solidFill>
            <a:prstDash val="solid"/>
          </a:ln>
        </p:spPr>
      </p:sp>
      <p:sp>
        <p:nvSpPr>
          <p:cNvPr id="27" name="Text 25"/>
          <p:cNvSpPr/>
          <p:nvPr/>
        </p:nvSpPr>
        <p:spPr>
          <a:xfrm>
            <a:off x="5166360" y="1536192"/>
            <a:ext cx="914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a:t>
            </a:r>
            <a:endParaRPr lang="en-US" sz="1500" dirty="0"/>
          </a:p>
        </p:txBody>
      </p:sp>
      <p:sp>
        <p:nvSpPr>
          <p:cNvPr id="28" name="Text 26"/>
          <p:cNvSpPr/>
          <p:nvPr/>
        </p:nvSpPr>
        <p:spPr>
          <a:xfrm>
            <a:off x="4754880" y="1993392"/>
            <a:ext cx="1737360" cy="347472"/>
          </a:xfrm>
          <a:prstGeom prst="rect">
            <a:avLst/>
          </a:prstGeom>
          <a:noFill/>
          <a:ln/>
        </p:spPr>
        <p:txBody>
          <a:bodyPr wrap="square" lIns="0" tIns="0" rIns="0" bIns="0" rtlCol="0" anchor="ctr"/>
          <a:lstStyle/>
          <a:p>
            <a:pPr algn="ctr" indent="0" marL="0">
              <a:buNone/>
            </a:pPr>
            <a:r>
              <a:rPr lang="en-US" sz="1250" b="1" dirty="0">
                <a:solidFill>
                  <a:srgbClr val="1A2E3B"/>
                </a:solidFill>
                <a:latin typeface="Georgia" pitchFamily="34" charset="0"/>
                <a:ea typeface="Georgia" pitchFamily="34" charset="-122"/>
                <a:cs typeface="Georgia" pitchFamily="34" charset="-120"/>
              </a:rPr>
              <a:t>Gemini 2.5 Flash</a:t>
            </a:r>
            <a:endParaRPr lang="en-US" sz="1250" dirty="0"/>
          </a:p>
        </p:txBody>
      </p:sp>
      <p:sp>
        <p:nvSpPr>
          <p:cNvPr id="29" name="Text 27"/>
          <p:cNvSpPr/>
          <p:nvPr/>
        </p:nvSpPr>
        <p:spPr>
          <a:xfrm>
            <a:off x="4754880" y="2377440"/>
            <a:ext cx="1737360" cy="1371600"/>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PDF to JSON</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Schema-typed output</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Temp = 0, structured</a:t>
            </a:r>
            <a:endParaRPr lang="en-US" sz="1000" dirty="0"/>
          </a:p>
        </p:txBody>
      </p:sp>
      <p:sp>
        <p:nvSpPr>
          <p:cNvPr id="30" name="Text 28"/>
          <p:cNvSpPr/>
          <p:nvPr/>
        </p:nvSpPr>
        <p:spPr>
          <a:xfrm>
            <a:off x="6601968" y="2304288"/>
            <a:ext cx="210312" cy="347472"/>
          </a:xfrm>
          <a:prstGeom prst="rect">
            <a:avLst/>
          </a:prstGeom>
          <a:noFill/>
          <a:ln/>
        </p:spPr>
        <p:txBody>
          <a:bodyPr wrap="square" lIns="0" tIns="0" rIns="0" bIns="0"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-&gt;</a:t>
            </a:r>
            <a:endParaRPr lang="en-US" sz="1800" dirty="0"/>
          </a:p>
        </p:txBody>
      </p:sp>
      <p:sp>
        <p:nvSpPr>
          <p:cNvPr id="31" name="Shape 29"/>
          <p:cNvSpPr/>
          <p:nvPr/>
        </p:nvSpPr>
        <p:spPr>
          <a:xfrm>
            <a:off x="6812280" y="987552"/>
            <a:ext cx="1920240" cy="32004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2" name="Shape 30"/>
          <p:cNvSpPr/>
          <p:nvPr/>
        </p:nvSpPr>
        <p:spPr>
          <a:xfrm>
            <a:off x="6812280" y="987552"/>
            <a:ext cx="1920240" cy="457200"/>
          </a:xfrm>
          <a:prstGeom prst="rect">
            <a:avLst/>
          </a:prstGeom>
          <a:solidFill>
            <a:srgbClr val="02C39A"/>
          </a:solidFill>
          <a:ln w="12700">
            <a:solidFill>
              <a:srgbClr val="02C39A"/>
            </a:solidFill>
            <a:prstDash val="solid"/>
          </a:ln>
        </p:spPr>
      </p:sp>
      <p:sp>
        <p:nvSpPr>
          <p:cNvPr id="33" name="Text 31"/>
          <p:cNvSpPr/>
          <p:nvPr/>
        </p:nvSpPr>
        <p:spPr>
          <a:xfrm>
            <a:off x="6812280" y="987552"/>
            <a:ext cx="192024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DEPLOYMENT</a:t>
            </a:r>
            <a:endParaRPr lang="en-US" sz="900" dirty="0"/>
          </a:p>
        </p:txBody>
      </p:sp>
      <p:sp>
        <p:nvSpPr>
          <p:cNvPr id="34" name="Shape 32"/>
          <p:cNvSpPr/>
          <p:nvPr/>
        </p:nvSpPr>
        <p:spPr>
          <a:xfrm>
            <a:off x="7315200" y="1536192"/>
            <a:ext cx="914400" cy="365760"/>
          </a:xfrm>
          <a:prstGeom prst="rect">
            <a:avLst/>
          </a:prstGeom>
          <a:solidFill>
            <a:srgbClr val="02C39A"/>
          </a:solidFill>
          <a:ln w="12700">
            <a:solidFill>
              <a:srgbClr val="02C39A"/>
            </a:solidFill>
            <a:prstDash val="solid"/>
          </a:ln>
        </p:spPr>
      </p:sp>
      <p:sp>
        <p:nvSpPr>
          <p:cNvPr id="35" name="Text 33"/>
          <p:cNvSpPr/>
          <p:nvPr/>
        </p:nvSpPr>
        <p:spPr>
          <a:xfrm>
            <a:off x="7315200" y="1536192"/>
            <a:ext cx="914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HF</a:t>
            </a:r>
            <a:endParaRPr lang="en-US" sz="1500" dirty="0"/>
          </a:p>
        </p:txBody>
      </p:sp>
      <p:sp>
        <p:nvSpPr>
          <p:cNvPr id="36" name="Text 34"/>
          <p:cNvSpPr/>
          <p:nvPr/>
        </p:nvSpPr>
        <p:spPr>
          <a:xfrm>
            <a:off x="6903720" y="1993392"/>
            <a:ext cx="1737360" cy="347472"/>
          </a:xfrm>
          <a:prstGeom prst="rect">
            <a:avLst/>
          </a:prstGeom>
          <a:noFill/>
          <a:ln/>
        </p:spPr>
        <p:txBody>
          <a:bodyPr wrap="square" lIns="0" tIns="0" rIns="0" bIns="0" rtlCol="0" anchor="ctr"/>
          <a:lstStyle/>
          <a:p>
            <a:pPr algn="ctr" indent="0" marL="0">
              <a:buNone/>
            </a:pPr>
            <a:r>
              <a:rPr lang="en-US" sz="1250" b="1" dirty="0">
                <a:solidFill>
                  <a:srgbClr val="1A2E3B"/>
                </a:solidFill>
                <a:latin typeface="Georgia" pitchFamily="34" charset="0"/>
                <a:ea typeface="Georgia" pitchFamily="34" charset="-122"/>
                <a:cs typeface="Georgia" pitchFamily="34" charset="-120"/>
              </a:rPr>
              <a:t>Hugging Face Spaces</a:t>
            </a:r>
            <a:endParaRPr lang="en-US" sz="1250" dirty="0"/>
          </a:p>
        </p:txBody>
      </p:sp>
      <p:sp>
        <p:nvSpPr>
          <p:cNvPr id="37" name="Text 35"/>
          <p:cNvSpPr/>
          <p:nvPr/>
        </p:nvSpPr>
        <p:spPr>
          <a:xfrm>
            <a:off x="6903720" y="2377440"/>
            <a:ext cx="1737360" cy="1371600"/>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Docker container</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python:3.11-slim</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Public &amp; open-source</a:t>
            </a:r>
            <a:endParaRPr lang="en-US" sz="1000" dirty="0"/>
          </a:p>
        </p:txBody>
      </p:sp>
      <p:sp>
        <p:nvSpPr>
          <p:cNvPr id="38" name="Shape 36"/>
          <p:cNvSpPr/>
          <p:nvPr/>
        </p:nvSpPr>
        <p:spPr>
          <a:xfrm>
            <a:off x="365760" y="4315968"/>
            <a:ext cx="8412480" cy="548640"/>
          </a:xfrm>
          <a:prstGeom prst="rect">
            <a:avLst/>
          </a:prstGeom>
          <a:solidFill>
            <a:srgbClr val="065A82"/>
          </a:solidFill>
          <a:ln w="12700">
            <a:solidFill>
              <a:srgbClr val="065A82"/>
            </a:solidFill>
            <a:prstDash val="solid"/>
          </a:ln>
        </p:spPr>
      </p:sp>
      <p:sp>
        <p:nvSpPr>
          <p:cNvPr id="39" name="Text 37"/>
          <p:cNvSpPr/>
          <p:nvPr/>
        </p:nvSpPr>
        <p:spPr>
          <a:xfrm>
            <a:off x="457200" y="4315968"/>
            <a:ext cx="2011680" cy="54864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Public on HF Spaces</a:t>
            </a:r>
            <a:endParaRPr lang="en-US" sz="1000" dirty="0"/>
          </a:p>
        </p:txBody>
      </p:sp>
      <p:sp>
        <p:nvSpPr>
          <p:cNvPr id="40" name="Text 38"/>
          <p:cNvSpPr/>
          <p:nvPr/>
        </p:nvSpPr>
        <p:spPr>
          <a:xfrm>
            <a:off x="2377440" y="4315968"/>
            <a:ext cx="182880" cy="548640"/>
          </a:xfrm>
          <a:prstGeom prst="rect">
            <a:avLst/>
          </a:prstGeom>
          <a:noFill/>
          <a:ln/>
        </p:spPr>
        <p:txBody>
          <a:bodyPr wrap="square" lIns="0" tIns="0" rIns="0" bIns="0" rtlCol="0" anchor="ctr"/>
          <a:lstStyle/>
          <a:p>
            <a:pPr algn="ctr" indent="0" marL="0">
              <a:buNone/>
            </a:pPr>
            <a:r>
              <a:rPr lang="en-US" sz="1400" dirty="0">
                <a:solidFill>
                  <a:srgbClr val="1C7293"/>
                </a:solidFill>
                <a:latin typeface="Calibri" pitchFamily="34" charset="0"/>
                <a:ea typeface="Calibri" pitchFamily="34" charset="-122"/>
                <a:cs typeface="Calibri" pitchFamily="34" charset="-120"/>
              </a:rPr>
              <a:t>|</a:t>
            </a:r>
            <a:endParaRPr lang="en-US" sz="1400" dirty="0"/>
          </a:p>
        </p:txBody>
      </p:sp>
      <p:sp>
        <p:nvSpPr>
          <p:cNvPr id="41" name="Text 39"/>
          <p:cNvSpPr/>
          <p:nvPr/>
        </p:nvSpPr>
        <p:spPr>
          <a:xfrm>
            <a:off x="2560320" y="4315968"/>
            <a:ext cx="2011680" cy="54864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289 property rows loaded</a:t>
            </a:r>
            <a:endParaRPr lang="en-US" sz="1000" dirty="0"/>
          </a:p>
        </p:txBody>
      </p:sp>
      <p:sp>
        <p:nvSpPr>
          <p:cNvPr id="42" name="Text 40"/>
          <p:cNvSpPr/>
          <p:nvPr/>
        </p:nvSpPr>
        <p:spPr>
          <a:xfrm>
            <a:off x="4480560" y="4315968"/>
            <a:ext cx="182880" cy="548640"/>
          </a:xfrm>
          <a:prstGeom prst="rect">
            <a:avLst/>
          </a:prstGeom>
          <a:noFill/>
          <a:ln/>
        </p:spPr>
        <p:txBody>
          <a:bodyPr wrap="square" lIns="0" tIns="0" rIns="0" bIns="0" rtlCol="0" anchor="ctr"/>
          <a:lstStyle/>
          <a:p>
            <a:pPr algn="ctr" indent="0" marL="0">
              <a:buNone/>
            </a:pPr>
            <a:r>
              <a:rPr lang="en-US" sz="1400" dirty="0">
                <a:solidFill>
                  <a:srgbClr val="1C7293"/>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4663440" y="4315968"/>
            <a:ext cx="2011680" cy="54864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4 polymer materials</a:t>
            </a:r>
            <a:endParaRPr lang="en-US" sz="1000" dirty="0"/>
          </a:p>
        </p:txBody>
      </p:sp>
      <p:sp>
        <p:nvSpPr>
          <p:cNvPr id="44" name="Text 42"/>
          <p:cNvSpPr/>
          <p:nvPr/>
        </p:nvSpPr>
        <p:spPr>
          <a:xfrm>
            <a:off x="6583680" y="4315968"/>
            <a:ext cx="182880" cy="548640"/>
          </a:xfrm>
          <a:prstGeom prst="rect">
            <a:avLst/>
          </a:prstGeom>
          <a:noFill/>
          <a:ln/>
        </p:spPr>
        <p:txBody>
          <a:bodyPr wrap="square" lIns="0" tIns="0" rIns="0" bIns="0" rtlCol="0" anchor="ctr"/>
          <a:lstStyle/>
          <a:p>
            <a:pPr algn="ctr" indent="0" marL="0">
              <a:buNone/>
            </a:pPr>
            <a:r>
              <a:rPr lang="en-US" sz="1400" dirty="0">
                <a:solidFill>
                  <a:srgbClr val="1C7293"/>
                </a:solidFill>
                <a:latin typeface="Calibri" pitchFamily="34" charset="0"/>
                <a:ea typeface="Calibri" pitchFamily="34" charset="-122"/>
                <a:cs typeface="Calibri" pitchFamily="34" charset="-120"/>
              </a:rPr>
              <a:t>|</a:t>
            </a:r>
            <a:endParaRPr lang="en-US" sz="1400" dirty="0"/>
          </a:p>
        </p:txBody>
      </p:sp>
      <p:sp>
        <p:nvSpPr>
          <p:cNvPr id="45" name="Text 43"/>
          <p:cNvSpPr/>
          <p:nvPr/>
        </p:nvSpPr>
        <p:spPr>
          <a:xfrm>
            <a:off x="6766560" y="4315968"/>
            <a:ext cx="2011680" cy="54864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Open-source repo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Database Design -- EAV Schema</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3 / Architecture</a:t>
            </a:r>
            <a:endParaRPr lang="en-US" sz="800" dirty="0"/>
          </a:p>
        </p:txBody>
      </p:sp>
      <p:sp>
        <p:nvSpPr>
          <p:cNvPr id="7" name="Shape 5"/>
          <p:cNvSpPr/>
          <p:nvPr/>
        </p:nvSpPr>
        <p:spPr>
          <a:xfrm>
            <a:off x="365760" y="960120"/>
            <a:ext cx="4114800" cy="35661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60120"/>
            <a:ext cx="45720" cy="3566160"/>
          </a:xfrm>
          <a:prstGeom prst="rect">
            <a:avLst/>
          </a:prstGeom>
          <a:solidFill>
            <a:srgbClr val="065A82"/>
          </a:solidFill>
          <a:ln w="12700">
            <a:solidFill>
              <a:srgbClr val="065A82"/>
            </a:solidFill>
            <a:prstDash val="solid"/>
          </a:ln>
        </p:spPr>
      </p:sp>
      <p:sp>
        <p:nvSpPr>
          <p:cNvPr id="9" name="Shape 7"/>
          <p:cNvSpPr/>
          <p:nvPr/>
        </p:nvSpPr>
        <p:spPr>
          <a:xfrm>
            <a:off x="502920" y="1024128"/>
            <a:ext cx="3840480" cy="292608"/>
          </a:xfrm>
          <a:prstGeom prst="rect">
            <a:avLst/>
          </a:prstGeom>
          <a:solidFill>
            <a:srgbClr val="065A82"/>
          </a:solidFill>
          <a:ln w="12700">
            <a:solidFill>
              <a:srgbClr val="065A82"/>
            </a:solidFill>
            <a:prstDash val="solid"/>
          </a:ln>
        </p:spPr>
      </p:sp>
      <p:sp>
        <p:nvSpPr>
          <p:cNvPr id="10" name="Text 8"/>
          <p:cNvSpPr/>
          <p:nvPr/>
        </p:nvSpPr>
        <p:spPr>
          <a:xfrm>
            <a:off x="548640" y="1024128"/>
            <a:ext cx="155448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Column</a:t>
            </a:r>
            <a:endParaRPr lang="en-US" sz="1000" dirty="0"/>
          </a:p>
        </p:txBody>
      </p:sp>
      <p:sp>
        <p:nvSpPr>
          <p:cNvPr id="11" name="Text 9"/>
          <p:cNvSpPr/>
          <p:nvPr/>
        </p:nvSpPr>
        <p:spPr>
          <a:xfrm>
            <a:off x="2148840" y="1024128"/>
            <a:ext cx="224028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12" name="Shape 10"/>
          <p:cNvSpPr/>
          <p:nvPr/>
        </p:nvSpPr>
        <p:spPr>
          <a:xfrm>
            <a:off x="502920" y="1353312"/>
            <a:ext cx="3840480" cy="310896"/>
          </a:xfrm>
          <a:prstGeom prst="rect">
            <a:avLst/>
          </a:prstGeom>
          <a:solidFill>
            <a:srgbClr val="F0F7FC"/>
          </a:solidFill>
          <a:ln w="12700">
            <a:solidFill>
              <a:srgbClr val="F0F7FC"/>
            </a:solidFill>
            <a:prstDash val="solid"/>
          </a:ln>
        </p:spPr>
      </p:sp>
      <p:sp>
        <p:nvSpPr>
          <p:cNvPr id="13" name="Text 11"/>
          <p:cNvSpPr/>
          <p:nvPr/>
        </p:nvSpPr>
        <p:spPr>
          <a:xfrm>
            <a:off x="548640" y="1353312"/>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material_name</a:t>
            </a:r>
            <a:endParaRPr lang="en-US" sz="900" dirty="0"/>
          </a:p>
        </p:txBody>
      </p:sp>
      <p:sp>
        <p:nvSpPr>
          <p:cNvPr id="14" name="Text 12"/>
          <p:cNvSpPr/>
          <p:nvPr/>
        </p:nvSpPr>
        <p:spPr>
          <a:xfrm>
            <a:off x="2148840" y="1353312"/>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Generic material name</a:t>
            </a:r>
            <a:endParaRPr lang="en-US" sz="900" dirty="0"/>
          </a:p>
        </p:txBody>
      </p:sp>
      <p:sp>
        <p:nvSpPr>
          <p:cNvPr id="15" name="Text 13"/>
          <p:cNvSpPr/>
          <p:nvPr/>
        </p:nvSpPr>
        <p:spPr>
          <a:xfrm>
            <a:off x="548640" y="1682496"/>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material_abbreviation</a:t>
            </a:r>
            <a:endParaRPr lang="en-US" sz="900" dirty="0"/>
          </a:p>
        </p:txBody>
      </p:sp>
      <p:sp>
        <p:nvSpPr>
          <p:cNvPr id="16" name="Text 14"/>
          <p:cNvSpPr/>
          <p:nvPr/>
        </p:nvSpPr>
        <p:spPr>
          <a:xfrm>
            <a:off x="2148840" y="1682496"/>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Short ID (e.g., PEEK)</a:t>
            </a:r>
            <a:endParaRPr lang="en-US" sz="900" dirty="0"/>
          </a:p>
        </p:txBody>
      </p:sp>
      <p:sp>
        <p:nvSpPr>
          <p:cNvPr id="17" name="Shape 15"/>
          <p:cNvSpPr/>
          <p:nvPr/>
        </p:nvSpPr>
        <p:spPr>
          <a:xfrm>
            <a:off x="502920" y="2011680"/>
            <a:ext cx="3840480" cy="310896"/>
          </a:xfrm>
          <a:prstGeom prst="rect">
            <a:avLst/>
          </a:prstGeom>
          <a:solidFill>
            <a:srgbClr val="F0F7FC"/>
          </a:solidFill>
          <a:ln w="12700">
            <a:solidFill>
              <a:srgbClr val="F0F7FC"/>
            </a:solidFill>
            <a:prstDash val="solid"/>
          </a:ln>
        </p:spPr>
      </p:sp>
      <p:sp>
        <p:nvSpPr>
          <p:cNvPr id="18" name="Text 16"/>
          <p:cNvSpPr/>
          <p:nvPr/>
        </p:nvSpPr>
        <p:spPr>
          <a:xfrm>
            <a:off x="548640" y="2011680"/>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section</a:t>
            </a:r>
            <a:endParaRPr lang="en-US" sz="900" dirty="0"/>
          </a:p>
        </p:txBody>
      </p:sp>
      <p:sp>
        <p:nvSpPr>
          <p:cNvPr id="19" name="Text 17"/>
          <p:cNvSpPr/>
          <p:nvPr/>
        </p:nvSpPr>
        <p:spPr>
          <a:xfrm>
            <a:off x="2148840" y="2011680"/>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Property category (Mechanical, Thermal, ...)</a:t>
            </a:r>
            <a:endParaRPr lang="en-US" sz="900" dirty="0"/>
          </a:p>
        </p:txBody>
      </p:sp>
      <p:sp>
        <p:nvSpPr>
          <p:cNvPr id="20" name="Text 18"/>
          <p:cNvSpPr/>
          <p:nvPr/>
        </p:nvSpPr>
        <p:spPr>
          <a:xfrm>
            <a:off x="548640" y="2340864"/>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property_name</a:t>
            </a:r>
            <a:endParaRPr lang="en-US" sz="900" dirty="0"/>
          </a:p>
        </p:txBody>
      </p:sp>
      <p:sp>
        <p:nvSpPr>
          <p:cNvPr id="21" name="Text 19"/>
          <p:cNvSpPr/>
          <p:nvPr/>
        </p:nvSpPr>
        <p:spPr>
          <a:xfrm>
            <a:off x="2148840" y="2340864"/>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Canonical or free-text property</a:t>
            </a:r>
            <a:endParaRPr lang="en-US" sz="900" dirty="0"/>
          </a:p>
        </p:txBody>
      </p:sp>
      <p:sp>
        <p:nvSpPr>
          <p:cNvPr id="22" name="Shape 20"/>
          <p:cNvSpPr/>
          <p:nvPr/>
        </p:nvSpPr>
        <p:spPr>
          <a:xfrm>
            <a:off x="502920" y="2670048"/>
            <a:ext cx="3840480" cy="310896"/>
          </a:xfrm>
          <a:prstGeom prst="rect">
            <a:avLst/>
          </a:prstGeom>
          <a:solidFill>
            <a:srgbClr val="F0F7FC"/>
          </a:solidFill>
          <a:ln w="12700">
            <a:solidFill>
              <a:srgbClr val="F0F7FC"/>
            </a:solidFill>
            <a:prstDash val="solid"/>
          </a:ln>
        </p:spPr>
      </p:sp>
      <p:sp>
        <p:nvSpPr>
          <p:cNvPr id="23" name="Text 21"/>
          <p:cNvSpPr/>
          <p:nvPr/>
        </p:nvSpPr>
        <p:spPr>
          <a:xfrm>
            <a:off x="548640" y="2670048"/>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value</a:t>
            </a:r>
            <a:endParaRPr lang="en-US" sz="900" dirty="0"/>
          </a:p>
        </p:txBody>
      </p:sp>
      <p:sp>
        <p:nvSpPr>
          <p:cNvPr id="24" name="Text 22"/>
          <p:cNvSpPr/>
          <p:nvPr/>
        </p:nvSpPr>
        <p:spPr>
          <a:xfrm>
            <a:off x="2148840" y="2670048"/>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Measured value or range (text)</a:t>
            </a:r>
            <a:endParaRPr lang="en-US" sz="900" dirty="0"/>
          </a:p>
        </p:txBody>
      </p:sp>
      <p:sp>
        <p:nvSpPr>
          <p:cNvPr id="25" name="Text 23"/>
          <p:cNvSpPr/>
          <p:nvPr/>
        </p:nvSpPr>
        <p:spPr>
          <a:xfrm>
            <a:off x="548640" y="2999232"/>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unit</a:t>
            </a:r>
            <a:endParaRPr lang="en-US" sz="900" dirty="0"/>
          </a:p>
        </p:txBody>
      </p:sp>
      <p:sp>
        <p:nvSpPr>
          <p:cNvPr id="26" name="Text 24"/>
          <p:cNvSpPr/>
          <p:nvPr/>
        </p:nvSpPr>
        <p:spPr>
          <a:xfrm>
            <a:off x="2148840" y="2999232"/>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SI unit string</a:t>
            </a:r>
            <a:endParaRPr lang="en-US" sz="900" dirty="0"/>
          </a:p>
        </p:txBody>
      </p:sp>
      <p:sp>
        <p:nvSpPr>
          <p:cNvPr id="27" name="Shape 25"/>
          <p:cNvSpPr/>
          <p:nvPr/>
        </p:nvSpPr>
        <p:spPr>
          <a:xfrm>
            <a:off x="502920" y="3328416"/>
            <a:ext cx="3840480" cy="310896"/>
          </a:xfrm>
          <a:prstGeom prst="rect">
            <a:avLst/>
          </a:prstGeom>
          <a:solidFill>
            <a:srgbClr val="F0F7FC"/>
          </a:solidFill>
          <a:ln w="12700">
            <a:solidFill>
              <a:srgbClr val="F0F7FC"/>
            </a:solidFill>
            <a:prstDash val="solid"/>
          </a:ln>
        </p:spPr>
      </p:sp>
      <p:sp>
        <p:nvSpPr>
          <p:cNvPr id="28" name="Text 26"/>
          <p:cNvSpPr/>
          <p:nvPr/>
        </p:nvSpPr>
        <p:spPr>
          <a:xfrm>
            <a:off x="548640" y="3328416"/>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english</a:t>
            </a:r>
            <a:endParaRPr lang="en-US" sz="900" dirty="0"/>
          </a:p>
        </p:txBody>
      </p:sp>
      <p:sp>
        <p:nvSpPr>
          <p:cNvPr id="29" name="Text 27"/>
          <p:cNvSpPr/>
          <p:nvPr/>
        </p:nvSpPr>
        <p:spPr>
          <a:xfrm>
            <a:off x="2148840" y="3328416"/>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Imperial equivalent, when reported</a:t>
            </a:r>
            <a:endParaRPr lang="en-US" sz="900" dirty="0"/>
          </a:p>
        </p:txBody>
      </p:sp>
      <p:sp>
        <p:nvSpPr>
          <p:cNvPr id="30" name="Text 28"/>
          <p:cNvSpPr/>
          <p:nvPr/>
        </p:nvSpPr>
        <p:spPr>
          <a:xfrm>
            <a:off x="548640" y="3657600"/>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test_condition</a:t>
            </a:r>
            <a:endParaRPr lang="en-US" sz="900" dirty="0"/>
          </a:p>
        </p:txBody>
      </p:sp>
      <p:sp>
        <p:nvSpPr>
          <p:cNvPr id="31" name="Text 29"/>
          <p:cNvSpPr/>
          <p:nvPr/>
        </p:nvSpPr>
        <p:spPr>
          <a:xfrm>
            <a:off x="2148840" y="3657600"/>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Temp, strain rate, standard, geometry</a:t>
            </a:r>
            <a:endParaRPr lang="en-US" sz="900" dirty="0"/>
          </a:p>
        </p:txBody>
      </p:sp>
      <p:sp>
        <p:nvSpPr>
          <p:cNvPr id="32" name="Shape 30"/>
          <p:cNvSpPr/>
          <p:nvPr/>
        </p:nvSpPr>
        <p:spPr>
          <a:xfrm>
            <a:off x="502920" y="3986784"/>
            <a:ext cx="3840480" cy="310896"/>
          </a:xfrm>
          <a:prstGeom prst="rect">
            <a:avLst/>
          </a:prstGeom>
          <a:solidFill>
            <a:srgbClr val="F0F7FC"/>
          </a:solidFill>
          <a:ln w="12700">
            <a:solidFill>
              <a:srgbClr val="F0F7FC"/>
            </a:solidFill>
            <a:prstDash val="solid"/>
          </a:ln>
        </p:spPr>
      </p:sp>
      <p:sp>
        <p:nvSpPr>
          <p:cNvPr id="33" name="Text 31"/>
          <p:cNvSpPr/>
          <p:nvPr/>
        </p:nvSpPr>
        <p:spPr>
          <a:xfrm>
            <a:off x="548640" y="3986784"/>
            <a:ext cx="1554480" cy="310896"/>
          </a:xfrm>
          <a:prstGeom prst="rect">
            <a:avLst/>
          </a:prstGeom>
          <a:noFill/>
          <a:ln/>
        </p:spPr>
        <p:txBody>
          <a:bodyPr wrap="square" lIns="0" tIns="0" rIns="0" bIns="0" rtlCol="0" anchor="ctr"/>
          <a:lstStyle/>
          <a:p>
            <a:pPr indent="0" marL="0">
              <a:buNone/>
            </a:pPr>
            <a:r>
              <a:rPr lang="en-US" sz="900" dirty="0">
                <a:solidFill>
                  <a:srgbClr val="065A82"/>
                </a:solidFill>
                <a:latin typeface="Consolas" pitchFamily="34" charset="0"/>
                <a:ea typeface="Consolas" pitchFamily="34" charset="-122"/>
                <a:cs typeface="Consolas" pitchFamily="34" charset="-120"/>
              </a:rPr>
              <a:t>comments</a:t>
            </a:r>
            <a:endParaRPr lang="en-US" sz="900" dirty="0"/>
          </a:p>
        </p:txBody>
      </p:sp>
      <p:sp>
        <p:nvSpPr>
          <p:cNvPr id="34" name="Text 32"/>
          <p:cNvSpPr/>
          <p:nvPr/>
        </p:nvSpPr>
        <p:spPr>
          <a:xfrm>
            <a:off x="2148840" y="3986784"/>
            <a:ext cx="2194560" cy="310896"/>
          </a:xfrm>
          <a:prstGeom prst="rect">
            <a:avLst/>
          </a:prstGeom>
          <a:noFill/>
          <a:ln/>
        </p:spPr>
        <p:txBody>
          <a:bodyPr wrap="square" lIns="0" tIns="0" rIns="0" bIns="0" rtlCol="0" anchor="ctr"/>
          <a:lstStyle/>
          <a:p>
            <a:pPr indent="0" marL="0">
              <a:buNone/>
            </a:pPr>
            <a:r>
              <a:rPr lang="en-US" sz="900" dirty="0">
                <a:solidFill>
                  <a:srgbClr val="4A6278"/>
                </a:solidFill>
                <a:latin typeface="Calibri" pitchFamily="34" charset="0"/>
                <a:ea typeface="Calibri" pitchFamily="34" charset="-122"/>
                <a:cs typeface="Calibri" pitchFamily="34" charset="-120"/>
              </a:rPr>
              <a:t>Notes, footnotes, standard references</a:t>
            </a:r>
            <a:endParaRPr lang="en-US" sz="900" dirty="0"/>
          </a:p>
        </p:txBody>
      </p:sp>
      <p:sp>
        <p:nvSpPr>
          <p:cNvPr id="35" name="Shape 33"/>
          <p:cNvSpPr/>
          <p:nvPr/>
        </p:nvSpPr>
        <p:spPr>
          <a:xfrm>
            <a:off x="4709160" y="960120"/>
            <a:ext cx="4069080" cy="35661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6" name="Shape 34"/>
          <p:cNvSpPr/>
          <p:nvPr/>
        </p:nvSpPr>
        <p:spPr>
          <a:xfrm>
            <a:off x="4709160" y="960120"/>
            <a:ext cx="45720" cy="3566160"/>
          </a:xfrm>
          <a:prstGeom prst="rect">
            <a:avLst/>
          </a:prstGeom>
          <a:solidFill>
            <a:srgbClr val="02C39A"/>
          </a:solidFill>
          <a:ln w="12700">
            <a:solidFill>
              <a:srgbClr val="02C39A"/>
            </a:solidFill>
            <a:prstDash val="solid"/>
          </a:ln>
        </p:spPr>
      </p:sp>
      <p:sp>
        <p:nvSpPr>
          <p:cNvPr id="37" name="Text 35"/>
          <p:cNvSpPr/>
          <p:nvPr/>
        </p:nvSpPr>
        <p:spPr>
          <a:xfrm>
            <a:off x="4846320" y="1024128"/>
            <a:ext cx="3749040" cy="347472"/>
          </a:xfrm>
          <a:prstGeom prst="rect">
            <a:avLst/>
          </a:prstGeom>
          <a:noFill/>
          <a:ln/>
        </p:spPr>
        <p:txBody>
          <a:bodyPr wrap="square" lIns="0" tIns="0" rIns="0" bIns="0" rtlCol="0" anchor="ctr"/>
          <a:lstStyle/>
          <a:p>
            <a:pPr indent="0" marL="0">
              <a:buNone/>
            </a:pPr>
            <a:r>
              <a:rPr lang="en-US" sz="1500" b="1" dirty="0">
                <a:solidFill>
                  <a:srgbClr val="065A82"/>
                </a:solidFill>
                <a:latin typeface="Georgia" pitchFamily="34" charset="0"/>
                <a:ea typeface="Georgia" pitchFamily="34" charset="-122"/>
                <a:cs typeface="Georgia" pitchFamily="34" charset="-120"/>
              </a:rPr>
              <a:t>Why EAV?</a:t>
            </a:r>
            <a:endParaRPr lang="en-US" sz="1500" dirty="0"/>
          </a:p>
        </p:txBody>
      </p:sp>
      <p:sp>
        <p:nvSpPr>
          <p:cNvPr id="38" name="Text 36"/>
          <p:cNvSpPr/>
          <p:nvPr/>
        </p:nvSpPr>
        <p:spPr>
          <a:xfrm>
            <a:off x="4846320" y="1481328"/>
            <a:ext cx="3749040" cy="256032"/>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&gt; Sparse data</a:t>
            </a:r>
            <a:endParaRPr lang="en-US" sz="1100" dirty="0"/>
          </a:p>
        </p:txBody>
      </p:sp>
      <p:sp>
        <p:nvSpPr>
          <p:cNvPr id="39" name="Text 37"/>
          <p:cNvSpPr/>
          <p:nvPr/>
        </p:nvSpPr>
        <p:spPr>
          <a:xfrm>
            <a:off x="4846320" y="1737360"/>
            <a:ext cx="3749040" cy="438912"/>
          </a:xfrm>
          <a:prstGeom prst="rect">
            <a:avLst/>
          </a:prstGeom>
          <a:noFill/>
          <a:ln/>
        </p:spPr>
        <p:txBody>
          <a:bodyPr wrap="square" lIns="0" tIns="0" rIns="0" bIns="0" rtlCol="0" anchor="ctr"/>
          <a:lstStyle/>
          <a:p>
            <a:pPr indent="0" marL="0">
              <a:buNone/>
            </a:pPr>
            <a:r>
              <a:rPr lang="en-US" sz="1000" dirty="0">
                <a:solidFill>
                  <a:srgbClr val="4A6278"/>
                </a:solidFill>
                <a:latin typeface="Calibri" pitchFamily="34" charset="0"/>
                <a:ea typeface="Calibri" pitchFamily="34" charset="-122"/>
                <a:cs typeface="Calibri" pitchFamily="34" charset="-120"/>
              </a:rPr>
              <a:t>Any given datasheet covers only a subset of properties. Wide tables would be mostly NULLs.</a:t>
            </a:r>
            <a:endParaRPr lang="en-US" sz="1000" dirty="0"/>
          </a:p>
        </p:txBody>
      </p:sp>
      <p:sp>
        <p:nvSpPr>
          <p:cNvPr id="40" name="Text 38"/>
          <p:cNvSpPr/>
          <p:nvPr/>
        </p:nvSpPr>
        <p:spPr>
          <a:xfrm>
            <a:off x="4846320" y="2267712"/>
            <a:ext cx="3749040" cy="256032"/>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&gt; Open taxonomy</a:t>
            </a:r>
            <a:endParaRPr lang="en-US" sz="1100" dirty="0"/>
          </a:p>
        </p:txBody>
      </p:sp>
      <p:sp>
        <p:nvSpPr>
          <p:cNvPr id="41" name="Text 39"/>
          <p:cNvSpPr/>
          <p:nvPr/>
        </p:nvSpPr>
        <p:spPr>
          <a:xfrm>
            <a:off x="4846320" y="2523744"/>
            <a:ext cx="3749040" cy="438912"/>
          </a:xfrm>
          <a:prstGeom prst="rect">
            <a:avLst/>
          </a:prstGeom>
          <a:noFill/>
          <a:ln/>
        </p:spPr>
        <p:txBody>
          <a:bodyPr wrap="square" lIns="0" tIns="0" rIns="0" bIns="0" rtlCol="0" anchor="ctr"/>
          <a:lstStyle/>
          <a:p>
            <a:pPr indent="0" marL="0">
              <a:buNone/>
            </a:pPr>
            <a:r>
              <a:rPr lang="en-US" sz="1000" dirty="0">
                <a:solidFill>
                  <a:srgbClr val="4A6278"/>
                </a:solidFill>
                <a:latin typeface="Calibri" pitchFamily="34" charset="0"/>
                <a:ea typeface="Calibri" pitchFamily="34" charset="-122"/>
                <a:cs typeface="Calibri" pitchFamily="34" charset="-120"/>
              </a:rPr>
              <a:t>New properties appear routinely. EAV adds rows; wide tables require schema migrations.</a:t>
            </a:r>
            <a:endParaRPr lang="en-US" sz="1000" dirty="0"/>
          </a:p>
        </p:txBody>
      </p:sp>
      <p:sp>
        <p:nvSpPr>
          <p:cNvPr id="42" name="Text 40"/>
          <p:cNvSpPr/>
          <p:nvPr/>
        </p:nvSpPr>
        <p:spPr>
          <a:xfrm>
            <a:off x="4846320" y="3054096"/>
            <a:ext cx="3749040" cy="256032"/>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&gt; Per-row provenance</a:t>
            </a:r>
            <a:endParaRPr lang="en-US" sz="1100" dirty="0"/>
          </a:p>
        </p:txBody>
      </p:sp>
      <p:sp>
        <p:nvSpPr>
          <p:cNvPr id="43" name="Text 41"/>
          <p:cNvSpPr/>
          <p:nvPr/>
        </p:nvSpPr>
        <p:spPr>
          <a:xfrm>
            <a:off x="4846320" y="3310128"/>
            <a:ext cx="3749040" cy="438912"/>
          </a:xfrm>
          <a:prstGeom prst="rect">
            <a:avLst/>
          </a:prstGeom>
          <a:noFill/>
          <a:ln/>
        </p:spPr>
        <p:txBody>
          <a:bodyPr wrap="square" lIns="0" tIns="0" rIns="0" bIns="0" rtlCol="0" anchor="ctr"/>
          <a:lstStyle/>
          <a:p>
            <a:pPr indent="0" marL="0">
              <a:buNone/>
            </a:pPr>
            <a:r>
              <a:rPr lang="en-US" sz="1000" dirty="0">
                <a:solidFill>
                  <a:srgbClr val="4A6278"/>
                </a:solidFill>
                <a:latin typeface="Calibri" pitchFamily="34" charset="0"/>
                <a:ea typeface="Calibri" pitchFamily="34" charset="-122"/>
                <a:cs typeface="Calibri" pitchFamily="34" charset="-120"/>
              </a:rPr>
              <a:t>Each observation has its own test conditions and source -- keeping them in-row avoids a messy join.</a:t>
            </a:r>
            <a:endParaRPr lang="en-US" sz="1000" dirty="0"/>
          </a:p>
        </p:txBody>
      </p:sp>
      <p:sp>
        <p:nvSpPr>
          <p:cNvPr id="44" name="Text 42"/>
          <p:cNvSpPr/>
          <p:nvPr/>
        </p:nvSpPr>
        <p:spPr>
          <a:xfrm>
            <a:off x="4846320" y="3840480"/>
            <a:ext cx="3749040" cy="256032"/>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&gt; Three material classes</a:t>
            </a:r>
            <a:endParaRPr lang="en-US" sz="1100" dirty="0"/>
          </a:p>
        </p:txBody>
      </p:sp>
      <p:sp>
        <p:nvSpPr>
          <p:cNvPr id="45" name="Text 43"/>
          <p:cNvSpPr/>
          <p:nvPr/>
        </p:nvSpPr>
        <p:spPr>
          <a:xfrm>
            <a:off x="4846320" y="4096512"/>
            <a:ext cx="3749040" cy="438912"/>
          </a:xfrm>
          <a:prstGeom prst="rect">
            <a:avLst/>
          </a:prstGeom>
          <a:noFill/>
          <a:ln/>
        </p:spPr>
        <p:txBody>
          <a:bodyPr wrap="square" lIns="0" tIns="0" rIns="0" bIns="0" rtlCol="0" anchor="ctr"/>
          <a:lstStyle/>
          <a:p>
            <a:pPr indent="0" marL="0">
              <a:buNone/>
            </a:pPr>
            <a:r>
              <a:rPr lang="en-US" sz="1000" dirty="0">
                <a:solidFill>
                  <a:srgbClr val="4A6278"/>
                </a:solidFill>
                <a:latin typeface="Calibri" pitchFamily="34" charset="0"/>
                <a:ea typeface="Calibri" pitchFamily="34" charset="-122"/>
                <a:cs typeface="Calibri" pitchFamily="34" charset="-120"/>
              </a:rPr>
              <a:t>Polymers, Fibers, Composites each map to a table; class encoded by table membership.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PDF to Structured Rows via Gemini 2.5 Flash</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4 / Extraction Pipeline</a:t>
            </a:r>
            <a:endParaRPr lang="en-US" sz="800" dirty="0"/>
          </a:p>
        </p:txBody>
      </p:sp>
      <p:sp>
        <p:nvSpPr>
          <p:cNvPr id="7" name="Shape 5"/>
          <p:cNvSpPr/>
          <p:nvPr/>
        </p:nvSpPr>
        <p:spPr>
          <a:xfrm>
            <a:off x="320040" y="960120"/>
            <a:ext cx="1938528" cy="25603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20040" y="960120"/>
            <a:ext cx="1938528" cy="475488"/>
          </a:xfrm>
          <a:prstGeom prst="rect">
            <a:avLst/>
          </a:prstGeom>
          <a:solidFill>
            <a:srgbClr val="065A82"/>
          </a:solidFill>
          <a:ln w="12700">
            <a:solidFill>
              <a:srgbClr val="065A82"/>
            </a:solidFill>
            <a:prstDash val="solid"/>
          </a:ln>
        </p:spPr>
      </p:sp>
      <p:sp>
        <p:nvSpPr>
          <p:cNvPr id="9" name="Text 7"/>
          <p:cNvSpPr/>
          <p:nvPr/>
        </p:nvSpPr>
        <p:spPr>
          <a:xfrm>
            <a:off x="320040" y="960120"/>
            <a:ext cx="1938528" cy="475488"/>
          </a:xfrm>
          <a:prstGeom prst="rect">
            <a:avLst/>
          </a:prstGeom>
          <a:noFill/>
          <a:ln/>
        </p:spPr>
        <p:txBody>
          <a:bodyPr wrap="square" lIns="0" tIns="0" rIns="0" bIns="0" rtlCol="0" anchor="ctr"/>
          <a:lstStyle/>
          <a:p>
            <a:pPr algn="ctr" indent="0" marL="0">
              <a:buNone/>
            </a:pPr>
            <a:r>
              <a:rPr lang="en-US" sz="2200" b="1" dirty="0">
                <a:solidFill>
                  <a:srgbClr val="02C39A"/>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411480" y="1508760"/>
            <a:ext cx="1755648" cy="438912"/>
          </a:xfrm>
          <a:prstGeom prst="rect">
            <a:avLst/>
          </a:prstGeom>
          <a:noFill/>
          <a:ln/>
        </p:spPr>
        <p:txBody>
          <a:bodyPr wrap="square" lIns="0" tIns="0" rIns="0" bIns="0" rtlCol="0" anchor="t"/>
          <a:lstStyle/>
          <a:p>
            <a:pPr algn="ctr" indent="0" marL="0">
              <a:buNone/>
            </a:pPr>
            <a:r>
              <a:rPr lang="en-US" sz="1150" b="1" dirty="0">
                <a:solidFill>
                  <a:srgbClr val="1A2E3B"/>
                </a:solidFill>
                <a:latin typeface="Georgia" pitchFamily="34" charset="0"/>
                <a:ea typeface="Georgia" pitchFamily="34" charset="-122"/>
                <a:cs typeface="Georgia" pitchFamily="34" charset="-120"/>
              </a:rPr>
              <a:t>PDF In</a:t>
            </a:r>
            <a:endParaRPr lang="en-US" sz="1150" dirty="0"/>
          </a:p>
        </p:txBody>
      </p:sp>
      <p:sp>
        <p:nvSpPr>
          <p:cNvPr id="11" name="Text 9"/>
          <p:cNvSpPr/>
          <p:nvPr/>
        </p:nvSpPr>
        <p:spPr>
          <a:xfrm>
            <a:off x="411480" y="1975104"/>
            <a:ext cx="1755648" cy="1371600"/>
          </a:xfrm>
          <a:prstGeom prst="rect">
            <a:avLst/>
          </a:prstGeom>
          <a:noFill/>
          <a:ln/>
        </p:spPr>
        <p:txBody>
          <a:bodyPr wrap="square" lIns="0" tIns="0" rIns="0" bIns="0" rtlCol="0" anchor="t"/>
          <a:lstStyle/>
          <a:p>
            <a:pPr algn="l" indent="0" marL="0">
              <a:buNone/>
            </a:pPr>
            <a:r>
              <a:rPr lang="en-US" sz="950" dirty="0">
                <a:solidFill>
                  <a:srgbClr val="4A6278"/>
                </a:solidFill>
                <a:latin typeface="Calibri" pitchFamily="34" charset="0"/>
                <a:ea typeface="Calibri" pitchFamily="34" charset="-122"/>
                <a:cs typeface="Calibri" pitchFamily="34" charset="-120"/>
              </a:rPr>
              <a:t>User drops datasheet or paper.</a:t>
            </a:r>
            <a:endParaRPr lang="en-US" sz="950" dirty="0"/>
          </a:p>
          <a:p>
            <a:pPr algn="l" indent="0" marL="0">
              <a:buNone/>
            </a:pPr>
            <a:r>
              <a:rPr lang="en-US" sz="950" dirty="0">
                <a:solidFill>
                  <a:srgbClr val="4A6278"/>
                </a:solidFill>
                <a:latin typeface="Calibri" pitchFamily="34" charset="0"/>
                <a:ea typeface="Calibri" pitchFamily="34" charset="-122"/>
                <a:cs typeface="Calibri" pitchFamily="34" charset="-120"/>
              </a:rPr>
              <a:t>Base64-encoded and sent inline.</a:t>
            </a:r>
            <a:endParaRPr lang="en-US" sz="950" dirty="0"/>
          </a:p>
        </p:txBody>
      </p:sp>
      <p:sp>
        <p:nvSpPr>
          <p:cNvPr id="12" name="Text 10"/>
          <p:cNvSpPr/>
          <p:nvPr/>
        </p:nvSpPr>
        <p:spPr>
          <a:xfrm>
            <a:off x="2258568" y="1783080"/>
            <a:ext cx="237744" cy="457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13" name="Shape 11"/>
          <p:cNvSpPr/>
          <p:nvPr/>
        </p:nvSpPr>
        <p:spPr>
          <a:xfrm>
            <a:off x="2496312" y="960120"/>
            <a:ext cx="1938528" cy="25603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2496312" y="960120"/>
            <a:ext cx="1938528" cy="475488"/>
          </a:xfrm>
          <a:prstGeom prst="rect">
            <a:avLst/>
          </a:prstGeom>
          <a:solidFill>
            <a:srgbClr val="065A82"/>
          </a:solidFill>
          <a:ln w="12700">
            <a:solidFill>
              <a:srgbClr val="065A82"/>
            </a:solidFill>
            <a:prstDash val="solid"/>
          </a:ln>
        </p:spPr>
      </p:sp>
      <p:sp>
        <p:nvSpPr>
          <p:cNvPr id="15" name="Text 13"/>
          <p:cNvSpPr/>
          <p:nvPr/>
        </p:nvSpPr>
        <p:spPr>
          <a:xfrm>
            <a:off x="2496312" y="960120"/>
            <a:ext cx="1938528" cy="475488"/>
          </a:xfrm>
          <a:prstGeom prst="rect">
            <a:avLst/>
          </a:prstGeom>
          <a:noFill/>
          <a:ln/>
        </p:spPr>
        <p:txBody>
          <a:bodyPr wrap="square" lIns="0" tIns="0" rIns="0" bIns="0" rtlCol="0" anchor="ctr"/>
          <a:lstStyle/>
          <a:p>
            <a:pPr algn="ctr" indent="0" marL="0">
              <a:buNone/>
            </a:pPr>
            <a:r>
              <a:rPr lang="en-US" sz="2200" b="1" dirty="0">
                <a:solidFill>
                  <a:srgbClr val="02C39A"/>
                </a:solidFill>
                <a:latin typeface="Georgia" pitchFamily="34" charset="0"/>
                <a:ea typeface="Georgia" pitchFamily="34" charset="-122"/>
                <a:cs typeface="Georgia" pitchFamily="34" charset="-120"/>
              </a:rPr>
              <a:t>2</a:t>
            </a:r>
            <a:endParaRPr lang="en-US" sz="2200" dirty="0"/>
          </a:p>
        </p:txBody>
      </p:sp>
      <p:sp>
        <p:nvSpPr>
          <p:cNvPr id="16" name="Text 14"/>
          <p:cNvSpPr/>
          <p:nvPr/>
        </p:nvSpPr>
        <p:spPr>
          <a:xfrm>
            <a:off x="2587752" y="1508760"/>
            <a:ext cx="1755648" cy="438912"/>
          </a:xfrm>
          <a:prstGeom prst="rect">
            <a:avLst/>
          </a:prstGeom>
          <a:noFill/>
          <a:ln/>
        </p:spPr>
        <p:txBody>
          <a:bodyPr wrap="square" lIns="0" tIns="0" rIns="0" bIns="0" rtlCol="0" anchor="t"/>
          <a:lstStyle/>
          <a:p>
            <a:pPr algn="ctr" indent="0" marL="0">
              <a:buNone/>
            </a:pPr>
            <a:r>
              <a:rPr lang="en-US" sz="1150" b="1" dirty="0">
                <a:solidFill>
                  <a:srgbClr val="1A2E3B"/>
                </a:solidFill>
                <a:latin typeface="Georgia" pitchFamily="34" charset="0"/>
                <a:ea typeface="Georgia" pitchFamily="34" charset="-122"/>
                <a:cs typeface="Georgia" pitchFamily="34" charset="-120"/>
              </a:rPr>
              <a:t>Schema-typed Prompt</a:t>
            </a:r>
            <a:endParaRPr lang="en-US" sz="1150" dirty="0"/>
          </a:p>
        </p:txBody>
      </p:sp>
      <p:sp>
        <p:nvSpPr>
          <p:cNvPr id="17" name="Text 15"/>
          <p:cNvSpPr/>
          <p:nvPr/>
        </p:nvSpPr>
        <p:spPr>
          <a:xfrm>
            <a:off x="2587752" y="1975104"/>
            <a:ext cx="1755648" cy="1371600"/>
          </a:xfrm>
          <a:prstGeom prst="rect">
            <a:avLst/>
          </a:prstGeom>
          <a:noFill/>
          <a:ln/>
        </p:spPr>
        <p:txBody>
          <a:bodyPr wrap="square" lIns="0" tIns="0" rIns="0" bIns="0" rtlCol="0" anchor="t"/>
          <a:lstStyle/>
          <a:p>
            <a:pPr algn="l" indent="0" marL="0">
              <a:buNone/>
            </a:pPr>
            <a:r>
              <a:rPr lang="en-US" sz="950" dirty="0">
                <a:solidFill>
                  <a:srgbClr val="4A6278"/>
                </a:solidFill>
                <a:latin typeface="Calibri" pitchFamily="34" charset="0"/>
                <a:ea typeface="Calibri" pitchFamily="34" charset="-122"/>
                <a:cs typeface="Calibri" pitchFamily="34" charset="-120"/>
              </a:rPr>
              <a:t>responseSchema enforces fixed JSON shape.</a:t>
            </a:r>
            <a:endParaRPr lang="en-US" sz="950" dirty="0"/>
          </a:p>
          <a:p>
            <a:pPr algn="l" indent="0" marL="0">
              <a:buNone/>
            </a:pPr>
            <a:r>
              <a:rPr lang="en-US" sz="950" dirty="0">
                <a:solidFill>
                  <a:srgbClr val="4A6278"/>
                </a:solidFill>
                <a:latin typeface="Calibri" pitchFamily="34" charset="0"/>
                <a:ea typeface="Calibri" pitchFamily="34" charset="-122"/>
                <a:cs typeface="Calibri" pitchFamily="34" charset="-120"/>
              </a:rPr>
              <a:t>Temp = 0 for determinism.</a:t>
            </a:r>
            <a:endParaRPr lang="en-US" sz="950" dirty="0"/>
          </a:p>
        </p:txBody>
      </p:sp>
      <p:sp>
        <p:nvSpPr>
          <p:cNvPr id="18" name="Text 16"/>
          <p:cNvSpPr/>
          <p:nvPr/>
        </p:nvSpPr>
        <p:spPr>
          <a:xfrm>
            <a:off x="4434840" y="1783080"/>
            <a:ext cx="237744" cy="457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19" name="Shape 17"/>
          <p:cNvSpPr/>
          <p:nvPr/>
        </p:nvSpPr>
        <p:spPr>
          <a:xfrm>
            <a:off x="4672584" y="960120"/>
            <a:ext cx="1938528" cy="25603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4672584" y="960120"/>
            <a:ext cx="1938528" cy="475488"/>
          </a:xfrm>
          <a:prstGeom prst="rect">
            <a:avLst/>
          </a:prstGeom>
          <a:solidFill>
            <a:srgbClr val="065A82"/>
          </a:solidFill>
          <a:ln w="12700">
            <a:solidFill>
              <a:srgbClr val="065A82"/>
            </a:solidFill>
            <a:prstDash val="solid"/>
          </a:ln>
        </p:spPr>
      </p:sp>
      <p:sp>
        <p:nvSpPr>
          <p:cNvPr id="21" name="Text 19"/>
          <p:cNvSpPr/>
          <p:nvPr/>
        </p:nvSpPr>
        <p:spPr>
          <a:xfrm>
            <a:off x="4672584" y="960120"/>
            <a:ext cx="1938528" cy="475488"/>
          </a:xfrm>
          <a:prstGeom prst="rect">
            <a:avLst/>
          </a:prstGeom>
          <a:noFill/>
          <a:ln/>
        </p:spPr>
        <p:txBody>
          <a:bodyPr wrap="square" lIns="0" tIns="0" rIns="0" bIns="0" rtlCol="0" anchor="ctr"/>
          <a:lstStyle/>
          <a:p>
            <a:pPr algn="ctr" indent="0" marL="0">
              <a:buNone/>
            </a:pPr>
            <a:r>
              <a:rPr lang="en-US" sz="2200" b="1" dirty="0">
                <a:solidFill>
                  <a:srgbClr val="02C39A"/>
                </a:solidFill>
                <a:latin typeface="Georgia" pitchFamily="34" charset="0"/>
                <a:ea typeface="Georgia" pitchFamily="34" charset="-122"/>
                <a:cs typeface="Georgia" pitchFamily="34" charset="-120"/>
              </a:rPr>
              <a:t>3</a:t>
            </a:r>
            <a:endParaRPr lang="en-US" sz="2200" dirty="0"/>
          </a:p>
        </p:txBody>
      </p:sp>
      <p:sp>
        <p:nvSpPr>
          <p:cNvPr id="22" name="Text 20"/>
          <p:cNvSpPr/>
          <p:nvPr/>
        </p:nvSpPr>
        <p:spPr>
          <a:xfrm>
            <a:off x="4764024" y="1508760"/>
            <a:ext cx="1755648" cy="438912"/>
          </a:xfrm>
          <a:prstGeom prst="rect">
            <a:avLst/>
          </a:prstGeom>
          <a:noFill/>
          <a:ln/>
        </p:spPr>
        <p:txBody>
          <a:bodyPr wrap="square" lIns="0" tIns="0" rIns="0" bIns="0" rtlCol="0" anchor="t"/>
          <a:lstStyle/>
          <a:p>
            <a:pPr algn="ctr" indent="0" marL="0">
              <a:buNone/>
            </a:pPr>
            <a:r>
              <a:rPr lang="en-US" sz="1150" b="1" dirty="0">
                <a:solidFill>
                  <a:srgbClr val="1A2E3B"/>
                </a:solidFill>
                <a:latin typeface="Georgia" pitchFamily="34" charset="0"/>
                <a:ea typeface="Georgia" pitchFamily="34" charset="-122"/>
                <a:cs typeface="Georgia" pitchFamily="34" charset="-120"/>
              </a:rPr>
              <a:t>Expert Prompt</a:t>
            </a:r>
            <a:endParaRPr lang="en-US" sz="1150" dirty="0"/>
          </a:p>
        </p:txBody>
      </p:sp>
      <p:sp>
        <p:nvSpPr>
          <p:cNvPr id="23" name="Text 21"/>
          <p:cNvSpPr/>
          <p:nvPr/>
        </p:nvSpPr>
        <p:spPr>
          <a:xfrm>
            <a:off x="4764024" y="1975104"/>
            <a:ext cx="1755648" cy="1371600"/>
          </a:xfrm>
          <a:prstGeom prst="rect">
            <a:avLst/>
          </a:prstGeom>
          <a:noFill/>
          <a:ln/>
        </p:spPr>
        <p:txBody>
          <a:bodyPr wrap="square" lIns="0" tIns="0" rIns="0" bIns="0" rtlCol="0" anchor="t"/>
          <a:lstStyle/>
          <a:p>
            <a:pPr algn="l" indent="0" marL="0">
              <a:buNone/>
            </a:pPr>
            <a:r>
              <a:rPr lang="en-US" sz="950" dirty="0">
                <a:solidFill>
                  <a:srgbClr val="4A6278"/>
                </a:solidFill>
                <a:latin typeface="Calibri" pitchFamily="34" charset="0"/>
                <a:ea typeface="Calibri" pitchFamily="34" charset="-122"/>
                <a:cs typeface="Calibri" pitchFamily="34" charset="-120"/>
              </a:rPr>
              <a:t>Frames model as materials scientist; enumerates all per-property fields across Mechanical, Thermal, Electrical, Physical, Optical, Rheological.</a:t>
            </a:r>
            <a:endParaRPr lang="en-US" sz="950" dirty="0"/>
          </a:p>
        </p:txBody>
      </p:sp>
      <p:sp>
        <p:nvSpPr>
          <p:cNvPr id="24" name="Text 22"/>
          <p:cNvSpPr/>
          <p:nvPr/>
        </p:nvSpPr>
        <p:spPr>
          <a:xfrm>
            <a:off x="6611112" y="1783080"/>
            <a:ext cx="237744" cy="45720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25" name="Shape 23"/>
          <p:cNvSpPr/>
          <p:nvPr/>
        </p:nvSpPr>
        <p:spPr>
          <a:xfrm>
            <a:off x="6848856" y="960120"/>
            <a:ext cx="1938528" cy="25603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6848856" y="960120"/>
            <a:ext cx="1938528" cy="475488"/>
          </a:xfrm>
          <a:prstGeom prst="rect">
            <a:avLst/>
          </a:prstGeom>
          <a:solidFill>
            <a:srgbClr val="065A82"/>
          </a:solidFill>
          <a:ln w="12700">
            <a:solidFill>
              <a:srgbClr val="065A82"/>
            </a:solidFill>
            <a:prstDash val="solid"/>
          </a:ln>
        </p:spPr>
      </p:sp>
      <p:sp>
        <p:nvSpPr>
          <p:cNvPr id="27" name="Text 25"/>
          <p:cNvSpPr/>
          <p:nvPr/>
        </p:nvSpPr>
        <p:spPr>
          <a:xfrm>
            <a:off x="6848856" y="960120"/>
            <a:ext cx="1938528" cy="475488"/>
          </a:xfrm>
          <a:prstGeom prst="rect">
            <a:avLst/>
          </a:prstGeom>
          <a:noFill/>
          <a:ln/>
        </p:spPr>
        <p:txBody>
          <a:bodyPr wrap="square" lIns="0" tIns="0" rIns="0" bIns="0" rtlCol="0" anchor="ctr"/>
          <a:lstStyle/>
          <a:p>
            <a:pPr algn="ctr" indent="0" marL="0">
              <a:buNone/>
            </a:pPr>
            <a:r>
              <a:rPr lang="en-US" sz="2200" b="1" dirty="0">
                <a:solidFill>
                  <a:srgbClr val="02C39A"/>
                </a:solidFill>
                <a:latin typeface="Georgia" pitchFamily="34" charset="0"/>
                <a:ea typeface="Georgia" pitchFamily="34" charset="-122"/>
                <a:cs typeface="Georgia" pitchFamily="34" charset="-120"/>
              </a:rPr>
              <a:t>4</a:t>
            </a:r>
            <a:endParaRPr lang="en-US" sz="2200" dirty="0"/>
          </a:p>
        </p:txBody>
      </p:sp>
      <p:sp>
        <p:nvSpPr>
          <p:cNvPr id="28" name="Text 26"/>
          <p:cNvSpPr/>
          <p:nvPr/>
        </p:nvSpPr>
        <p:spPr>
          <a:xfrm>
            <a:off x="6940296" y="1508760"/>
            <a:ext cx="1755648" cy="438912"/>
          </a:xfrm>
          <a:prstGeom prst="rect">
            <a:avLst/>
          </a:prstGeom>
          <a:noFill/>
          <a:ln/>
        </p:spPr>
        <p:txBody>
          <a:bodyPr wrap="square" lIns="0" tIns="0" rIns="0" bIns="0" rtlCol="0" anchor="t"/>
          <a:lstStyle/>
          <a:p>
            <a:pPr algn="ctr" indent="0" marL="0">
              <a:buNone/>
            </a:pPr>
            <a:r>
              <a:rPr lang="en-US" sz="1150" b="1" dirty="0">
                <a:solidFill>
                  <a:srgbClr val="1A2E3B"/>
                </a:solidFill>
                <a:latin typeface="Georgia" pitchFamily="34" charset="0"/>
                <a:ea typeface="Georgia" pitchFamily="34" charset="-122"/>
                <a:cs typeface="Georgia" pitchFamily="34" charset="-120"/>
              </a:rPr>
              <a:t>Flatten to DataFrame</a:t>
            </a:r>
            <a:endParaRPr lang="en-US" sz="1150" dirty="0"/>
          </a:p>
        </p:txBody>
      </p:sp>
      <p:sp>
        <p:nvSpPr>
          <p:cNvPr id="29" name="Text 27"/>
          <p:cNvSpPr/>
          <p:nvPr/>
        </p:nvSpPr>
        <p:spPr>
          <a:xfrm>
            <a:off x="6940296" y="1975104"/>
            <a:ext cx="1755648" cy="1371600"/>
          </a:xfrm>
          <a:prstGeom prst="rect">
            <a:avLst/>
          </a:prstGeom>
          <a:noFill/>
          <a:ln/>
        </p:spPr>
        <p:txBody>
          <a:bodyPr wrap="square" lIns="0" tIns="0" rIns="0" bIns="0" rtlCol="0" anchor="t"/>
          <a:lstStyle/>
          <a:p>
            <a:pPr algn="l" indent="0" marL="0">
              <a:buNone/>
            </a:pPr>
            <a:r>
              <a:rPr lang="en-US" sz="950" dirty="0">
                <a:solidFill>
                  <a:srgbClr val="4A6278"/>
                </a:solidFill>
                <a:latin typeface="Calibri" pitchFamily="34" charset="0"/>
                <a:ea typeface="Calibri" pitchFamily="34" charset="-122"/>
                <a:cs typeface="Calibri" pitchFamily="34" charset="-120"/>
              </a:rPr>
              <a:t>Response flattened to DataFrame matching EAV schema. Plot images extracted in parallel via PyMuPDF + OpenCV.</a:t>
            </a:r>
            <a:endParaRPr lang="en-US" sz="950" dirty="0"/>
          </a:p>
        </p:txBody>
      </p:sp>
      <p:sp>
        <p:nvSpPr>
          <p:cNvPr id="30" name="Shape 28"/>
          <p:cNvSpPr/>
          <p:nvPr/>
        </p:nvSpPr>
        <p:spPr>
          <a:xfrm>
            <a:off x="320040" y="3703320"/>
            <a:ext cx="8503920" cy="111556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1" name="Shape 29"/>
          <p:cNvSpPr/>
          <p:nvPr/>
        </p:nvSpPr>
        <p:spPr>
          <a:xfrm>
            <a:off x="320040" y="3703320"/>
            <a:ext cx="45720" cy="1115568"/>
          </a:xfrm>
          <a:prstGeom prst="rect">
            <a:avLst/>
          </a:prstGeom>
          <a:solidFill>
            <a:srgbClr val="1C7293"/>
          </a:solidFill>
          <a:ln w="12700">
            <a:solidFill>
              <a:srgbClr val="1C7293"/>
            </a:solidFill>
            <a:prstDash val="solid"/>
          </a:ln>
        </p:spPr>
      </p:sp>
      <p:sp>
        <p:nvSpPr>
          <p:cNvPr id="32" name="Text 30"/>
          <p:cNvSpPr/>
          <p:nvPr/>
        </p:nvSpPr>
        <p:spPr>
          <a:xfrm>
            <a:off x="502920" y="3749040"/>
            <a:ext cx="8138160" cy="274320"/>
          </a:xfrm>
          <a:prstGeom prst="rect">
            <a:avLst/>
          </a:prstGeom>
          <a:noFill/>
          <a:ln/>
        </p:spPr>
        <p:txBody>
          <a:bodyPr wrap="square" lIns="0" tIns="0" rIns="0" bIns="0" rtlCol="0" anchor="ctr"/>
          <a:lstStyle/>
          <a:p>
            <a:pPr indent="0" marL="0">
              <a:buNone/>
            </a:pPr>
            <a:r>
              <a:rPr lang="en-US" sz="1200" b="1" dirty="0">
                <a:solidFill>
                  <a:srgbClr val="065A82"/>
                </a:solidFill>
                <a:latin typeface="Georgia" pitchFamily="34" charset="0"/>
                <a:ea typeface="Georgia" pitchFamily="34" charset="-122"/>
                <a:cs typeface="Georgia" pitchFamily="34" charset="-120"/>
              </a:rPr>
              <a:t>Key implementation details</a:t>
            </a:r>
            <a:endParaRPr lang="en-US" sz="1200" dirty="0"/>
          </a:p>
        </p:txBody>
      </p:sp>
      <p:sp>
        <p:nvSpPr>
          <p:cNvPr id="33" name="Text 31"/>
          <p:cNvSpPr/>
          <p:nvPr/>
        </p:nvSpPr>
        <p:spPr>
          <a:xfrm>
            <a:off x="502920" y="4059936"/>
            <a:ext cx="8138160" cy="65836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responseMimeType: application/json -- forces valid JSON. temperature: 0 -- deterministic extraction. Required fields -- model emits empty string for missing values, never null. english field -- passthrough for imperial values when source reports both.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User-Facing Workflows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5 / User Workflows</a:t>
            </a:r>
            <a:endParaRPr lang="en-US" sz="800" dirty="0"/>
          </a:p>
        </p:txBody>
      </p:sp>
      <p:sp>
        <p:nvSpPr>
          <p:cNvPr id="7" name="Shape 5"/>
          <p:cNvSpPr/>
          <p:nvPr/>
        </p:nvSpPr>
        <p:spPr>
          <a:xfrm>
            <a:off x="347472" y="960120"/>
            <a:ext cx="2697480" cy="363931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47472" y="960120"/>
            <a:ext cx="2697480" cy="402336"/>
          </a:xfrm>
          <a:prstGeom prst="rect">
            <a:avLst/>
          </a:prstGeom>
          <a:solidFill>
            <a:srgbClr val="065A82"/>
          </a:solidFill>
          <a:ln w="12700">
            <a:solidFill>
              <a:srgbClr val="065A82"/>
            </a:solidFill>
            <a:prstDash val="solid"/>
          </a:ln>
        </p:spPr>
      </p:sp>
      <p:sp>
        <p:nvSpPr>
          <p:cNvPr id="9" name="Text 7"/>
          <p:cNvSpPr/>
          <p:nvPr/>
        </p:nvSpPr>
        <p:spPr>
          <a:xfrm>
            <a:off x="438912" y="960120"/>
            <a:ext cx="251460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Browse / Search</a:t>
            </a:r>
            <a:endParaRPr lang="en-US" sz="1200" dirty="0"/>
          </a:p>
        </p:txBody>
      </p:sp>
      <p:sp>
        <p:nvSpPr>
          <p:cNvPr id="10" name="Shape 8"/>
          <p:cNvSpPr/>
          <p:nvPr/>
        </p:nvSpPr>
        <p:spPr>
          <a:xfrm>
            <a:off x="484632" y="1463040"/>
            <a:ext cx="237744" cy="237744"/>
          </a:xfrm>
          <a:prstGeom prst="rect">
            <a:avLst/>
          </a:prstGeom>
          <a:solidFill>
            <a:srgbClr val="065A82"/>
          </a:solidFill>
          <a:ln w="12700">
            <a:solidFill>
              <a:srgbClr val="065A82"/>
            </a:solidFill>
            <a:prstDash val="solid"/>
          </a:ln>
        </p:spPr>
      </p:sp>
      <p:sp>
        <p:nvSpPr>
          <p:cNvPr id="11" name="Text 9"/>
          <p:cNvSpPr/>
          <p:nvPr/>
        </p:nvSpPr>
        <p:spPr>
          <a:xfrm>
            <a:off x="484632" y="14630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2" name="Text 10"/>
          <p:cNvSpPr/>
          <p:nvPr/>
        </p:nvSpPr>
        <p:spPr>
          <a:xfrm>
            <a:off x="786384" y="146304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Select material class (Composite / Polymer / Fiber)</a:t>
            </a:r>
            <a:endParaRPr lang="en-US" sz="1000" dirty="0"/>
          </a:p>
        </p:txBody>
      </p:sp>
      <p:sp>
        <p:nvSpPr>
          <p:cNvPr id="13" name="Shape 11"/>
          <p:cNvSpPr/>
          <p:nvPr/>
        </p:nvSpPr>
        <p:spPr>
          <a:xfrm>
            <a:off x="484632" y="2057400"/>
            <a:ext cx="237744" cy="237744"/>
          </a:xfrm>
          <a:prstGeom prst="rect">
            <a:avLst/>
          </a:prstGeom>
          <a:solidFill>
            <a:srgbClr val="065A82"/>
          </a:solidFill>
          <a:ln w="12700">
            <a:solidFill>
              <a:srgbClr val="065A82"/>
            </a:solidFill>
            <a:prstDash val="solid"/>
          </a:ln>
        </p:spPr>
      </p:sp>
      <p:sp>
        <p:nvSpPr>
          <p:cNvPr id="14" name="Text 12"/>
          <p:cNvSpPr/>
          <p:nvPr/>
        </p:nvSpPr>
        <p:spPr>
          <a:xfrm>
            <a:off x="484632" y="20574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786384" y="205740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Filter by matrix or fiber (composites)</a:t>
            </a:r>
            <a:endParaRPr lang="en-US" sz="1000" dirty="0"/>
          </a:p>
        </p:txBody>
      </p:sp>
      <p:sp>
        <p:nvSpPr>
          <p:cNvPr id="16" name="Shape 14"/>
          <p:cNvSpPr/>
          <p:nvPr/>
        </p:nvSpPr>
        <p:spPr>
          <a:xfrm>
            <a:off x="484632" y="2651760"/>
            <a:ext cx="237744" cy="237744"/>
          </a:xfrm>
          <a:prstGeom prst="rect">
            <a:avLst/>
          </a:prstGeom>
          <a:solidFill>
            <a:srgbClr val="065A82"/>
          </a:solidFill>
          <a:ln w="12700">
            <a:solidFill>
              <a:srgbClr val="065A82"/>
            </a:solidFill>
            <a:prstDash val="solid"/>
          </a:ln>
        </p:spPr>
      </p:sp>
      <p:sp>
        <p:nvSpPr>
          <p:cNvPr id="17" name="Text 15"/>
          <p:cNvSpPr/>
          <p:nvPr/>
        </p:nvSpPr>
        <p:spPr>
          <a:xfrm>
            <a:off x="484632" y="26517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8" name="Text 16"/>
          <p:cNvSpPr/>
          <p:nvPr/>
        </p:nvSpPr>
        <p:spPr>
          <a:xfrm>
            <a:off x="786384" y="265176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Search by name or abbreviation</a:t>
            </a:r>
            <a:endParaRPr lang="en-US" sz="1000" dirty="0"/>
          </a:p>
        </p:txBody>
      </p:sp>
      <p:sp>
        <p:nvSpPr>
          <p:cNvPr id="19" name="Shape 17"/>
          <p:cNvSpPr/>
          <p:nvPr/>
        </p:nvSpPr>
        <p:spPr>
          <a:xfrm>
            <a:off x="484632" y="3246120"/>
            <a:ext cx="237744" cy="237744"/>
          </a:xfrm>
          <a:prstGeom prst="rect">
            <a:avLst/>
          </a:prstGeom>
          <a:solidFill>
            <a:srgbClr val="065A82"/>
          </a:solidFill>
          <a:ln w="12700">
            <a:solidFill>
              <a:srgbClr val="065A82"/>
            </a:solidFill>
            <a:prstDash val="solid"/>
          </a:ln>
        </p:spPr>
      </p:sp>
      <p:sp>
        <p:nvSpPr>
          <p:cNvPr id="20" name="Text 18"/>
          <p:cNvSpPr/>
          <p:nvPr/>
        </p:nvSpPr>
        <p:spPr>
          <a:xfrm>
            <a:off x="484632" y="32461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1" name="Text 19"/>
          <p:cNvSpPr/>
          <p:nvPr/>
        </p:nvSpPr>
        <p:spPr>
          <a:xfrm>
            <a:off x="786384" y="324612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Paginated results grid (50 per page)</a:t>
            </a:r>
            <a:endParaRPr lang="en-US" sz="1000" dirty="0"/>
          </a:p>
        </p:txBody>
      </p:sp>
      <p:sp>
        <p:nvSpPr>
          <p:cNvPr id="22" name="Shape 20"/>
          <p:cNvSpPr/>
          <p:nvPr/>
        </p:nvSpPr>
        <p:spPr>
          <a:xfrm>
            <a:off x="484632" y="3840480"/>
            <a:ext cx="237744" cy="237744"/>
          </a:xfrm>
          <a:prstGeom prst="rect">
            <a:avLst/>
          </a:prstGeom>
          <a:solidFill>
            <a:srgbClr val="065A82"/>
          </a:solidFill>
          <a:ln w="12700">
            <a:solidFill>
              <a:srgbClr val="065A82"/>
            </a:solidFill>
            <a:prstDash val="solid"/>
          </a:ln>
        </p:spPr>
      </p:sp>
      <p:sp>
        <p:nvSpPr>
          <p:cNvPr id="23" name="Text 21"/>
          <p:cNvSpPr/>
          <p:nvPr/>
        </p:nvSpPr>
        <p:spPr>
          <a:xfrm>
            <a:off x="484632" y="384048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4" name="Text 22"/>
          <p:cNvSpPr/>
          <p:nvPr/>
        </p:nvSpPr>
        <p:spPr>
          <a:xfrm>
            <a:off x="786384" y="384048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Inspect tab: property table + plot image</a:t>
            </a:r>
            <a:endParaRPr lang="en-US" sz="1000" dirty="0"/>
          </a:p>
        </p:txBody>
      </p:sp>
      <p:sp>
        <p:nvSpPr>
          <p:cNvPr id="25" name="Shape 23"/>
          <p:cNvSpPr/>
          <p:nvPr/>
        </p:nvSpPr>
        <p:spPr>
          <a:xfrm>
            <a:off x="3227832" y="960120"/>
            <a:ext cx="2697480" cy="363931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3227832" y="960120"/>
            <a:ext cx="2697480" cy="402336"/>
          </a:xfrm>
          <a:prstGeom prst="rect">
            <a:avLst/>
          </a:prstGeom>
          <a:solidFill>
            <a:srgbClr val="1C7293"/>
          </a:solidFill>
          <a:ln w="12700">
            <a:solidFill>
              <a:srgbClr val="1C7293"/>
            </a:solidFill>
            <a:prstDash val="solid"/>
          </a:ln>
        </p:spPr>
      </p:sp>
      <p:sp>
        <p:nvSpPr>
          <p:cNvPr id="27" name="Text 25"/>
          <p:cNvSpPr/>
          <p:nvPr/>
        </p:nvSpPr>
        <p:spPr>
          <a:xfrm>
            <a:off x="3319272" y="960120"/>
            <a:ext cx="251460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Manual Upload</a:t>
            </a:r>
            <a:endParaRPr lang="en-US" sz="1200" dirty="0"/>
          </a:p>
        </p:txBody>
      </p:sp>
      <p:sp>
        <p:nvSpPr>
          <p:cNvPr id="28" name="Shape 26"/>
          <p:cNvSpPr/>
          <p:nvPr/>
        </p:nvSpPr>
        <p:spPr>
          <a:xfrm>
            <a:off x="3364992" y="1463040"/>
            <a:ext cx="237744" cy="237744"/>
          </a:xfrm>
          <a:prstGeom prst="rect">
            <a:avLst/>
          </a:prstGeom>
          <a:solidFill>
            <a:srgbClr val="1C7293"/>
          </a:solidFill>
          <a:ln w="12700">
            <a:solidFill>
              <a:srgbClr val="1C7293"/>
            </a:solidFill>
            <a:prstDash val="solid"/>
          </a:ln>
        </p:spPr>
      </p:sp>
      <p:sp>
        <p:nvSpPr>
          <p:cNvPr id="29" name="Text 27"/>
          <p:cNvSpPr/>
          <p:nvPr/>
        </p:nvSpPr>
        <p:spPr>
          <a:xfrm>
            <a:off x="3364992" y="14630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0" name="Text 28"/>
          <p:cNvSpPr/>
          <p:nvPr/>
        </p:nvSpPr>
        <p:spPr>
          <a:xfrm>
            <a:off x="3666744" y="146304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Pick material class then property category</a:t>
            </a:r>
            <a:endParaRPr lang="en-US" sz="1000" dirty="0"/>
          </a:p>
        </p:txBody>
      </p:sp>
      <p:sp>
        <p:nvSpPr>
          <p:cNvPr id="31" name="Shape 29"/>
          <p:cNvSpPr/>
          <p:nvPr/>
        </p:nvSpPr>
        <p:spPr>
          <a:xfrm>
            <a:off x="3364992" y="2057400"/>
            <a:ext cx="237744" cy="237744"/>
          </a:xfrm>
          <a:prstGeom prst="rect">
            <a:avLst/>
          </a:prstGeom>
          <a:solidFill>
            <a:srgbClr val="1C7293"/>
          </a:solidFill>
          <a:ln w="12700">
            <a:solidFill>
              <a:srgbClr val="1C7293"/>
            </a:solidFill>
            <a:prstDash val="solid"/>
          </a:ln>
        </p:spPr>
      </p:sp>
      <p:sp>
        <p:nvSpPr>
          <p:cNvPr id="32" name="Text 30"/>
          <p:cNvSpPr/>
          <p:nvPr/>
        </p:nvSpPr>
        <p:spPr>
          <a:xfrm>
            <a:off x="3364992" y="20574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3" name="Text 31"/>
          <p:cNvSpPr/>
          <p:nvPr/>
        </p:nvSpPr>
        <p:spPr>
          <a:xfrm>
            <a:off x="3666744" y="205740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Select canonical property name (or free text)</a:t>
            </a:r>
            <a:endParaRPr lang="en-US" sz="1000" dirty="0"/>
          </a:p>
        </p:txBody>
      </p:sp>
      <p:sp>
        <p:nvSpPr>
          <p:cNvPr id="34" name="Shape 32"/>
          <p:cNvSpPr/>
          <p:nvPr/>
        </p:nvSpPr>
        <p:spPr>
          <a:xfrm>
            <a:off x="3364992" y="2651760"/>
            <a:ext cx="237744" cy="237744"/>
          </a:xfrm>
          <a:prstGeom prst="rect">
            <a:avLst/>
          </a:prstGeom>
          <a:solidFill>
            <a:srgbClr val="1C7293"/>
          </a:solidFill>
          <a:ln w="12700">
            <a:solidFill>
              <a:srgbClr val="1C7293"/>
            </a:solidFill>
            <a:prstDash val="solid"/>
          </a:ln>
        </p:spPr>
      </p:sp>
      <p:sp>
        <p:nvSpPr>
          <p:cNvPr id="35" name="Text 33"/>
          <p:cNvSpPr/>
          <p:nvPr/>
        </p:nvSpPr>
        <p:spPr>
          <a:xfrm>
            <a:off x="3364992" y="26517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6" name="Text 34"/>
          <p:cNvSpPr/>
          <p:nvPr/>
        </p:nvSpPr>
        <p:spPr>
          <a:xfrm>
            <a:off x="3666744" y="265176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Enter value, unit, English equiv., test condition</a:t>
            </a:r>
            <a:endParaRPr lang="en-US" sz="1000" dirty="0"/>
          </a:p>
        </p:txBody>
      </p:sp>
      <p:sp>
        <p:nvSpPr>
          <p:cNvPr id="37" name="Shape 35"/>
          <p:cNvSpPr/>
          <p:nvPr/>
        </p:nvSpPr>
        <p:spPr>
          <a:xfrm>
            <a:off x="3364992" y="3246120"/>
            <a:ext cx="237744" cy="237744"/>
          </a:xfrm>
          <a:prstGeom prst="rect">
            <a:avLst/>
          </a:prstGeom>
          <a:solidFill>
            <a:srgbClr val="1C7293"/>
          </a:solidFill>
          <a:ln w="12700">
            <a:solidFill>
              <a:srgbClr val="1C7293"/>
            </a:solidFill>
            <a:prstDash val="solid"/>
          </a:ln>
        </p:spPr>
      </p:sp>
      <p:sp>
        <p:nvSpPr>
          <p:cNvPr id="38" name="Text 36"/>
          <p:cNvSpPr/>
          <p:nvPr/>
        </p:nvSpPr>
        <p:spPr>
          <a:xfrm>
            <a:off x="3364992" y="32461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39" name="Text 37"/>
          <p:cNvSpPr/>
          <p:nvPr/>
        </p:nvSpPr>
        <p:spPr>
          <a:xfrm>
            <a:off x="3666744" y="324612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Comments field for notes &amp; standards</a:t>
            </a:r>
            <a:endParaRPr lang="en-US" sz="1000" dirty="0"/>
          </a:p>
        </p:txBody>
      </p:sp>
      <p:sp>
        <p:nvSpPr>
          <p:cNvPr id="40" name="Shape 38"/>
          <p:cNvSpPr/>
          <p:nvPr/>
        </p:nvSpPr>
        <p:spPr>
          <a:xfrm>
            <a:off x="3364992" y="3840480"/>
            <a:ext cx="237744" cy="237744"/>
          </a:xfrm>
          <a:prstGeom prst="rect">
            <a:avLst/>
          </a:prstGeom>
          <a:solidFill>
            <a:srgbClr val="1C7293"/>
          </a:solidFill>
          <a:ln w="12700">
            <a:solidFill>
              <a:srgbClr val="1C7293"/>
            </a:solidFill>
            <a:prstDash val="solid"/>
          </a:ln>
        </p:spPr>
      </p:sp>
      <p:sp>
        <p:nvSpPr>
          <p:cNvPr id="41" name="Text 39"/>
          <p:cNvSpPr/>
          <p:nvPr/>
        </p:nvSpPr>
        <p:spPr>
          <a:xfrm>
            <a:off x="3364992" y="384048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2" name="Text 40"/>
          <p:cNvSpPr/>
          <p:nvPr/>
        </p:nvSpPr>
        <p:spPr>
          <a:xfrm>
            <a:off x="3666744" y="384048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Single row written to Postgres</a:t>
            </a:r>
            <a:endParaRPr lang="en-US" sz="1000" dirty="0"/>
          </a:p>
        </p:txBody>
      </p:sp>
      <p:sp>
        <p:nvSpPr>
          <p:cNvPr id="43" name="Shape 41"/>
          <p:cNvSpPr/>
          <p:nvPr/>
        </p:nvSpPr>
        <p:spPr>
          <a:xfrm>
            <a:off x="6108192" y="960120"/>
            <a:ext cx="2697480" cy="363931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44" name="Shape 42"/>
          <p:cNvSpPr/>
          <p:nvPr/>
        </p:nvSpPr>
        <p:spPr>
          <a:xfrm>
            <a:off x="6108192" y="960120"/>
            <a:ext cx="2697480" cy="402336"/>
          </a:xfrm>
          <a:prstGeom prst="rect">
            <a:avLst/>
          </a:prstGeom>
          <a:solidFill>
            <a:srgbClr val="028090"/>
          </a:solidFill>
          <a:ln w="12700">
            <a:solidFill>
              <a:srgbClr val="028090"/>
            </a:solidFill>
            <a:prstDash val="solid"/>
          </a:ln>
        </p:spPr>
      </p:sp>
      <p:sp>
        <p:nvSpPr>
          <p:cNvPr id="45" name="Text 43"/>
          <p:cNvSpPr/>
          <p:nvPr/>
        </p:nvSpPr>
        <p:spPr>
          <a:xfrm>
            <a:off x="6199632" y="960120"/>
            <a:ext cx="251460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PDF-Assisted Upload</a:t>
            </a:r>
            <a:endParaRPr lang="en-US" sz="1200" dirty="0"/>
          </a:p>
        </p:txBody>
      </p:sp>
      <p:sp>
        <p:nvSpPr>
          <p:cNvPr id="46" name="Shape 44"/>
          <p:cNvSpPr/>
          <p:nvPr/>
        </p:nvSpPr>
        <p:spPr>
          <a:xfrm>
            <a:off x="6245352" y="1463040"/>
            <a:ext cx="237744" cy="237744"/>
          </a:xfrm>
          <a:prstGeom prst="rect">
            <a:avLst/>
          </a:prstGeom>
          <a:solidFill>
            <a:srgbClr val="028090"/>
          </a:solidFill>
          <a:ln w="12700">
            <a:solidFill>
              <a:srgbClr val="028090"/>
            </a:solidFill>
            <a:prstDash val="solid"/>
          </a:ln>
        </p:spPr>
      </p:sp>
      <p:sp>
        <p:nvSpPr>
          <p:cNvPr id="47" name="Text 45"/>
          <p:cNvSpPr/>
          <p:nvPr/>
        </p:nvSpPr>
        <p:spPr>
          <a:xfrm>
            <a:off x="6245352" y="14630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48" name="Text 46"/>
          <p:cNvSpPr/>
          <p:nvPr/>
        </p:nvSpPr>
        <p:spPr>
          <a:xfrm>
            <a:off x="6547104" y="146304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Drag PDF (datasheet or paper)</a:t>
            </a:r>
            <a:endParaRPr lang="en-US" sz="1000" dirty="0"/>
          </a:p>
        </p:txBody>
      </p:sp>
      <p:sp>
        <p:nvSpPr>
          <p:cNvPr id="49" name="Shape 47"/>
          <p:cNvSpPr/>
          <p:nvPr/>
        </p:nvSpPr>
        <p:spPr>
          <a:xfrm>
            <a:off x="6245352" y="2057400"/>
            <a:ext cx="237744" cy="237744"/>
          </a:xfrm>
          <a:prstGeom prst="rect">
            <a:avLst/>
          </a:prstGeom>
          <a:solidFill>
            <a:srgbClr val="028090"/>
          </a:solidFill>
          <a:ln w="12700">
            <a:solidFill>
              <a:srgbClr val="028090"/>
            </a:solidFill>
            <a:prstDash val="solid"/>
          </a:ln>
        </p:spPr>
      </p:sp>
      <p:sp>
        <p:nvSpPr>
          <p:cNvPr id="50" name="Text 48"/>
          <p:cNvSpPr/>
          <p:nvPr/>
        </p:nvSpPr>
        <p:spPr>
          <a:xfrm>
            <a:off x="6245352" y="20574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1" name="Text 49"/>
          <p:cNvSpPr/>
          <p:nvPr/>
        </p:nvSpPr>
        <p:spPr>
          <a:xfrm>
            <a:off x="6547104" y="205740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Gemini extracts all properties: preview table</a:t>
            </a:r>
            <a:endParaRPr lang="en-US" sz="1000" dirty="0"/>
          </a:p>
        </p:txBody>
      </p:sp>
      <p:sp>
        <p:nvSpPr>
          <p:cNvPr id="52" name="Shape 50"/>
          <p:cNvSpPr/>
          <p:nvPr/>
        </p:nvSpPr>
        <p:spPr>
          <a:xfrm>
            <a:off x="6245352" y="2651760"/>
            <a:ext cx="237744" cy="237744"/>
          </a:xfrm>
          <a:prstGeom prst="rect">
            <a:avLst/>
          </a:prstGeom>
          <a:solidFill>
            <a:srgbClr val="028090"/>
          </a:solidFill>
          <a:ln w="12700">
            <a:solidFill>
              <a:srgbClr val="028090"/>
            </a:solidFill>
            <a:prstDash val="solid"/>
          </a:ln>
        </p:spPr>
      </p:sp>
      <p:sp>
        <p:nvSpPr>
          <p:cNvPr id="53" name="Text 51"/>
          <p:cNvSpPr/>
          <p:nvPr/>
        </p:nvSpPr>
        <p:spPr>
          <a:xfrm>
            <a:off x="6245352" y="26517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54" name="Text 52"/>
          <p:cNvSpPr/>
          <p:nvPr/>
        </p:nvSpPr>
        <p:spPr>
          <a:xfrm>
            <a:off x="6547104" y="265176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User assigns material class</a:t>
            </a:r>
            <a:endParaRPr lang="en-US" sz="1000" dirty="0"/>
          </a:p>
        </p:txBody>
      </p:sp>
      <p:sp>
        <p:nvSpPr>
          <p:cNvPr id="55" name="Shape 53"/>
          <p:cNvSpPr/>
          <p:nvPr/>
        </p:nvSpPr>
        <p:spPr>
          <a:xfrm>
            <a:off x="6245352" y="3246120"/>
            <a:ext cx="237744" cy="237744"/>
          </a:xfrm>
          <a:prstGeom prst="rect">
            <a:avLst/>
          </a:prstGeom>
          <a:solidFill>
            <a:srgbClr val="028090"/>
          </a:solidFill>
          <a:ln w="12700">
            <a:solidFill>
              <a:srgbClr val="028090"/>
            </a:solidFill>
            <a:prstDash val="solid"/>
          </a:ln>
        </p:spPr>
      </p:sp>
      <p:sp>
        <p:nvSpPr>
          <p:cNvPr id="56" name="Text 54"/>
          <p:cNvSpPr/>
          <p:nvPr/>
        </p:nvSpPr>
        <p:spPr>
          <a:xfrm>
            <a:off x="6245352" y="324612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57" name="Text 55"/>
          <p:cNvSpPr/>
          <p:nvPr/>
        </p:nvSpPr>
        <p:spPr>
          <a:xfrm>
            <a:off x="6547104" y="324612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Review rows then click Add to Database</a:t>
            </a:r>
            <a:endParaRPr lang="en-US" sz="1000" dirty="0"/>
          </a:p>
        </p:txBody>
      </p:sp>
      <p:sp>
        <p:nvSpPr>
          <p:cNvPr id="58" name="Shape 56"/>
          <p:cNvSpPr/>
          <p:nvPr/>
        </p:nvSpPr>
        <p:spPr>
          <a:xfrm>
            <a:off x="6245352" y="3840480"/>
            <a:ext cx="237744" cy="237744"/>
          </a:xfrm>
          <a:prstGeom prst="rect">
            <a:avLst/>
          </a:prstGeom>
          <a:solidFill>
            <a:srgbClr val="028090"/>
          </a:solidFill>
          <a:ln w="12700">
            <a:solidFill>
              <a:srgbClr val="028090"/>
            </a:solidFill>
            <a:prstDash val="solid"/>
          </a:ln>
        </p:spPr>
      </p:sp>
      <p:sp>
        <p:nvSpPr>
          <p:cNvPr id="59" name="Text 57"/>
          <p:cNvSpPr/>
          <p:nvPr/>
        </p:nvSpPr>
        <p:spPr>
          <a:xfrm>
            <a:off x="6245352" y="384048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60" name="Text 58"/>
          <p:cNvSpPr/>
          <p:nvPr/>
        </p:nvSpPr>
        <p:spPr>
          <a:xfrm>
            <a:off x="6547104" y="3840480"/>
            <a:ext cx="2148840" cy="475488"/>
          </a:xfrm>
          <a:prstGeom prst="rect">
            <a:avLst/>
          </a:prstGeom>
          <a:noFill/>
          <a:ln/>
        </p:spPr>
        <p:txBody>
          <a:bodyPr wrap="square" lIns="0" tIns="0" rIns="0" bIns="0" rtlCol="0" anchor="t"/>
          <a:lstStyle/>
          <a:p>
            <a:pPr indent="0" marL="0">
              <a:buNone/>
            </a:pPr>
            <a:r>
              <a:rPr lang="en-US" sz="1000" dirty="0">
                <a:solidFill>
                  <a:srgbClr val="4A6278"/>
                </a:solidFill>
                <a:latin typeface="Calibri" pitchFamily="34" charset="0"/>
                <a:ea typeface="Calibri" pitchFamily="34" charset="-122"/>
                <a:cs typeface="Calibri" pitchFamily="34" charset="-120"/>
              </a:rPr>
              <a:t>Plot figures mapped to properties in second tab</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Current Data &amp; Data-Quality Findings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6 / Current Data</a:t>
            </a:r>
            <a:endParaRPr lang="en-US" sz="800" dirty="0"/>
          </a:p>
        </p:txBody>
      </p:sp>
      <p:sp>
        <p:nvSpPr>
          <p:cNvPr id="7" name="Shape 5"/>
          <p:cNvSpPr/>
          <p:nvPr/>
        </p:nvSpPr>
        <p:spPr>
          <a:xfrm>
            <a:off x="365760" y="960120"/>
            <a:ext cx="3474720" cy="35661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60120"/>
            <a:ext cx="45720" cy="3566160"/>
          </a:xfrm>
          <a:prstGeom prst="rect">
            <a:avLst/>
          </a:prstGeom>
          <a:solidFill>
            <a:srgbClr val="065A82"/>
          </a:solidFill>
          <a:ln w="12700">
            <a:solidFill>
              <a:srgbClr val="065A82"/>
            </a:solidFill>
            <a:prstDash val="solid"/>
          </a:ln>
        </p:spPr>
      </p:sp>
      <p:sp>
        <p:nvSpPr>
          <p:cNvPr id="9" name="Text 7"/>
          <p:cNvSpPr/>
          <p:nvPr/>
        </p:nvSpPr>
        <p:spPr>
          <a:xfrm>
            <a:off x="548640" y="1024128"/>
            <a:ext cx="3108960" cy="347472"/>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Loaded in Seed</a:t>
            </a:r>
            <a:endParaRPr lang="en-US" sz="1400" dirty="0"/>
          </a:p>
        </p:txBody>
      </p:sp>
      <p:sp>
        <p:nvSpPr>
          <p:cNvPr id="10" name="Text 8"/>
          <p:cNvSpPr/>
          <p:nvPr/>
        </p:nvSpPr>
        <p:spPr>
          <a:xfrm>
            <a:off x="640080" y="1508760"/>
            <a:ext cx="1005840" cy="5943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4</a:t>
            </a:r>
            <a:endParaRPr lang="en-US" sz="4200" dirty="0"/>
          </a:p>
        </p:txBody>
      </p:sp>
      <p:sp>
        <p:nvSpPr>
          <p:cNvPr id="11" name="Text 9"/>
          <p:cNvSpPr/>
          <p:nvPr/>
        </p:nvSpPr>
        <p:spPr>
          <a:xfrm>
            <a:off x="1691640" y="1627632"/>
            <a:ext cx="1920240" cy="347472"/>
          </a:xfrm>
          <a:prstGeom prst="rect">
            <a:avLst/>
          </a:prstGeom>
          <a:noFill/>
          <a:ln/>
        </p:spPr>
        <p:txBody>
          <a:bodyPr wrap="square" lIns="0" tIns="0" rIns="0" bIns="0" rtlCol="0" anchor="ctr"/>
          <a:lstStyle/>
          <a:p>
            <a:pPr indent="0" marL="0">
              <a:buNone/>
            </a:pPr>
            <a:r>
              <a:rPr lang="en-US" sz="1100" dirty="0">
                <a:solidFill>
                  <a:srgbClr val="4A6278"/>
                </a:solidFill>
                <a:latin typeface="Calibri" pitchFamily="34" charset="0"/>
                <a:ea typeface="Calibri" pitchFamily="34" charset="-122"/>
                <a:cs typeface="Calibri" pitchFamily="34" charset="-120"/>
              </a:rPr>
              <a:t>Polymer materials</a:t>
            </a:r>
            <a:endParaRPr lang="en-US" sz="1100" dirty="0"/>
          </a:p>
        </p:txBody>
      </p:sp>
      <p:sp>
        <p:nvSpPr>
          <p:cNvPr id="12" name="Text 10"/>
          <p:cNvSpPr/>
          <p:nvPr/>
        </p:nvSpPr>
        <p:spPr>
          <a:xfrm>
            <a:off x="640080" y="2286000"/>
            <a:ext cx="1005840" cy="5943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289</a:t>
            </a:r>
            <a:endParaRPr lang="en-US" sz="4200" dirty="0"/>
          </a:p>
        </p:txBody>
      </p:sp>
      <p:sp>
        <p:nvSpPr>
          <p:cNvPr id="13" name="Text 11"/>
          <p:cNvSpPr/>
          <p:nvPr/>
        </p:nvSpPr>
        <p:spPr>
          <a:xfrm>
            <a:off x="1691640" y="2404872"/>
            <a:ext cx="1920240" cy="347472"/>
          </a:xfrm>
          <a:prstGeom prst="rect">
            <a:avLst/>
          </a:prstGeom>
          <a:noFill/>
          <a:ln/>
        </p:spPr>
        <p:txBody>
          <a:bodyPr wrap="square" lIns="0" tIns="0" rIns="0" bIns="0" rtlCol="0" anchor="ctr"/>
          <a:lstStyle/>
          <a:p>
            <a:pPr indent="0" marL="0">
              <a:buNone/>
            </a:pPr>
            <a:r>
              <a:rPr lang="en-US" sz="1100" dirty="0">
                <a:solidFill>
                  <a:srgbClr val="4A6278"/>
                </a:solidFill>
                <a:latin typeface="Calibri" pitchFamily="34" charset="0"/>
                <a:ea typeface="Calibri" pitchFamily="34" charset="-122"/>
                <a:cs typeface="Calibri" pitchFamily="34" charset="-120"/>
              </a:rPr>
              <a:t>Property rows</a:t>
            </a:r>
            <a:endParaRPr lang="en-US" sz="1100" dirty="0"/>
          </a:p>
        </p:txBody>
      </p:sp>
      <p:sp>
        <p:nvSpPr>
          <p:cNvPr id="14" name="Text 12"/>
          <p:cNvSpPr/>
          <p:nvPr/>
        </p:nvSpPr>
        <p:spPr>
          <a:xfrm>
            <a:off x="640080" y="3063240"/>
            <a:ext cx="1005840" cy="5943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6</a:t>
            </a:r>
            <a:endParaRPr lang="en-US" sz="4200" dirty="0"/>
          </a:p>
        </p:txBody>
      </p:sp>
      <p:sp>
        <p:nvSpPr>
          <p:cNvPr id="15" name="Text 13"/>
          <p:cNvSpPr/>
          <p:nvPr/>
        </p:nvSpPr>
        <p:spPr>
          <a:xfrm>
            <a:off x="1691640" y="3182112"/>
            <a:ext cx="1920240" cy="347472"/>
          </a:xfrm>
          <a:prstGeom prst="rect">
            <a:avLst/>
          </a:prstGeom>
          <a:noFill/>
          <a:ln/>
        </p:spPr>
        <p:txBody>
          <a:bodyPr wrap="square" lIns="0" tIns="0" rIns="0" bIns="0" rtlCol="0" anchor="ctr"/>
          <a:lstStyle/>
          <a:p>
            <a:pPr indent="0" marL="0">
              <a:buNone/>
            </a:pPr>
            <a:r>
              <a:rPr lang="en-US" sz="1100" dirty="0">
                <a:solidFill>
                  <a:srgbClr val="4A6278"/>
                </a:solidFill>
                <a:latin typeface="Calibri" pitchFamily="34" charset="0"/>
                <a:ea typeface="Calibri" pitchFamily="34" charset="-122"/>
                <a:cs typeface="Calibri" pitchFamily="34" charset="-120"/>
              </a:rPr>
              <a:t>Sections observed</a:t>
            </a:r>
            <a:endParaRPr lang="en-US" sz="1100" dirty="0"/>
          </a:p>
        </p:txBody>
      </p:sp>
      <p:sp>
        <p:nvSpPr>
          <p:cNvPr id="16" name="Shape 14"/>
          <p:cNvSpPr/>
          <p:nvPr/>
        </p:nvSpPr>
        <p:spPr>
          <a:xfrm>
            <a:off x="548640" y="3822192"/>
            <a:ext cx="3108960" cy="54864"/>
          </a:xfrm>
          <a:prstGeom prst="rect">
            <a:avLst/>
          </a:prstGeom>
          <a:solidFill>
            <a:srgbClr val="02C39A"/>
          </a:solidFill>
          <a:ln w="12700">
            <a:solidFill>
              <a:srgbClr val="02C39A"/>
            </a:solidFill>
            <a:prstDash val="solid"/>
          </a:ln>
        </p:spPr>
      </p:sp>
      <p:sp>
        <p:nvSpPr>
          <p:cNvPr id="17" name="Text 15"/>
          <p:cNvSpPr/>
          <p:nvPr/>
        </p:nvSpPr>
        <p:spPr>
          <a:xfrm>
            <a:off x="548640" y="3913632"/>
            <a:ext cx="3108960" cy="548640"/>
          </a:xfrm>
          <a:prstGeom prst="rect">
            <a:avLst/>
          </a:prstGeom>
          <a:noFill/>
          <a:ln/>
        </p:spPr>
        <p:txBody>
          <a:bodyPr wrap="square" lIns="0" tIns="0" rIns="0" bIns="0" rtlCol="0" anchor="ctr"/>
          <a:lstStyle/>
          <a:p>
            <a:pPr algn="ctr" indent="0" marL="0">
              <a:buNone/>
            </a:pPr>
            <a:r>
              <a:rPr lang="en-US" sz="1000" dirty="0">
                <a:solidFill>
                  <a:srgbClr val="4A6278"/>
                </a:solidFill>
                <a:latin typeface="Calibri" pitchFamily="34" charset="0"/>
                <a:ea typeface="Calibri" pitchFamily="34" charset="-122"/>
                <a:cs typeface="Calibri" pitchFamily="34" charset="-120"/>
              </a:rPr>
              <a:t>PTFE  |  ABS  |  PEKK  |  Nylon 66</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Fibers + Composites tables: empty</a:t>
            </a:r>
            <a:endParaRPr lang="en-US" sz="1000" dirty="0"/>
          </a:p>
        </p:txBody>
      </p:sp>
      <p:sp>
        <p:nvSpPr>
          <p:cNvPr id="18" name="Shape 16"/>
          <p:cNvSpPr/>
          <p:nvPr/>
        </p:nvSpPr>
        <p:spPr>
          <a:xfrm>
            <a:off x="4023360" y="960120"/>
            <a:ext cx="4754880" cy="356616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9" name="Shape 17"/>
          <p:cNvSpPr/>
          <p:nvPr/>
        </p:nvSpPr>
        <p:spPr>
          <a:xfrm>
            <a:off x="4023360" y="960120"/>
            <a:ext cx="45720" cy="3566160"/>
          </a:xfrm>
          <a:prstGeom prst="rect">
            <a:avLst/>
          </a:prstGeom>
          <a:solidFill>
            <a:srgbClr val="E53935"/>
          </a:solidFill>
          <a:ln w="12700">
            <a:solidFill>
              <a:srgbClr val="E53935"/>
            </a:solidFill>
            <a:prstDash val="solid"/>
          </a:ln>
        </p:spPr>
      </p:sp>
      <p:sp>
        <p:nvSpPr>
          <p:cNvPr id="20" name="Text 18"/>
          <p:cNvSpPr/>
          <p:nvPr/>
        </p:nvSpPr>
        <p:spPr>
          <a:xfrm>
            <a:off x="4206240" y="1024128"/>
            <a:ext cx="4389120" cy="347472"/>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Data-Quality Issues Found</a:t>
            </a:r>
            <a:endParaRPr lang="en-US" sz="1400" dirty="0"/>
          </a:p>
        </p:txBody>
      </p:sp>
      <p:sp>
        <p:nvSpPr>
          <p:cNvPr id="21" name="Shape 19"/>
          <p:cNvSpPr/>
          <p:nvPr/>
        </p:nvSpPr>
        <p:spPr>
          <a:xfrm>
            <a:off x="4206240" y="1481328"/>
            <a:ext cx="256032" cy="256032"/>
          </a:xfrm>
          <a:prstGeom prst="rect">
            <a:avLst/>
          </a:prstGeom>
          <a:solidFill>
            <a:srgbClr val="E53935"/>
          </a:solidFill>
          <a:ln w="12700">
            <a:solidFill>
              <a:srgbClr val="E53935"/>
            </a:solidFill>
            <a:prstDash val="solid"/>
          </a:ln>
        </p:spPr>
      </p:sp>
      <p:sp>
        <p:nvSpPr>
          <p:cNvPr id="22" name="Text 20"/>
          <p:cNvSpPr/>
          <p:nvPr/>
        </p:nvSpPr>
        <p:spPr>
          <a:xfrm>
            <a:off x="4206240" y="14813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4526280" y="1481328"/>
            <a:ext cx="4023360" cy="256032"/>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Unit inconsistency</a:t>
            </a:r>
            <a:endParaRPr lang="en-US" sz="1100" dirty="0"/>
          </a:p>
        </p:txBody>
      </p:sp>
      <p:sp>
        <p:nvSpPr>
          <p:cNvPr id="24" name="Text 22"/>
          <p:cNvSpPr/>
          <p:nvPr/>
        </p:nvSpPr>
        <p:spPr>
          <a:xfrm>
            <a:off x="4526280" y="1737360"/>
            <a:ext cx="4023360" cy="438912"/>
          </a:xfrm>
          <a:prstGeom prst="rect">
            <a:avLst/>
          </a:prstGeom>
          <a:noFill/>
          <a:ln/>
        </p:spPr>
        <p:txBody>
          <a:bodyPr wrap="square" lIns="0" tIns="0" rIns="0" bIns="0" rtlCol="0" anchor="ctr"/>
          <a:lstStyle/>
          <a:p>
            <a:pPr indent="0" marL="0">
              <a:buNone/>
            </a:pPr>
            <a:r>
              <a:rPr lang="en-US" sz="950" dirty="0">
                <a:solidFill>
                  <a:srgbClr val="4A6278"/>
                </a:solidFill>
                <a:latin typeface="Calibri" pitchFamily="34" charset="0"/>
                <a:ea typeface="Calibri" pitchFamily="34" charset="-122"/>
                <a:cs typeface="Calibri" pitchFamily="34" charset="-120"/>
              </a:rPr>
              <a:t>Some rows omit unit key; others store units inline in the value string -- breaks numeric parsing.</a:t>
            </a:r>
            <a:endParaRPr lang="en-US" sz="950" dirty="0"/>
          </a:p>
        </p:txBody>
      </p:sp>
      <p:sp>
        <p:nvSpPr>
          <p:cNvPr id="25" name="Shape 23"/>
          <p:cNvSpPr/>
          <p:nvPr/>
        </p:nvSpPr>
        <p:spPr>
          <a:xfrm>
            <a:off x="4206240" y="2267712"/>
            <a:ext cx="256032" cy="256032"/>
          </a:xfrm>
          <a:prstGeom prst="rect">
            <a:avLst/>
          </a:prstGeom>
          <a:solidFill>
            <a:srgbClr val="E53935"/>
          </a:solidFill>
          <a:ln w="12700">
            <a:solidFill>
              <a:srgbClr val="E53935"/>
            </a:solidFill>
            <a:prstDash val="solid"/>
          </a:ln>
        </p:spPr>
      </p:sp>
      <p:sp>
        <p:nvSpPr>
          <p:cNvPr id="26" name="Text 24"/>
          <p:cNvSpPr/>
          <p:nvPr/>
        </p:nvSpPr>
        <p:spPr>
          <a:xfrm>
            <a:off x="4206240" y="226771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4526280" y="2267712"/>
            <a:ext cx="4023360" cy="256032"/>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Mixed unit systems</a:t>
            </a:r>
            <a:endParaRPr lang="en-US" sz="1100" dirty="0"/>
          </a:p>
        </p:txBody>
      </p:sp>
      <p:sp>
        <p:nvSpPr>
          <p:cNvPr id="28" name="Text 26"/>
          <p:cNvSpPr/>
          <p:nvPr/>
        </p:nvSpPr>
        <p:spPr>
          <a:xfrm>
            <a:off x="4526280" y="2523744"/>
            <a:ext cx="4023360" cy="438912"/>
          </a:xfrm>
          <a:prstGeom prst="rect">
            <a:avLst/>
          </a:prstGeom>
          <a:noFill/>
          <a:ln/>
        </p:spPr>
        <p:txBody>
          <a:bodyPr wrap="square" lIns="0" tIns="0" rIns="0" bIns="0" rtlCol="0" anchor="ctr"/>
          <a:lstStyle/>
          <a:p>
            <a:pPr indent="0" marL="0">
              <a:buNone/>
            </a:pPr>
            <a:r>
              <a:rPr lang="en-US" sz="950" dirty="0">
                <a:solidFill>
                  <a:srgbClr val="4A6278"/>
                </a:solidFill>
                <a:latin typeface="Calibri" pitchFamily="34" charset="0"/>
                <a:ea typeface="Calibri" pitchFamily="34" charset="-122"/>
                <a:cs typeface="Calibri" pitchFamily="34" charset="-120"/>
              </a:rPr>
              <a:t>SI/English mixed within a single value field; intended: SI in value, imperial in english column.</a:t>
            </a:r>
            <a:endParaRPr lang="en-US" sz="950" dirty="0"/>
          </a:p>
        </p:txBody>
      </p:sp>
      <p:sp>
        <p:nvSpPr>
          <p:cNvPr id="29" name="Shape 27"/>
          <p:cNvSpPr/>
          <p:nvPr/>
        </p:nvSpPr>
        <p:spPr>
          <a:xfrm>
            <a:off x="4206240" y="3054096"/>
            <a:ext cx="256032" cy="256032"/>
          </a:xfrm>
          <a:prstGeom prst="rect">
            <a:avLst/>
          </a:prstGeom>
          <a:solidFill>
            <a:srgbClr val="E53935"/>
          </a:solidFill>
          <a:ln w="12700">
            <a:solidFill>
              <a:srgbClr val="E53935"/>
            </a:solidFill>
            <a:prstDash val="solid"/>
          </a:ln>
        </p:spPr>
      </p:sp>
      <p:sp>
        <p:nvSpPr>
          <p:cNvPr id="30" name="Text 28"/>
          <p:cNvSpPr/>
          <p:nvPr/>
        </p:nvSpPr>
        <p:spPr>
          <a:xfrm>
            <a:off x="4206240" y="305409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4526280" y="3054096"/>
            <a:ext cx="4023360" cy="256032"/>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Duplicate property rows</a:t>
            </a:r>
            <a:endParaRPr lang="en-US" sz="1100" dirty="0"/>
          </a:p>
        </p:txBody>
      </p:sp>
      <p:sp>
        <p:nvSpPr>
          <p:cNvPr id="32" name="Text 30"/>
          <p:cNvSpPr/>
          <p:nvPr/>
        </p:nvSpPr>
        <p:spPr>
          <a:xfrm>
            <a:off x="4526280" y="3310128"/>
            <a:ext cx="4023360" cy="438912"/>
          </a:xfrm>
          <a:prstGeom prst="rect">
            <a:avLst/>
          </a:prstGeom>
          <a:noFill/>
          <a:ln/>
        </p:spPr>
        <p:txBody>
          <a:bodyPr wrap="square" lIns="0" tIns="0" rIns="0" bIns="0" rtlCol="0" anchor="ctr"/>
          <a:lstStyle/>
          <a:p>
            <a:pPr indent="0" marL="0">
              <a:buNone/>
            </a:pPr>
            <a:r>
              <a:rPr lang="en-US" sz="950" dirty="0">
                <a:solidFill>
                  <a:srgbClr val="4A6278"/>
                </a:solidFill>
                <a:latin typeface="Calibri" pitchFamily="34" charset="0"/>
                <a:ea typeface="Calibri" pitchFamily="34" charset="-122"/>
                <a:cs typeface="Calibri" pitchFamily="34" charset="-120"/>
              </a:rPr>
              <a:t>Same property at different test conditions -- correct behavior, but blocks naive UNIQUE constraint.</a:t>
            </a:r>
            <a:endParaRPr lang="en-US" sz="950" dirty="0"/>
          </a:p>
        </p:txBody>
      </p:sp>
      <p:sp>
        <p:nvSpPr>
          <p:cNvPr id="33" name="Shape 31"/>
          <p:cNvSpPr/>
          <p:nvPr/>
        </p:nvSpPr>
        <p:spPr>
          <a:xfrm>
            <a:off x="4206240" y="3840480"/>
            <a:ext cx="256032" cy="256032"/>
          </a:xfrm>
          <a:prstGeom prst="rect">
            <a:avLst/>
          </a:prstGeom>
          <a:solidFill>
            <a:srgbClr val="E53935"/>
          </a:solidFill>
          <a:ln w="12700">
            <a:solidFill>
              <a:srgbClr val="E53935"/>
            </a:solidFill>
            <a:prstDash val="solid"/>
          </a:ln>
        </p:spPr>
      </p:sp>
      <p:sp>
        <p:nvSpPr>
          <p:cNvPr id="34" name="Text 32"/>
          <p:cNvSpPr/>
          <p:nvPr/>
        </p:nvSpPr>
        <p:spPr>
          <a:xfrm>
            <a:off x="4206240" y="38404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4526280" y="3840480"/>
            <a:ext cx="4023360" cy="256032"/>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No source attribution</a:t>
            </a:r>
            <a:endParaRPr lang="en-US" sz="1100" dirty="0"/>
          </a:p>
        </p:txBody>
      </p:sp>
      <p:sp>
        <p:nvSpPr>
          <p:cNvPr id="36" name="Text 34"/>
          <p:cNvSpPr/>
          <p:nvPr/>
        </p:nvSpPr>
        <p:spPr>
          <a:xfrm>
            <a:off x="4526280" y="4096512"/>
            <a:ext cx="4023360" cy="438912"/>
          </a:xfrm>
          <a:prstGeom prst="rect">
            <a:avLst/>
          </a:prstGeom>
          <a:noFill/>
          <a:ln/>
        </p:spPr>
        <p:txBody>
          <a:bodyPr wrap="square" lIns="0" tIns="0" rIns="0" bIns="0" rtlCol="0" anchor="ctr"/>
          <a:lstStyle/>
          <a:p>
            <a:pPr indent="0" marL="0">
              <a:buNone/>
            </a:pPr>
            <a:r>
              <a:rPr lang="en-US" sz="950" dirty="0">
                <a:solidFill>
                  <a:srgbClr val="4A6278"/>
                </a:solidFill>
                <a:latin typeface="Calibri" pitchFamily="34" charset="0"/>
                <a:ea typeface="Calibri" pitchFamily="34" charset="-122"/>
                <a:cs typeface="Calibri" pitchFamily="34" charset="-120"/>
              </a:rPr>
              <a:t>No PDF / DOI / page-number column today. Provenance captured informally in comments at best.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Material Taxonomy &amp; Property Sections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3 / Architecture</a:t>
            </a:r>
            <a:endParaRPr lang="en-US" sz="800" dirty="0"/>
          </a:p>
        </p:txBody>
      </p:sp>
      <p:sp>
        <p:nvSpPr>
          <p:cNvPr id="7" name="Shape 5"/>
          <p:cNvSpPr/>
          <p:nvPr/>
        </p:nvSpPr>
        <p:spPr>
          <a:xfrm>
            <a:off x="365760" y="960120"/>
            <a:ext cx="2651760" cy="157276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60120"/>
            <a:ext cx="2651760" cy="347472"/>
          </a:xfrm>
          <a:prstGeom prst="rect">
            <a:avLst/>
          </a:prstGeom>
          <a:solidFill>
            <a:srgbClr val="065A82"/>
          </a:solidFill>
          <a:ln w="12700">
            <a:solidFill>
              <a:srgbClr val="065A82"/>
            </a:solidFill>
            <a:prstDash val="solid"/>
          </a:ln>
        </p:spPr>
      </p:sp>
      <p:sp>
        <p:nvSpPr>
          <p:cNvPr id="9" name="Text 7"/>
          <p:cNvSpPr/>
          <p:nvPr/>
        </p:nvSpPr>
        <p:spPr>
          <a:xfrm>
            <a:off x="365760" y="96012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Polymers</a:t>
            </a:r>
            <a:endParaRPr lang="en-US" sz="1300" dirty="0"/>
          </a:p>
        </p:txBody>
      </p:sp>
      <p:sp>
        <p:nvSpPr>
          <p:cNvPr id="10" name="Text 8"/>
          <p:cNvSpPr/>
          <p:nvPr/>
        </p:nvSpPr>
        <p:spPr>
          <a:xfrm>
            <a:off x="457200" y="1371600"/>
            <a:ext cx="2468880" cy="1078992"/>
          </a:xfrm>
          <a:prstGeom prst="rect">
            <a:avLst/>
          </a:prstGeom>
          <a:noFill/>
          <a:ln/>
        </p:spPr>
        <p:txBody>
          <a:bodyPr wrap="square" lIns="0" tIns="0" rIns="0" bIns="0" rtlCol="0" anchor="ctr"/>
          <a:lstStyle/>
          <a:p>
            <a:pPr algn="ctr" indent="0" marL="0">
              <a:buNone/>
            </a:pPr>
            <a:r>
              <a:rPr lang="en-US" sz="1000" dirty="0">
                <a:solidFill>
                  <a:srgbClr val="4A6278"/>
                </a:solidFill>
                <a:latin typeface="Calibri" pitchFamily="34" charset="0"/>
                <a:ea typeface="Calibri" pitchFamily="34" charset="-122"/>
                <a:cs typeface="Calibri" pitchFamily="34" charset="-120"/>
              </a:rPr>
              <a:t>PEEK | PEI | PA66 | ABS | PTFE | PEKK</a:t>
            </a:r>
            <a:endParaRPr lang="en-US" sz="1000" dirty="0"/>
          </a:p>
        </p:txBody>
      </p:sp>
      <p:sp>
        <p:nvSpPr>
          <p:cNvPr id="11" name="Shape 9"/>
          <p:cNvSpPr/>
          <p:nvPr/>
        </p:nvSpPr>
        <p:spPr>
          <a:xfrm>
            <a:off x="3246120" y="960120"/>
            <a:ext cx="2651760" cy="157276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2" name="Shape 10"/>
          <p:cNvSpPr/>
          <p:nvPr/>
        </p:nvSpPr>
        <p:spPr>
          <a:xfrm>
            <a:off x="3246120" y="960120"/>
            <a:ext cx="2651760" cy="347472"/>
          </a:xfrm>
          <a:prstGeom prst="rect">
            <a:avLst/>
          </a:prstGeom>
          <a:solidFill>
            <a:srgbClr val="1C7293"/>
          </a:solidFill>
          <a:ln w="12700">
            <a:solidFill>
              <a:srgbClr val="1C7293"/>
            </a:solidFill>
            <a:prstDash val="solid"/>
          </a:ln>
        </p:spPr>
      </p:sp>
      <p:sp>
        <p:nvSpPr>
          <p:cNvPr id="13" name="Text 11"/>
          <p:cNvSpPr/>
          <p:nvPr/>
        </p:nvSpPr>
        <p:spPr>
          <a:xfrm>
            <a:off x="3246120" y="96012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Fibers</a:t>
            </a:r>
            <a:endParaRPr lang="en-US" sz="1300" dirty="0"/>
          </a:p>
        </p:txBody>
      </p:sp>
      <p:sp>
        <p:nvSpPr>
          <p:cNvPr id="14" name="Text 12"/>
          <p:cNvSpPr/>
          <p:nvPr/>
        </p:nvSpPr>
        <p:spPr>
          <a:xfrm>
            <a:off x="3337560" y="1371600"/>
            <a:ext cx="2468880" cy="1078992"/>
          </a:xfrm>
          <a:prstGeom prst="rect">
            <a:avLst/>
          </a:prstGeom>
          <a:noFill/>
          <a:ln/>
        </p:spPr>
        <p:txBody>
          <a:bodyPr wrap="square" lIns="0" tIns="0" rIns="0" bIns="0" rtlCol="0" anchor="ctr"/>
          <a:lstStyle/>
          <a:p>
            <a:pPr algn="ctr" indent="0" marL="0">
              <a:buNone/>
            </a:pPr>
            <a:r>
              <a:rPr lang="en-US" sz="1000" dirty="0">
                <a:solidFill>
                  <a:srgbClr val="4A6278"/>
                </a:solidFill>
                <a:latin typeface="Calibri" pitchFamily="34" charset="0"/>
                <a:ea typeface="Calibri" pitchFamily="34" charset="-122"/>
                <a:cs typeface="Calibri" pitchFamily="34" charset="-120"/>
              </a:rPr>
              <a:t>Carbon | Glass | Aramid | Basalt | Natural fibers</a:t>
            </a:r>
            <a:endParaRPr lang="en-US" sz="1000" dirty="0"/>
          </a:p>
        </p:txBody>
      </p:sp>
      <p:sp>
        <p:nvSpPr>
          <p:cNvPr id="15" name="Shape 13"/>
          <p:cNvSpPr/>
          <p:nvPr/>
        </p:nvSpPr>
        <p:spPr>
          <a:xfrm>
            <a:off x="6126480" y="960120"/>
            <a:ext cx="2651760" cy="157276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6126480" y="960120"/>
            <a:ext cx="2651760" cy="347472"/>
          </a:xfrm>
          <a:prstGeom prst="rect">
            <a:avLst/>
          </a:prstGeom>
          <a:solidFill>
            <a:srgbClr val="028090"/>
          </a:solidFill>
          <a:ln w="12700">
            <a:solidFill>
              <a:srgbClr val="028090"/>
            </a:solidFill>
            <a:prstDash val="solid"/>
          </a:ln>
        </p:spPr>
      </p:sp>
      <p:sp>
        <p:nvSpPr>
          <p:cNvPr id="17" name="Text 15"/>
          <p:cNvSpPr/>
          <p:nvPr/>
        </p:nvSpPr>
        <p:spPr>
          <a:xfrm>
            <a:off x="6126480" y="960120"/>
            <a:ext cx="26517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Composites</a:t>
            </a:r>
            <a:endParaRPr lang="en-US" sz="1300" dirty="0"/>
          </a:p>
        </p:txBody>
      </p:sp>
      <p:sp>
        <p:nvSpPr>
          <p:cNvPr id="18" name="Text 16"/>
          <p:cNvSpPr/>
          <p:nvPr/>
        </p:nvSpPr>
        <p:spPr>
          <a:xfrm>
            <a:off x="6217920" y="1371600"/>
            <a:ext cx="2468880" cy="1078992"/>
          </a:xfrm>
          <a:prstGeom prst="rect">
            <a:avLst/>
          </a:prstGeom>
          <a:noFill/>
          <a:ln/>
        </p:spPr>
        <p:txBody>
          <a:bodyPr wrap="square" lIns="0" tIns="0" rIns="0" bIns="0" rtlCol="0" anchor="ctr"/>
          <a:lstStyle/>
          <a:p>
            <a:pPr algn="ctr" indent="0" marL="0">
              <a:buNone/>
            </a:pPr>
            <a:r>
              <a:rPr lang="en-US" sz="1000" dirty="0">
                <a:solidFill>
                  <a:srgbClr val="4A6278"/>
                </a:solidFill>
                <a:latin typeface="Calibri" pitchFamily="34" charset="0"/>
                <a:ea typeface="Calibri" pitchFamily="34" charset="-122"/>
                <a:cs typeface="Calibri" pitchFamily="34" charset="-120"/>
              </a:rPr>
              <a:t>Fiber-reinforced laminates &amp; molding compounds</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(Matrix + fiber + Vf + architecture + process)</a:t>
            </a:r>
            <a:endParaRPr lang="en-US" sz="1000" dirty="0"/>
          </a:p>
        </p:txBody>
      </p:sp>
      <p:sp>
        <p:nvSpPr>
          <p:cNvPr id="19" name="Shape 17"/>
          <p:cNvSpPr/>
          <p:nvPr/>
        </p:nvSpPr>
        <p:spPr>
          <a:xfrm>
            <a:off x="365760" y="2697480"/>
            <a:ext cx="8412480" cy="187452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365760" y="2697480"/>
            <a:ext cx="45720" cy="1874520"/>
          </a:xfrm>
          <a:prstGeom prst="rect">
            <a:avLst/>
          </a:prstGeom>
          <a:solidFill>
            <a:srgbClr val="02C39A"/>
          </a:solidFill>
          <a:ln w="12700">
            <a:solidFill>
              <a:srgbClr val="02C39A"/>
            </a:solidFill>
            <a:prstDash val="solid"/>
          </a:ln>
        </p:spPr>
      </p:sp>
      <p:sp>
        <p:nvSpPr>
          <p:cNvPr id="21" name="Text 19"/>
          <p:cNvSpPr/>
          <p:nvPr/>
        </p:nvSpPr>
        <p:spPr>
          <a:xfrm>
            <a:off x="548640" y="2788920"/>
            <a:ext cx="8046720" cy="292608"/>
          </a:xfrm>
          <a:prstGeom prst="rect">
            <a:avLst/>
          </a:prstGeom>
          <a:noFill/>
          <a:ln/>
        </p:spPr>
        <p:txBody>
          <a:bodyPr wrap="square" lIns="0" tIns="0" rIns="0" bIns="0" rtlCol="0" anchor="ctr"/>
          <a:lstStyle/>
          <a:p>
            <a:pPr indent="0" marL="0">
              <a:buNone/>
            </a:pPr>
            <a:r>
              <a:rPr lang="en-US" sz="1300" b="1" dirty="0">
                <a:solidFill>
                  <a:srgbClr val="065A82"/>
                </a:solidFill>
                <a:latin typeface="Georgia" pitchFamily="34" charset="0"/>
                <a:ea typeface="Georgia" pitchFamily="34" charset="-122"/>
                <a:cs typeface="Georgia" pitchFamily="34" charset="-120"/>
              </a:rPr>
              <a:t>Property Sections (per material class)</a:t>
            </a:r>
            <a:endParaRPr lang="en-US" sz="1300" dirty="0"/>
          </a:p>
        </p:txBody>
      </p:sp>
      <p:sp>
        <p:nvSpPr>
          <p:cNvPr id="22" name="Shape 20"/>
          <p:cNvSpPr/>
          <p:nvPr/>
        </p:nvSpPr>
        <p:spPr>
          <a:xfrm>
            <a:off x="548640" y="3182112"/>
            <a:ext cx="1572768" cy="384048"/>
          </a:xfrm>
          <a:prstGeom prst="rect">
            <a:avLst/>
          </a:prstGeom>
          <a:solidFill>
            <a:srgbClr val="EEF5FA"/>
          </a:solidFill>
          <a:ln w="12700">
            <a:solidFill>
              <a:srgbClr val="C8DDE8"/>
            </a:solidFill>
            <a:prstDash val="solid"/>
          </a:ln>
        </p:spPr>
      </p:sp>
      <p:sp>
        <p:nvSpPr>
          <p:cNvPr id="23" name="Text 21"/>
          <p:cNvSpPr/>
          <p:nvPr/>
        </p:nvSpPr>
        <p:spPr>
          <a:xfrm>
            <a:off x="548640"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Mechanical</a:t>
            </a:r>
            <a:endParaRPr lang="en-US" sz="900" dirty="0"/>
          </a:p>
        </p:txBody>
      </p:sp>
      <p:sp>
        <p:nvSpPr>
          <p:cNvPr id="24" name="Shape 22"/>
          <p:cNvSpPr/>
          <p:nvPr/>
        </p:nvSpPr>
        <p:spPr>
          <a:xfrm>
            <a:off x="2212848" y="3182112"/>
            <a:ext cx="1572768" cy="384048"/>
          </a:xfrm>
          <a:prstGeom prst="rect">
            <a:avLst/>
          </a:prstGeom>
          <a:solidFill>
            <a:srgbClr val="EEF5FA"/>
          </a:solidFill>
          <a:ln w="12700">
            <a:solidFill>
              <a:srgbClr val="C8DDE8"/>
            </a:solidFill>
            <a:prstDash val="solid"/>
          </a:ln>
        </p:spPr>
      </p:sp>
      <p:sp>
        <p:nvSpPr>
          <p:cNvPr id="25" name="Text 23"/>
          <p:cNvSpPr/>
          <p:nvPr/>
        </p:nvSpPr>
        <p:spPr>
          <a:xfrm>
            <a:off x="2212848"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Thermal</a:t>
            </a:r>
            <a:endParaRPr lang="en-US" sz="900" dirty="0"/>
          </a:p>
        </p:txBody>
      </p:sp>
      <p:sp>
        <p:nvSpPr>
          <p:cNvPr id="26" name="Shape 24"/>
          <p:cNvSpPr/>
          <p:nvPr/>
        </p:nvSpPr>
        <p:spPr>
          <a:xfrm>
            <a:off x="3877056" y="3182112"/>
            <a:ext cx="1572768" cy="384048"/>
          </a:xfrm>
          <a:prstGeom prst="rect">
            <a:avLst/>
          </a:prstGeom>
          <a:solidFill>
            <a:srgbClr val="EEF5FA"/>
          </a:solidFill>
          <a:ln w="12700">
            <a:solidFill>
              <a:srgbClr val="C8DDE8"/>
            </a:solidFill>
            <a:prstDash val="solid"/>
          </a:ln>
        </p:spPr>
      </p:sp>
      <p:sp>
        <p:nvSpPr>
          <p:cNvPr id="27" name="Text 25"/>
          <p:cNvSpPr/>
          <p:nvPr/>
        </p:nvSpPr>
        <p:spPr>
          <a:xfrm>
            <a:off x="3877056"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Electrical</a:t>
            </a:r>
            <a:endParaRPr lang="en-US" sz="900" dirty="0"/>
          </a:p>
        </p:txBody>
      </p:sp>
      <p:sp>
        <p:nvSpPr>
          <p:cNvPr id="28" name="Shape 26"/>
          <p:cNvSpPr/>
          <p:nvPr/>
        </p:nvSpPr>
        <p:spPr>
          <a:xfrm>
            <a:off x="5541264" y="3182112"/>
            <a:ext cx="1572768" cy="384048"/>
          </a:xfrm>
          <a:prstGeom prst="rect">
            <a:avLst/>
          </a:prstGeom>
          <a:solidFill>
            <a:srgbClr val="EEF5FA"/>
          </a:solidFill>
          <a:ln w="12700">
            <a:solidFill>
              <a:srgbClr val="C8DDE8"/>
            </a:solidFill>
            <a:prstDash val="solid"/>
          </a:ln>
        </p:spPr>
      </p:sp>
      <p:sp>
        <p:nvSpPr>
          <p:cNvPr id="29" name="Text 27"/>
          <p:cNvSpPr/>
          <p:nvPr/>
        </p:nvSpPr>
        <p:spPr>
          <a:xfrm>
            <a:off x="5541264"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Physical</a:t>
            </a:r>
            <a:endParaRPr lang="en-US" sz="900" dirty="0"/>
          </a:p>
        </p:txBody>
      </p:sp>
      <p:sp>
        <p:nvSpPr>
          <p:cNvPr id="30" name="Shape 28"/>
          <p:cNvSpPr/>
          <p:nvPr/>
        </p:nvSpPr>
        <p:spPr>
          <a:xfrm>
            <a:off x="7205472" y="3182112"/>
            <a:ext cx="1572768" cy="384048"/>
          </a:xfrm>
          <a:prstGeom prst="rect">
            <a:avLst/>
          </a:prstGeom>
          <a:solidFill>
            <a:srgbClr val="EEF5FA"/>
          </a:solidFill>
          <a:ln w="12700">
            <a:solidFill>
              <a:srgbClr val="C8DDE8"/>
            </a:solidFill>
            <a:prstDash val="solid"/>
          </a:ln>
        </p:spPr>
      </p:sp>
      <p:sp>
        <p:nvSpPr>
          <p:cNvPr id="31" name="Text 29"/>
          <p:cNvSpPr/>
          <p:nvPr/>
        </p:nvSpPr>
        <p:spPr>
          <a:xfrm>
            <a:off x="7205472" y="3182112"/>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Optical</a:t>
            </a:r>
            <a:endParaRPr lang="en-US" sz="900" dirty="0"/>
          </a:p>
        </p:txBody>
      </p:sp>
      <p:sp>
        <p:nvSpPr>
          <p:cNvPr id="32" name="Shape 30"/>
          <p:cNvSpPr/>
          <p:nvPr/>
        </p:nvSpPr>
        <p:spPr>
          <a:xfrm>
            <a:off x="548640" y="3657600"/>
            <a:ext cx="1572768" cy="384048"/>
          </a:xfrm>
          <a:prstGeom prst="rect">
            <a:avLst/>
          </a:prstGeom>
          <a:solidFill>
            <a:srgbClr val="EEF5FA"/>
          </a:solidFill>
          <a:ln w="12700">
            <a:solidFill>
              <a:srgbClr val="C8DDE8"/>
            </a:solidFill>
            <a:prstDash val="solid"/>
          </a:ln>
        </p:spPr>
      </p:sp>
      <p:sp>
        <p:nvSpPr>
          <p:cNvPr id="33" name="Text 31"/>
          <p:cNvSpPr/>
          <p:nvPr/>
        </p:nvSpPr>
        <p:spPr>
          <a:xfrm>
            <a:off x="548640" y="3657600"/>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Rheological</a:t>
            </a:r>
            <a:endParaRPr lang="en-US" sz="900" dirty="0"/>
          </a:p>
        </p:txBody>
      </p:sp>
      <p:sp>
        <p:nvSpPr>
          <p:cNvPr id="34" name="Shape 32"/>
          <p:cNvSpPr/>
          <p:nvPr/>
        </p:nvSpPr>
        <p:spPr>
          <a:xfrm>
            <a:off x="2212848" y="3657600"/>
            <a:ext cx="1572768" cy="384048"/>
          </a:xfrm>
          <a:prstGeom prst="rect">
            <a:avLst/>
          </a:prstGeom>
          <a:solidFill>
            <a:srgbClr val="EEF5FA"/>
          </a:solidFill>
          <a:ln w="12700">
            <a:solidFill>
              <a:srgbClr val="C8DDE8"/>
            </a:solidFill>
            <a:prstDash val="solid"/>
          </a:ln>
        </p:spPr>
      </p:sp>
      <p:sp>
        <p:nvSpPr>
          <p:cNvPr id="35" name="Text 33"/>
          <p:cNvSpPr/>
          <p:nvPr/>
        </p:nvSpPr>
        <p:spPr>
          <a:xfrm>
            <a:off x="2212848" y="3657600"/>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Processing</a:t>
            </a:r>
            <a:endParaRPr lang="en-US" sz="900" dirty="0"/>
          </a:p>
        </p:txBody>
      </p:sp>
      <p:sp>
        <p:nvSpPr>
          <p:cNvPr id="36" name="Shape 34"/>
          <p:cNvSpPr/>
          <p:nvPr/>
        </p:nvSpPr>
        <p:spPr>
          <a:xfrm>
            <a:off x="3877056" y="3657600"/>
            <a:ext cx="1572768" cy="384048"/>
          </a:xfrm>
          <a:prstGeom prst="rect">
            <a:avLst/>
          </a:prstGeom>
          <a:solidFill>
            <a:srgbClr val="EEF5FA"/>
          </a:solidFill>
          <a:ln w="12700">
            <a:solidFill>
              <a:srgbClr val="C8DDE8"/>
            </a:solidFill>
            <a:prstDash val="solid"/>
          </a:ln>
        </p:spPr>
      </p:sp>
      <p:sp>
        <p:nvSpPr>
          <p:cNvPr id="37" name="Text 35"/>
          <p:cNvSpPr/>
          <p:nvPr/>
        </p:nvSpPr>
        <p:spPr>
          <a:xfrm>
            <a:off x="3877056" y="3657600"/>
            <a:ext cx="1572768" cy="384048"/>
          </a:xfrm>
          <a:prstGeom prst="rect">
            <a:avLst/>
          </a:prstGeom>
          <a:noFill/>
          <a:ln/>
        </p:spPr>
        <p:txBody>
          <a:bodyPr wrap="square" lIns="0" tIns="0" rIns="0" bIns="0" rtlCol="0" anchor="ctr"/>
          <a:lstStyle/>
          <a:p>
            <a:pPr algn="ctr" indent="0" marL="0">
              <a:buNone/>
            </a:pPr>
            <a:r>
              <a:rPr lang="en-US" sz="900" dirty="0">
                <a:solidFill>
                  <a:srgbClr val="1A2E3B"/>
                </a:solidFill>
                <a:latin typeface="Calibri" pitchFamily="34" charset="0"/>
                <a:ea typeface="Calibri" pitchFamily="34" charset="-122"/>
                <a:cs typeface="Calibri" pitchFamily="34" charset="-120"/>
              </a:rPr>
              <a:t>Descriptive</a:t>
            </a:r>
            <a:endParaRPr lang="en-US" sz="900" dirty="0"/>
          </a:p>
        </p:txBody>
      </p:sp>
      <p:sp>
        <p:nvSpPr>
          <p:cNvPr id="38" name="Shape 36"/>
          <p:cNvSpPr/>
          <p:nvPr/>
        </p:nvSpPr>
        <p:spPr>
          <a:xfrm>
            <a:off x="5541264" y="3657600"/>
            <a:ext cx="1572768" cy="384048"/>
          </a:xfrm>
          <a:prstGeom prst="rect">
            <a:avLst/>
          </a:prstGeom>
          <a:solidFill>
            <a:srgbClr val="FFF3CD"/>
          </a:solidFill>
          <a:ln w="12700">
            <a:solidFill>
              <a:srgbClr val="F9A825"/>
            </a:solidFill>
            <a:prstDash val="solid"/>
          </a:ln>
        </p:spPr>
      </p:sp>
      <p:sp>
        <p:nvSpPr>
          <p:cNvPr id="39" name="Text 37"/>
          <p:cNvSpPr/>
          <p:nvPr/>
        </p:nvSpPr>
        <p:spPr>
          <a:xfrm>
            <a:off x="5541264" y="3657600"/>
            <a:ext cx="1572768" cy="384048"/>
          </a:xfrm>
          <a:prstGeom prst="rect">
            <a:avLst/>
          </a:prstGeom>
          <a:noFill/>
          <a:ln/>
        </p:spPr>
        <p:txBody>
          <a:bodyPr wrap="square" lIns="0" tIns="0" rIns="0" bIns="0" rtlCol="0" anchor="ctr"/>
          <a:lstStyle/>
          <a:p>
            <a:pPr algn="ctr" indent="0" marL="0">
              <a:buNone/>
            </a:pPr>
            <a:r>
              <a:rPr lang="en-US" sz="900" dirty="0">
                <a:solidFill>
                  <a:srgbClr val="856404"/>
                </a:solidFill>
                <a:latin typeface="Calibri" pitchFamily="34" charset="0"/>
                <a:ea typeface="Calibri" pitchFamily="34" charset="-122"/>
                <a:cs typeface="Calibri" pitchFamily="34" charset="-120"/>
              </a:rPr>
              <a:t>Composition / Reinforcement</a:t>
            </a:r>
            <a:endParaRPr lang="en-US" sz="900" dirty="0"/>
          </a:p>
        </p:txBody>
      </p:sp>
      <p:sp>
        <p:nvSpPr>
          <p:cNvPr id="40" name="Shape 38"/>
          <p:cNvSpPr/>
          <p:nvPr/>
        </p:nvSpPr>
        <p:spPr>
          <a:xfrm>
            <a:off x="7205472" y="3657600"/>
            <a:ext cx="1572768" cy="384048"/>
          </a:xfrm>
          <a:prstGeom prst="rect">
            <a:avLst/>
          </a:prstGeom>
          <a:solidFill>
            <a:srgbClr val="FFF3CD"/>
          </a:solidFill>
          <a:ln w="12700">
            <a:solidFill>
              <a:srgbClr val="F9A825"/>
            </a:solidFill>
            <a:prstDash val="solid"/>
          </a:ln>
        </p:spPr>
      </p:sp>
      <p:sp>
        <p:nvSpPr>
          <p:cNvPr id="41" name="Text 39"/>
          <p:cNvSpPr/>
          <p:nvPr/>
        </p:nvSpPr>
        <p:spPr>
          <a:xfrm>
            <a:off x="7205472" y="3657600"/>
            <a:ext cx="1572768" cy="384048"/>
          </a:xfrm>
          <a:prstGeom prst="rect">
            <a:avLst/>
          </a:prstGeom>
          <a:noFill/>
          <a:ln/>
        </p:spPr>
        <p:txBody>
          <a:bodyPr wrap="square" lIns="0" tIns="0" rIns="0" bIns="0" rtlCol="0" anchor="ctr"/>
          <a:lstStyle/>
          <a:p>
            <a:pPr algn="ctr" indent="0" marL="0">
              <a:buNone/>
            </a:pPr>
            <a:r>
              <a:rPr lang="en-US" sz="900" dirty="0">
                <a:solidFill>
                  <a:srgbClr val="856404"/>
                </a:solidFill>
                <a:latin typeface="Calibri" pitchFamily="34" charset="0"/>
                <a:ea typeface="Calibri" pitchFamily="34" charset="-122"/>
                <a:cs typeface="Calibri" pitchFamily="34" charset="-120"/>
              </a:rPr>
              <a:t>Architecture / Structure</a:t>
            </a:r>
            <a:endParaRPr lang="en-US" sz="900" dirty="0"/>
          </a:p>
        </p:txBody>
      </p:sp>
      <p:sp>
        <p:nvSpPr>
          <p:cNvPr id="42" name="Text 40"/>
          <p:cNvSpPr/>
          <p:nvPr/>
        </p:nvSpPr>
        <p:spPr>
          <a:xfrm>
            <a:off x="6858000" y="4462272"/>
            <a:ext cx="1828800" cy="201168"/>
          </a:xfrm>
          <a:prstGeom prst="rect">
            <a:avLst/>
          </a:prstGeom>
          <a:noFill/>
          <a:ln/>
        </p:spPr>
        <p:txBody>
          <a:bodyPr wrap="square" lIns="0" tIns="0" rIns="0" bIns="0" rtlCol="0" anchor="ctr"/>
          <a:lstStyle/>
          <a:p>
            <a:pPr indent="0" marL="0">
              <a:buNone/>
            </a:pPr>
            <a:r>
              <a:rPr lang="en-US" sz="800" dirty="0">
                <a:solidFill>
                  <a:srgbClr val="7F9BAD"/>
                </a:solidFill>
                <a:latin typeface="Calibri" pitchFamily="34" charset="0"/>
                <a:ea typeface="Calibri" pitchFamily="34" charset="-122"/>
                <a:cs typeface="Calibri" pitchFamily="34" charset="-120"/>
              </a:rPr>
              <a:t>* Composites only</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1B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9A825"/>
          </a:solidFill>
          <a:ln w="12700">
            <a:solidFill>
              <a:srgbClr val="F9A825"/>
            </a:solidFill>
            <a:prstDash val="solid"/>
          </a:ln>
        </p:spPr>
      </p:sp>
      <p:sp>
        <p:nvSpPr>
          <p:cNvPr id="3" name="Shape 1"/>
          <p:cNvSpPr/>
          <p:nvPr/>
        </p:nvSpPr>
        <p:spPr>
          <a:xfrm>
            <a:off x="201168" y="0"/>
            <a:ext cx="91440" cy="5143500"/>
          </a:xfrm>
          <a:prstGeom prst="rect">
            <a:avLst/>
          </a:prstGeom>
          <a:solidFill>
            <a:srgbClr val="B8860B"/>
          </a:solidFill>
          <a:ln w="12700">
            <a:solidFill>
              <a:srgbClr val="B8860B"/>
            </a:solidFill>
            <a:prstDash val="solid"/>
          </a:ln>
        </p:spPr>
      </p:sp>
      <p:sp>
        <p:nvSpPr>
          <p:cNvPr id="4" name="Shape 2"/>
          <p:cNvSpPr/>
          <p:nvPr/>
        </p:nvSpPr>
        <p:spPr>
          <a:xfrm>
            <a:off x="502920" y="822960"/>
            <a:ext cx="2011680" cy="384048"/>
          </a:xfrm>
          <a:prstGeom prst="rect">
            <a:avLst/>
          </a:prstGeom>
          <a:solidFill>
            <a:srgbClr val="F9A825"/>
          </a:solidFill>
          <a:ln w="12700">
            <a:solidFill>
              <a:srgbClr val="F9A825"/>
            </a:solidFill>
            <a:prstDash val="solid"/>
          </a:ln>
        </p:spPr>
      </p:sp>
      <p:sp>
        <p:nvSpPr>
          <p:cNvPr id="5" name="Text 3"/>
          <p:cNvSpPr/>
          <p:nvPr/>
        </p:nvSpPr>
        <p:spPr>
          <a:xfrm>
            <a:off x="502920" y="822960"/>
            <a:ext cx="2011680" cy="384048"/>
          </a:xfrm>
          <a:prstGeom prst="rect">
            <a:avLst/>
          </a:prstGeom>
          <a:noFill/>
          <a:ln/>
        </p:spPr>
        <p:txBody>
          <a:bodyPr wrap="square" lIns="0" tIns="0" rIns="0" bIns="0" rtlCol="0" anchor="ctr"/>
          <a:lstStyle/>
          <a:p>
            <a:pPr algn="ctr" indent="0" marL="0">
              <a:buNone/>
            </a:pPr>
            <a:r>
              <a:rPr lang="en-US" sz="1300" b="1" dirty="0">
                <a:solidFill>
                  <a:srgbClr val="021B2E"/>
                </a:solidFill>
                <a:latin typeface="Calibri" pitchFamily="34" charset="0"/>
                <a:ea typeface="Calibri" pitchFamily="34" charset="-122"/>
                <a:cs typeface="Calibri" pitchFamily="34" charset="-120"/>
              </a:rPr>
              <a:t>&gt;&gt; LIVE DEMO</a:t>
            </a:r>
            <a:endParaRPr lang="en-US" sz="1300" dirty="0"/>
          </a:p>
        </p:txBody>
      </p:sp>
      <p:sp>
        <p:nvSpPr>
          <p:cNvPr id="6" name="Text 4"/>
          <p:cNvSpPr/>
          <p:nvPr/>
        </p:nvSpPr>
        <p:spPr>
          <a:xfrm>
            <a:off x="502920" y="1298448"/>
            <a:ext cx="6400800" cy="1645920"/>
          </a:xfrm>
          <a:prstGeom prst="rect">
            <a:avLst/>
          </a:prstGeom>
          <a:noFill/>
          <a:ln/>
        </p:spPr>
        <p:txBody>
          <a:bodyPr wrap="square"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AIM Composites</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Materials Database</a:t>
            </a:r>
            <a:endParaRPr lang="en-US" sz="4000" dirty="0"/>
          </a:p>
        </p:txBody>
      </p:sp>
      <p:sp>
        <p:nvSpPr>
          <p:cNvPr id="7" name="Text 5"/>
          <p:cNvSpPr/>
          <p:nvPr/>
        </p:nvSpPr>
        <p:spPr>
          <a:xfrm>
            <a:off x="502920" y="2971800"/>
            <a:ext cx="7772400" cy="347472"/>
          </a:xfrm>
          <a:prstGeom prst="rect">
            <a:avLst/>
          </a:prstGeom>
          <a:noFill/>
          <a:ln/>
        </p:spPr>
        <p:txBody>
          <a:bodyPr wrap="square" lIns="0" tIns="0" rIns="0" bIns="0" rtlCol="0" anchor="ctr"/>
          <a:lstStyle/>
          <a:p>
            <a:pPr indent="0" marL="0">
              <a:buNone/>
            </a:pPr>
            <a:r>
              <a:rPr lang="en-US" sz="1300" dirty="0">
                <a:solidFill>
                  <a:srgbClr val="F9A825"/>
                </a:solidFill>
                <a:latin typeface="Calibri" pitchFamily="34" charset="0"/>
                <a:ea typeface="Calibri" pitchFamily="34" charset="-122"/>
                <a:cs typeface="Calibri" pitchFamily="34" charset="-120"/>
              </a:rPr>
              <a:t>huggingface.co/spaces/aim4composites/MaterialsDatabase</a:t>
            </a:r>
            <a:endParaRPr lang="en-US" sz="1300" dirty="0"/>
          </a:p>
        </p:txBody>
      </p:sp>
      <p:sp>
        <p:nvSpPr>
          <p:cNvPr id="8" name="Shape 6"/>
          <p:cNvSpPr/>
          <p:nvPr/>
        </p:nvSpPr>
        <p:spPr>
          <a:xfrm>
            <a:off x="502920" y="3383280"/>
            <a:ext cx="6858000" cy="36576"/>
          </a:xfrm>
          <a:prstGeom prst="rect">
            <a:avLst/>
          </a:prstGeom>
          <a:solidFill>
            <a:srgbClr val="B8860B"/>
          </a:solidFill>
          <a:ln w="12700">
            <a:solidFill>
              <a:srgbClr val="B8860B"/>
            </a:solidFill>
            <a:prstDash val="solid"/>
          </a:ln>
        </p:spPr>
      </p:sp>
      <p:sp>
        <p:nvSpPr>
          <p:cNvPr id="9" name="Text 7"/>
          <p:cNvSpPr/>
          <p:nvPr/>
        </p:nvSpPr>
        <p:spPr>
          <a:xfrm>
            <a:off x="502920" y="3520440"/>
            <a:ext cx="7772400" cy="274320"/>
          </a:xfrm>
          <a:prstGeom prst="rect">
            <a:avLst/>
          </a:prstGeom>
          <a:noFill/>
          <a:ln/>
        </p:spPr>
        <p:txBody>
          <a:bodyPr wrap="square" lIns="0" tIns="0" rIns="0" bIns="0" rtlCol="0" anchor="ctr"/>
          <a:lstStyle/>
          <a:p>
            <a:pPr indent="0" marL="0">
              <a:buNone/>
            </a:pPr>
            <a:r>
              <a:rPr lang="en-US" sz="1100" dirty="0">
                <a:solidFill>
                  <a:srgbClr val="9EC8E0"/>
                </a:solidFill>
                <a:latin typeface="Calibri" pitchFamily="34" charset="0"/>
                <a:ea typeface="Calibri" pitchFamily="34" charset="-122"/>
                <a:cs typeface="Calibri" pitchFamily="34" charset="-120"/>
              </a:rPr>
              <a:t>1   Browse polymers -&gt; inspect PEEK properties</a:t>
            </a:r>
            <a:endParaRPr lang="en-US" sz="1100" dirty="0"/>
          </a:p>
        </p:txBody>
      </p:sp>
      <p:sp>
        <p:nvSpPr>
          <p:cNvPr id="10" name="Text 8"/>
          <p:cNvSpPr/>
          <p:nvPr/>
        </p:nvSpPr>
        <p:spPr>
          <a:xfrm>
            <a:off x="502920" y="3822192"/>
            <a:ext cx="7772400" cy="274320"/>
          </a:xfrm>
          <a:prstGeom prst="rect">
            <a:avLst/>
          </a:prstGeom>
          <a:noFill/>
          <a:ln/>
        </p:spPr>
        <p:txBody>
          <a:bodyPr wrap="square" lIns="0" tIns="0" rIns="0" bIns="0" rtlCol="0" anchor="ctr"/>
          <a:lstStyle/>
          <a:p>
            <a:pPr indent="0" marL="0">
              <a:buNone/>
            </a:pPr>
            <a:r>
              <a:rPr lang="en-US" sz="1100" dirty="0">
                <a:solidFill>
                  <a:srgbClr val="9EC8E0"/>
                </a:solidFill>
                <a:latin typeface="Calibri" pitchFamily="34" charset="0"/>
                <a:ea typeface="Calibri" pitchFamily="34" charset="-122"/>
                <a:cs typeface="Calibri" pitchFamily="34" charset="-120"/>
              </a:rPr>
              <a:t>2   Upload a PDF datasheet -&gt; review Gemini extraction</a:t>
            </a:r>
            <a:endParaRPr lang="en-US" sz="1100" dirty="0"/>
          </a:p>
        </p:txBody>
      </p:sp>
      <p:sp>
        <p:nvSpPr>
          <p:cNvPr id="11" name="Text 9"/>
          <p:cNvSpPr/>
          <p:nvPr/>
        </p:nvSpPr>
        <p:spPr>
          <a:xfrm>
            <a:off x="502920" y="4123944"/>
            <a:ext cx="7772400" cy="274320"/>
          </a:xfrm>
          <a:prstGeom prst="rect">
            <a:avLst/>
          </a:prstGeom>
          <a:noFill/>
          <a:ln/>
        </p:spPr>
        <p:txBody>
          <a:bodyPr wrap="square" lIns="0" tIns="0" rIns="0" bIns="0" rtlCol="0" anchor="ctr"/>
          <a:lstStyle/>
          <a:p>
            <a:pPr indent="0" marL="0">
              <a:buNone/>
            </a:pPr>
            <a:r>
              <a:rPr lang="en-US" sz="1100" dirty="0">
                <a:solidFill>
                  <a:srgbClr val="9EC8E0"/>
                </a:solidFill>
                <a:latin typeface="Calibri" pitchFamily="34" charset="0"/>
                <a:ea typeface="Calibri" pitchFamily="34" charset="-122"/>
                <a:cs typeface="Calibri" pitchFamily="34" charset="-120"/>
              </a:rPr>
              <a:t>3   Map a figure to a property row</a:t>
            </a:r>
            <a:endParaRPr lang="en-US" sz="1100" dirty="0"/>
          </a:p>
        </p:txBody>
      </p:sp>
      <p:sp>
        <p:nvSpPr>
          <p:cNvPr id="12" name="Text 10"/>
          <p:cNvSpPr/>
          <p:nvPr/>
        </p:nvSpPr>
        <p:spPr>
          <a:xfrm>
            <a:off x="502920" y="4425696"/>
            <a:ext cx="7772400" cy="274320"/>
          </a:xfrm>
          <a:prstGeom prst="rect">
            <a:avLst/>
          </a:prstGeom>
          <a:noFill/>
          <a:ln/>
        </p:spPr>
        <p:txBody>
          <a:bodyPr wrap="square" lIns="0" tIns="0" rIns="0" bIns="0" rtlCol="0" anchor="ctr"/>
          <a:lstStyle/>
          <a:p>
            <a:pPr indent="0" marL="0">
              <a:buNone/>
            </a:pPr>
            <a:r>
              <a:rPr lang="en-US" sz="1100" dirty="0">
                <a:solidFill>
                  <a:srgbClr val="9EC8E0"/>
                </a:solidFill>
                <a:latin typeface="Calibri" pitchFamily="34" charset="0"/>
                <a:ea typeface="Calibri" pitchFamily="34" charset="-122"/>
                <a:cs typeface="Calibri" pitchFamily="34" charset="-120"/>
              </a:rPr>
              <a:t>4   Run batch_ingest.py on a test corpus</a:t>
            </a:r>
            <a:endParaRPr lang="en-US" sz="1100" dirty="0"/>
          </a:p>
        </p:txBody>
      </p:sp>
      <p:sp>
        <p:nvSpPr>
          <p:cNvPr id="13" name="Shape 11"/>
          <p:cNvSpPr/>
          <p:nvPr/>
        </p:nvSpPr>
        <p:spPr>
          <a:xfrm>
            <a:off x="0" y="4887468"/>
            <a:ext cx="9144000" cy="256032"/>
          </a:xfrm>
          <a:prstGeom prst="rect">
            <a:avLst/>
          </a:prstGeom>
          <a:solidFill>
            <a:srgbClr val="1C7293"/>
          </a:solidFill>
          <a:ln w="12700">
            <a:solidFill>
              <a:srgbClr val="1C7293"/>
            </a:solidFill>
            <a:prstDash val="solid"/>
          </a:ln>
        </p:spPr>
      </p:sp>
      <p:sp>
        <p:nvSpPr>
          <p:cNvPr id="14" name="Text 12"/>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15" name="Text 13"/>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7 / LIVE DEMO (~7 min)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Closing the Loop -- Toward Autonomous Ingestion</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8 / Autonomous Ingestion</a:t>
            </a:r>
            <a:endParaRPr lang="en-US" sz="800" dirty="0"/>
          </a:p>
        </p:txBody>
      </p:sp>
      <p:sp>
        <p:nvSpPr>
          <p:cNvPr id="7" name="Shape 5"/>
          <p:cNvSpPr/>
          <p:nvPr/>
        </p:nvSpPr>
        <p:spPr>
          <a:xfrm>
            <a:off x="365760" y="987552"/>
            <a:ext cx="1920240" cy="2926080"/>
          </a:xfrm>
          <a:prstGeom prst="rect">
            <a:avLst/>
          </a:prstGeom>
          <a:solidFill>
            <a:srgbClr val="FFF8E1"/>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1920240" cy="457200"/>
          </a:xfrm>
          <a:prstGeom prst="rect">
            <a:avLst/>
          </a:prstGeom>
          <a:solidFill>
            <a:srgbClr val="065A82"/>
          </a:solidFill>
          <a:ln w="12700">
            <a:solidFill>
              <a:srgbClr val="065A82"/>
            </a:solidFill>
            <a:prstDash val="solid"/>
          </a:ln>
        </p:spPr>
      </p:sp>
      <p:sp>
        <p:nvSpPr>
          <p:cNvPr id="9" name="Text 7"/>
          <p:cNvSpPr/>
          <p:nvPr/>
        </p:nvSpPr>
        <p:spPr>
          <a:xfrm>
            <a:off x="365760" y="987552"/>
            <a:ext cx="1920240" cy="457200"/>
          </a:xfrm>
          <a:prstGeom prst="rect">
            <a:avLst/>
          </a:prstGeom>
          <a:noFill/>
          <a:ln/>
        </p:spPr>
        <p:txBody>
          <a:bodyPr wrap="square" lIns="0" tIns="0" rIns="0" bIns="0" rtlCol="0" anchor="ctr"/>
          <a:lstStyle/>
          <a:p>
            <a:pPr algn="ctr" indent="0" marL="0">
              <a:buNone/>
            </a:pPr>
            <a:r>
              <a:rPr lang="en-US" sz="2200" b="1" dirty="0">
                <a:solidFill>
                  <a:srgbClr val="F9A825"/>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438912" y="1499616"/>
            <a:ext cx="1773936" cy="347472"/>
          </a:xfrm>
          <a:prstGeom prst="rect">
            <a:avLst/>
          </a:prstGeom>
          <a:noFill/>
          <a:ln/>
        </p:spPr>
        <p:txBody>
          <a:bodyPr wrap="square" lIns="0" tIns="0" rIns="0" bIns="0" rtlCol="0" anchor="ctr"/>
          <a:lstStyle/>
          <a:p>
            <a:pPr algn="ctr" indent="0" marL="0">
              <a:buNone/>
            </a:pPr>
            <a:r>
              <a:rPr lang="en-US" sz="1200" b="1" dirty="0">
                <a:solidFill>
                  <a:srgbClr val="1A2E3B"/>
                </a:solidFill>
                <a:latin typeface="Calibri" pitchFamily="34" charset="0"/>
                <a:ea typeface="Calibri" pitchFamily="34" charset="-122"/>
                <a:cs typeface="Calibri" pitchFamily="34" charset="-120"/>
              </a:rPr>
              <a:t>DISCOVER</a:t>
            </a:r>
            <a:endParaRPr lang="en-US" sz="1200" dirty="0"/>
          </a:p>
        </p:txBody>
      </p:sp>
      <p:sp>
        <p:nvSpPr>
          <p:cNvPr id="11" name="Text 9"/>
          <p:cNvSpPr/>
          <p:nvPr/>
        </p:nvSpPr>
        <p:spPr>
          <a:xfrm>
            <a:off x="438912" y="1901952"/>
            <a:ext cx="1773936" cy="1481328"/>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Semantic Scholar</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OpenAlex | arXiv</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Relevance ranking + download</a:t>
            </a:r>
            <a:endParaRPr lang="en-US" sz="1000" dirty="0"/>
          </a:p>
        </p:txBody>
      </p:sp>
      <p:sp>
        <p:nvSpPr>
          <p:cNvPr id="12" name="Text 10"/>
          <p:cNvSpPr/>
          <p:nvPr/>
        </p:nvSpPr>
        <p:spPr>
          <a:xfrm>
            <a:off x="438912" y="3584448"/>
            <a:ext cx="1773936" cy="274320"/>
          </a:xfrm>
          <a:prstGeom prst="rect">
            <a:avLst/>
          </a:prstGeom>
          <a:noFill/>
          <a:ln/>
        </p:spPr>
        <p:txBody>
          <a:bodyPr wrap="square" lIns="0" tIns="0" rIns="0" bIns="0" rtlCol="0" anchor="ctr"/>
          <a:lstStyle/>
          <a:p>
            <a:pPr algn="ctr" indent="0" marL="0">
              <a:buNone/>
            </a:pPr>
            <a:r>
              <a:rPr lang="en-US" sz="1000" b="1" dirty="0">
                <a:solidFill>
                  <a:srgbClr val="F9A825"/>
                </a:solidFill>
                <a:latin typeface="Calibri" pitchFamily="34" charset="0"/>
                <a:ea typeface="Calibri" pitchFamily="34" charset="-122"/>
                <a:cs typeface="Calibri" pitchFamily="34" charset="-120"/>
              </a:rPr>
              <a:t>Planned</a:t>
            </a:r>
            <a:endParaRPr lang="en-US" sz="1000" dirty="0"/>
          </a:p>
        </p:txBody>
      </p:sp>
      <p:sp>
        <p:nvSpPr>
          <p:cNvPr id="13" name="Text 11"/>
          <p:cNvSpPr/>
          <p:nvPr/>
        </p:nvSpPr>
        <p:spPr>
          <a:xfrm>
            <a:off x="2286000" y="2103120"/>
            <a:ext cx="256032" cy="36576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2542032" y="987552"/>
            <a:ext cx="1920240" cy="292608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5" name="Shape 13"/>
          <p:cNvSpPr/>
          <p:nvPr/>
        </p:nvSpPr>
        <p:spPr>
          <a:xfrm>
            <a:off x="2542032" y="987552"/>
            <a:ext cx="1920240" cy="457200"/>
          </a:xfrm>
          <a:prstGeom prst="rect">
            <a:avLst/>
          </a:prstGeom>
          <a:solidFill>
            <a:srgbClr val="1C7293"/>
          </a:solidFill>
          <a:ln w="12700">
            <a:solidFill>
              <a:srgbClr val="1C7293"/>
            </a:solidFill>
            <a:prstDash val="solid"/>
          </a:ln>
        </p:spPr>
      </p:sp>
      <p:sp>
        <p:nvSpPr>
          <p:cNvPr id="16" name="Text 14"/>
          <p:cNvSpPr/>
          <p:nvPr/>
        </p:nvSpPr>
        <p:spPr>
          <a:xfrm>
            <a:off x="2542032" y="987552"/>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7" name="Text 15"/>
          <p:cNvSpPr/>
          <p:nvPr/>
        </p:nvSpPr>
        <p:spPr>
          <a:xfrm>
            <a:off x="2615184" y="1499616"/>
            <a:ext cx="1773936" cy="347472"/>
          </a:xfrm>
          <a:prstGeom prst="rect">
            <a:avLst/>
          </a:prstGeom>
          <a:noFill/>
          <a:ln/>
        </p:spPr>
        <p:txBody>
          <a:bodyPr wrap="square" lIns="0" tIns="0" rIns="0" bIns="0" rtlCol="0" anchor="ctr"/>
          <a:lstStyle/>
          <a:p>
            <a:pPr algn="ctr" indent="0" marL="0">
              <a:buNone/>
            </a:pPr>
            <a:r>
              <a:rPr lang="en-US" sz="1200" b="1" dirty="0">
                <a:solidFill>
                  <a:srgbClr val="1A2E3B"/>
                </a:solidFill>
                <a:latin typeface="Calibri" pitchFamily="34" charset="0"/>
                <a:ea typeface="Calibri" pitchFamily="34" charset="-122"/>
                <a:cs typeface="Calibri" pitchFamily="34" charset="-120"/>
              </a:rPr>
              <a:t>EXTRACT</a:t>
            </a:r>
            <a:endParaRPr lang="en-US" sz="1200" dirty="0"/>
          </a:p>
        </p:txBody>
      </p:sp>
      <p:sp>
        <p:nvSpPr>
          <p:cNvPr id="18" name="Text 16"/>
          <p:cNvSpPr/>
          <p:nvPr/>
        </p:nvSpPr>
        <p:spPr>
          <a:xfrm>
            <a:off x="2615184" y="1901952"/>
            <a:ext cx="1773936" cy="1481328"/>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Gemini 2.5 Flash</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Schema-typed JSON</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Production-ready today</a:t>
            </a:r>
            <a:endParaRPr lang="en-US" sz="1000" dirty="0"/>
          </a:p>
        </p:txBody>
      </p:sp>
      <p:sp>
        <p:nvSpPr>
          <p:cNvPr id="19" name="Text 17"/>
          <p:cNvSpPr/>
          <p:nvPr/>
        </p:nvSpPr>
        <p:spPr>
          <a:xfrm>
            <a:off x="2615184" y="3584448"/>
            <a:ext cx="1773936"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Ready</a:t>
            </a:r>
            <a:endParaRPr lang="en-US" sz="1000" dirty="0"/>
          </a:p>
        </p:txBody>
      </p:sp>
      <p:sp>
        <p:nvSpPr>
          <p:cNvPr id="20" name="Text 18"/>
          <p:cNvSpPr/>
          <p:nvPr/>
        </p:nvSpPr>
        <p:spPr>
          <a:xfrm>
            <a:off x="4462272" y="2103120"/>
            <a:ext cx="256032" cy="36576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21" name="Shape 19"/>
          <p:cNvSpPr/>
          <p:nvPr/>
        </p:nvSpPr>
        <p:spPr>
          <a:xfrm>
            <a:off x="4718304" y="987552"/>
            <a:ext cx="1920240" cy="292608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2" name="Shape 20"/>
          <p:cNvSpPr/>
          <p:nvPr/>
        </p:nvSpPr>
        <p:spPr>
          <a:xfrm>
            <a:off x="4718304" y="987552"/>
            <a:ext cx="1920240" cy="457200"/>
          </a:xfrm>
          <a:prstGeom prst="rect">
            <a:avLst/>
          </a:prstGeom>
          <a:solidFill>
            <a:srgbClr val="028090"/>
          </a:solidFill>
          <a:ln w="12700">
            <a:solidFill>
              <a:srgbClr val="028090"/>
            </a:solidFill>
            <a:prstDash val="solid"/>
          </a:ln>
        </p:spPr>
      </p:sp>
      <p:sp>
        <p:nvSpPr>
          <p:cNvPr id="23" name="Text 21"/>
          <p:cNvSpPr/>
          <p:nvPr/>
        </p:nvSpPr>
        <p:spPr>
          <a:xfrm>
            <a:off x="4718304" y="987552"/>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4" name="Text 22"/>
          <p:cNvSpPr/>
          <p:nvPr/>
        </p:nvSpPr>
        <p:spPr>
          <a:xfrm>
            <a:off x="4791456" y="1499616"/>
            <a:ext cx="1773936" cy="347472"/>
          </a:xfrm>
          <a:prstGeom prst="rect">
            <a:avLst/>
          </a:prstGeom>
          <a:noFill/>
          <a:ln/>
        </p:spPr>
        <p:txBody>
          <a:bodyPr wrap="square" lIns="0" tIns="0" rIns="0" bIns="0" rtlCol="0" anchor="ctr"/>
          <a:lstStyle/>
          <a:p>
            <a:pPr algn="ctr" indent="0" marL="0">
              <a:buNone/>
            </a:pPr>
            <a:r>
              <a:rPr lang="en-US" sz="1200" b="1" dirty="0">
                <a:solidFill>
                  <a:srgbClr val="1A2E3B"/>
                </a:solidFill>
                <a:latin typeface="Calibri" pitchFamily="34" charset="0"/>
                <a:ea typeface="Calibri" pitchFamily="34" charset="-122"/>
                <a:cs typeface="Calibri" pitchFamily="34" charset="-120"/>
              </a:rPr>
              <a:t>VALIDATE</a:t>
            </a:r>
            <a:endParaRPr lang="en-US" sz="1200" dirty="0"/>
          </a:p>
        </p:txBody>
      </p:sp>
      <p:sp>
        <p:nvSpPr>
          <p:cNvPr id="25" name="Text 23"/>
          <p:cNvSpPr/>
          <p:nvPr/>
        </p:nvSpPr>
        <p:spPr>
          <a:xfrm>
            <a:off x="4791456" y="1901952"/>
            <a:ext cx="1773936" cy="1481328"/>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Unit normalization</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Plausibility ranges</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Dedup by (material, prop, cond)</a:t>
            </a:r>
            <a:endParaRPr lang="en-US" sz="1000" dirty="0"/>
          </a:p>
        </p:txBody>
      </p:sp>
      <p:sp>
        <p:nvSpPr>
          <p:cNvPr id="26" name="Text 24"/>
          <p:cNvSpPr/>
          <p:nvPr/>
        </p:nvSpPr>
        <p:spPr>
          <a:xfrm>
            <a:off x="4791456" y="3584448"/>
            <a:ext cx="1773936"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Ready</a:t>
            </a:r>
            <a:endParaRPr lang="en-US" sz="1000" dirty="0"/>
          </a:p>
        </p:txBody>
      </p:sp>
      <p:sp>
        <p:nvSpPr>
          <p:cNvPr id="27" name="Text 25"/>
          <p:cNvSpPr/>
          <p:nvPr/>
        </p:nvSpPr>
        <p:spPr>
          <a:xfrm>
            <a:off x="6638544" y="2103120"/>
            <a:ext cx="256032" cy="36576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-&gt;</a:t>
            </a:r>
            <a:endParaRPr lang="en-US" sz="2000" dirty="0"/>
          </a:p>
        </p:txBody>
      </p:sp>
      <p:sp>
        <p:nvSpPr>
          <p:cNvPr id="28" name="Shape 26"/>
          <p:cNvSpPr/>
          <p:nvPr/>
        </p:nvSpPr>
        <p:spPr>
          <a:xfrm>
            <a:off x="6894576" y="987552"/>
            <a:ext cx="1920240" cy="292608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9" name="Shape 27"/>
          <p:cNvSpPr/>
          <p:nvPr/>
        </p:nvSpPr>
        <p:spPr>
          <a:xfrm>
            <a:off x="6894576" y="987552"/>
            <a:ext cx="1920240" cy="457200"/>
          </a:xfrm>
          <a:prstGeom prst="rect">
            <a:avLst/>
          </a:prstGeom>
          <a:solidFill>
            <a:srgbClr val="02C39A"/>
          </a:solidFill>
          <a:ln w="12700">
            <a:solidFill>
              <a:srgbClr val="02C39A"/>
            </a:solidFill>
            <a:prstDash val="solid"/>
          </a:ln>
        </p:spPr>
      </p:sp>
      <p:sp>
        <p:nvSpPr>
          <p:cNvPr id="30" name="Text 28"/>
          <p:cNvSpPr/>
          <p:nvPr/>
        </p:nvSpPr>
        <p:spPr>
          <a:xfrm>
            <a:off x="6894576" y="987552"/>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31" name="Text 29"/>
          <p:cNvSpPr/>
          <p:nvPr/>
        </p:nvSpPr>
        <p:spPr>
          <a:xfrm>
            <a:off x="6967728" y="1499616"/>
            <a:ext cx="1773936" cy="347472"/>
          </a:xfrm>
          <a:prstGeom prst="rect">
            <a:avLst/>
          </a:prstGeom>
          <a:noFill/>
          <a:ln/>
        </p:spPr>
        <p:txBody>
          <a:bodyPr wrap="square" lIns="0" tIns="0" rIns="0" bIns="0" rtlCol="0" anchor="ctr"/>
          <a:lstStyle/>
          <a:p>
            <a:pPr algn="ctr" indent="0" marL="0">
              <a:buNone/>
            </a:pPr>
            <a:r>
              <a:rPr lang="en-US" sz="1200" b="1" dirty="0">
                <a:solidFill>
                  <a:srgbClr val="1A2E3B"/>
                </a:solidFill>
                <a:latin typeface="Calibri" pitchFamily="34" charset="0"/>
                <a:ea typeface="Calibri" pitchFamily="34" charset="-122"/>
                <a:cs typeface="Calibri" pitchFamily="34" charset="-120"/>
              </a:rPr>
              <a:t>INSERT</a:t>
            </a:r>
            <a:endParaRPr lang="en-US" sz="1200" dirty="0"/>
          </a:p>
        </p:txBody>
      </p:sp>
      <p:sp>
        <p:nvSpPr>
          <p:cNvPr id="32" name="Text 30"/>
          <p:cNvSpPr/>
          <p:nvPr/>
        </p:nvSpPr>
        <p:spPr>
          <a:xfrm>
            <a:off x="6967728" y="1901952"/>
            <a:ext cx="1773936" cy="1481328"/>
          </a:xfrm>
          <a:prstGeom prst="rect">
            <a:avLst/>
          </a:prstGeom>
          <a:noFill/>
          <a:ln/>
        </p:spPr>
        <p:txBody>
          <a:bodyPr wrap="square" lIns="0" tIns="0" rIns="0" bIns="0" rtlCol="0" anchor="t"/>
          <a:lstStyle/>
          <a:p>
            <a:pPr algn="ctr" indent="0" marL="0">
              <a:buNone/>
            </a:pPr>
            <a:r>
              <a:rPr lang="en-US" sz="1000" dirty="0">
                <a:solidFill>
                  <a:srgbClr val="4A6278"/>
                </a:solidFill>
                <a:latin typeface="Calibri" pitchFamily="34" charset="0"/>
                <a:ea typeface="Calibri" pitchFamily="34" charset="-122"/>
                <a:cs typeface="Calibri" pitchFamily="34" charset="-120"/>
              </a:rPr>
              <a:t>Postgres write</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Provenance FK</a:t>
            </a:r>
            <a:endParaRPr lang="en-US" sz="1000" dirty="0"/>
          </a:p>
          <a:p>
            <a:pPr algn="ctr" indent="0" marL="0">
              <a:buNone/>
            </a:pPr>
            <a:r>
              <a:rPr lang="en-US" sz="1000" dirty="0">
                <a:solidFill>
                  <a:srgbClr val="4A6278"/>
                </a:solidFill>
                <a:latin typeface="Calibri" pitchFamily="34" charset="0"/>
                <a:ea typeface="Calibri" pitchFamily="34" charset="-122"/>
                <a:cs typeface="Calibri" pitchFamily="34" charset="-120"/>
              </a:rPr>
              <a:t>Failed rows -&gt; review queue</a:t>
            </a:r>
            <a:endParaRPr lang="en-US" sz="1000" dirty="0"/>
          </a:p>
        </p:txBody>
      </p:sp>
      <p:sp>
        <p:nvSpPr>
          <p:cNvPr id="33" name="Text 31"/>
          <p:cNvSpPr/>
          <p:nvPr/>
        </p:nvSpPr>
        <p:spPr>
          <a:xfrm>
            <a:off x="6967728" y="3584448"/>
            <a:ext cx="1773936" cy="274320"/>
          </a:xfrm>
          <a:prstGeom prst="rect">
            <a:avLst/>
          </a:prstGeom>
          <a:noFill/>
          <a:ln/>
        </p:spPr>
        <p:txBody>
          <a:bodyPr wrap="square" lIns="0" tIns="0" rIns="0" bIns="0" rtlCol="0" anchor="ctr"/>
          <a:lstStyle/>
          <a:p>
            <a:pPr algn="ctr" indent="0" marL="0">
              <a:buNone/>
            </a:pPr>
            <a:r>
              <a:rPr lang="en-US" sz="1000" b="1" dirty="0">
                <a:solidFill>
                  <a:srgbClr val="02C39A"/>
                </a:solidFill>
                <a:latin typeface="Calibri" pitchFamily="34" charset="0"/>
                <a:ea typeface="Calibri" pitchFamily="34" charset="-122"/>
                <a:cs typeface="Calibri" pitchFamily="34" charset="-120"/>
              </a:rPr>
              <a:t>Ready</a:t>
            </a:r>
            <a:endParaRPr lang="en-US" sz="1000" dirty="0"/>
          </a:p>
        </p:txBody>
      </p:sp>
      <p:sp>
        <p:nvSpPr>
          <p:cNvPr id="34" name="Shape 32"/>
          <p:cNvSpPr/>
          <p:nvPr/>
        </p:nvSpPr>
        <p:spPr>
          <a:xfrm>
            <a:off x="365760" y="3977640"/>
            <a:ext cx="8412480" cy="822960"/>
          </a:xfrm>
          <a:prstGeom prst="rect">
            <a:avLst/>
          </a:prstGeom>
          <a:solidFill>
            <a:srgbClr val="065A82"/>
          </a:solidFill>
          <a:ln w="12700">
            <a:solidFill>
              <a:srgbClr val="065A82"/>
            </a:solidFill>
            <a:prstDash val="solid"/>
          </a:ln>
        </p:spPr>
      </p:sp>
      <p:sp>
        <p:nvSpPr>
          <p:cNvPr id="35" name="Text 33"/>
          <p:cNvSpPr/>
          <p:nvPr/>
        </p:nvSpPr>
        <p:spPr>
          <a:xfrm>
            <a:off x="548640" y="4005072"/>
            <a:ext cx="8046720" cy="749808"/>
          </a:xfrm>
          <a:prstGeom prst="rect">
            <a:avLst/>
          </a:prstGeom>
          <a:noFill/>
          <a:ln/>
        </p:spPr>
        <p:txBody>
          <a:bodyPr wrap="square" lIns="0" tIns="0" rIns="0" bIns="0" rtlCol="0" anchor="ctr"/>
          <a:lstStyle/>
          <a:p>
            <a:pPr indent="0" marL="0">
              <a:buNone/>
            </a:pPr>
            <a:r>
              <a:rPr lang="en-US" sz="1000" dirty="0">
                <a:solidFill>
                  <a:srgbClr val="9EC8E0"/>
                </a:solidFill>
                <a:latin typeface="Calibri" pitchFamily="34" charset="0"/>
                <a:ea typeface="Calibri" pitchFamily="34" charset="-122"/>
                <a:cs typeface="Calibri" pitchFamily="34" charset="-120"/>
              </a:rPr>
              <a:t>Prototype today: batch_ingest.py covers steps 2-4 on a fixed PDF corpus, without source discovery. Commits to a SQLite mirror so the prototype runs offline without touching production Postgres.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Batch Ingestion Prototype -- Results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8 / Autonomous Ingestion</a:t>
            </a:r>
            <a:endParaRPr lang="en-US" sz="800" dirty="0"/>
          </a:p>
        </p:txBody>
      </p:sp>
      <p:sp>
        <p:nvSpPr>
          <p:cNvPr id="7" name="Shape 5"/>
          <p:cNvSpPr/>
          <p:nvPr/>
        </p:nvSpPr>
        <p:spPr>
          <a:xfrm>
            <a:off x="365760" y="987552"/>
            <a:ext cx="1920240" cy="22860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1920240" cy="457200"/>
          </a:xfrm>
          <a:prstGeom prst="rect">
            <a:avLst/>
          </a:prstGeom>
          <a:solidFill>
            <a:srgbClr val="065A82"/>
          </a:solidFill>
          <a:ln w="12700">
            <a:solidFill>
              <a:srgbClr val="065A82"/>
            </a:solidFill>
            <a:prstDash val="solid"/>
          </a:ln>
        </p:spPr>
      </p:sp>
      <p:sp>
        <p:nvSpPr>
          <p:cNvPr id="9" name="Text 7"/>
          <p:cNvSpPr/>
          <p:nvPr/>
        </p:nvSpPr>
        <p:spPr>
          <a:xfrm>
            <a:off x="365760" y="1481328"/>
            <a:ext cx="1920240" cy="749808"/>
          </a:xfrm>
          <a:prstGeom prst="rect">
            <a:avLst/>
          </a:prstGeom>
          <a:noFill/>
          <a:ln/>
        </p:spPr>
        <p:txBody>
          <a:bodyPr wrap="square" lIns="0" tIns="0" rIns="0" bIns="0" rtlCol="0" anchor="ctr"/>
          <a:lstStyle/>
          <a:p>
            <a:pPr algn="ctr" indent="0" marL="0">
              <a:buNone/>
            </a:pPr>
            <a:r>
              <a:rPr lang="en-US" sz="3400" b="1" dirty="0">
                <a:solidFill>
                  <a:srgbClr val="065A82"/>
                </a:solidFill>
                <a:latin typeface="Georgia" pitchFamily="34" charset="0"/>
                <a:ea typeface="Georgia" pitchFamily="34" charset="-122"/>
                <a:cs typeface="Georgia" pitchFamily="34" charset="-120"/>
              </a:rPr>
              <a:t>10-25s</a:t>
            </a:r>
            <a:endParaRPr lang="en-US" sz="3400" dirty="0"/>
          </a:p>
        </p:txBody>
      </p:sp>
      <p:sp>
        <p:nvSpPr>
          <p:cNvPr id="10" name="Text 8"/>
          <p:cNvSpPr/>
          <p:nvPr/>
        </p:nvSpPr>
        <p:spPr>
          <a:xfrm>
            <a:off x="438912" y="2267712"/>
            <a:ext cx="1773936" cy="896112"/>
          </a:xfrm>
          <a:prstGeom prst="rect">
            <a:avLst/>
          </a:prstGeom>
          <a:noFill/>
          <a:ln/>
        </p:spPr>
        <p:txBody>
          <a:bodyPr wrap="square" lIns="0" tIns="0" rIns="0" bIns="0" rtlCol="0" anchor="t"/>
          <a:lstStyle/>
          <a:p>
            <a:pPr algn="ctr" indent="0" marL="0">
              <a:buNone/>
            </a:pPr>
            <a:r>
              <a:rPr lang="en-US" sz="950" dirty="0">
                <a:solidFill>
                  <a:srgbClr val="4A6278"/>
                </a:solidFill>
                <a:latin typeface="Calibri" pitchFamily="34" charset="0"/>
                <a:ea typeface="Calibri" pitchFamily="34" charset="-122"/>
                <a:cs typeface="Calibri" pitchFamily="34" charset="-120"/>
              </a:rPr>
              <a:t>per PDF</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(Gemini latency)</a:t>
            </a:r>
            <a:endParaRPr lang="en-US" sz="950" dirty="0"/>
          </a:p>
        </p:txBody>
      </p:sp>
      <p:sp>
        <p:nvSpPr>
          <p:cNvPr id="11" name="Shape 9"/>
          <p:cNvSpPr/>
          <p:nvPr/>
        </p:nvSpPr>
        <p:spPr>
          <a:xfrm>
            <a:off x="2514600" y="987552"/>
            <a:ext cx="1920240" cy="22860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2" name="Shape 10"/>
          <p:cNvSpPr/>
          <p:nvPr/>
        </p:nvSpPr>
        <p:spPr>
          <a:xfrm>
            <a:off x="2514600" y="987552"/>
            <a:ext cx="1920240" cy="457200"/>
          </a:xfrm>
          <a:prstGeom prst="rect">
            <a:avLst/>
          </a:prstGeom>
          <a:solidFill>
            <a:srgbClr val="1C7293"/>
          </a:solidFill>
          <a:ln w="12700">
            <a:solidFill>
              <a:srgbClr val="1C7293"/>
            </a:solidFill>
            <a:prstDash val="solid"/>
          </a:ln>
        </p:spPr>
      </p:sp>
      <p:sp>
        <p:nvSpPr>
          <p:cNvPr id="13" name="Text 11"/>
          <p:cNvSpPr/>
          <p:nvPr/>
        </p:nvSpPr>
        <p:spPr>
          <a:xfrm>
            <a:off x="2514600" y="1481328"/>
            <a:ext cx="1920240" cy="749808"/>
          </a:xfrm>
          <a:prstGeom prst="rect">
            <a:avLst/>
          </a:prstGeom>
          <a:noFill/>
          <a:ln/>
        </p:spPr>
        <p:txBody>
          <a:bodyPr wrap="square" lIns="0" tIns="0" rIns="0" bIns="0" rtlCol="0" anchor="ctr"/>
          <a:lstStyle/>
          <a:p>
            <a:pPr algn="ctr" indent="0" marL="0">
              <a:buNone/>
            </a:pPr>
            <a:r>
              <a:rPr lang="en-US" sz="3400" b="1" dirty="0">
                <a:solidFill>
                  <a:srgbClr val="1C7293"/>
                </a:solidFill>
                <a:latin typeface="Georgia" pitchFamily="34" charset="0"/>
                <a:ea typeface="Georgia" pitchFamily="34" charset="-122"/>
                <a:cs typeface="Georgia" pitchFamily="34" charset="-120"/>
              </a:rPr>
              <a:t>~15%</a:t>
            </a:r>
            <a:endParaRPr lang="en-US" sz="3400" dirty="0"/>
          </a:p>
        </p:txBody>
      </p:sp>
      <p:sp>
        <p:nvSpPr>
          <p:cNvPr id="14" name="Text 12"/>
          <p:cNvSpPr/>
          <p:nvPr/>
        </p:nvSpPr>
        <p:spPr>
          <a:xfrm>
            <a:off x="2587752" y="2267712"/>
            <a:ext cx="1773936" cy="896112"/>
          </a:xfrm>
          <a:prstGeom prst="rect">
            <a:avLst/>
          </a:prstGeom>
          <a:noFill/>
          <a:ln/>
        </p:spPr>
        <p:txBody>
          <a:bodyPr wrap="square" lIns="0" tIns="0" rIns="0" bIns="0" rtlCol="0" anchor="t"/>
          <a:lstStyle/>
          <a:p>
            <a:pPr algn="ctr" indent="0" marL="0">
              <a:buNone/>
            </a:pPr>
            <a:r>
              <a:rPr lang="en-US" sz="950" dirty="0">
                <a:solidFill>
                  <a:srgbClr val="4A6278"/>
                </a:solidFill>
                <a:latin typeface="Calibri" pitchFamily="34" charset="0"/>
                <a:ea typeface="Calibri" pitchFamily="34" charset="-122"/>
                <a:cs typeface="Calibri" pitchFamily="34" charset="-120"/>
              </a:rPr>
              <a:t>rows flagged:</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missing unit</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(mostly false positives)</a:t>
            </a:r>
            <a:endParaRPr lang="en-US" sz="950" dirty="0"/>
          </a:p>
        </p:txBody>
      </p:sp>
      <p:sp>
        <p:nvSpPr>
          <p:cNvPr id="15" name="Shape 13"/>
          <p:cNvSpPr/>
          <p:nvPr/>
        </p:nvSpPr>
        <p:spPr>
          <a:xfrm>
            <a:off x="4663440" y="987552"/>
            <a:ext cx="1920240" cy="22860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4663440" y="987552"/>
            <a:ext cx="1920240" cy="457200"/>
          </a:xfrm>
          <a:prstGeom prst="rect">
            <a:avLst/>
          </a:prstGeom>
          <a:solidFill>
            <a:srgbClr val="028090"/>
          </a:solidFill>
          <a:ln w="12700">
            <a:solidFill>
              <a:srgbClr val="028090"/>
            </a:solidFill>
            <a:prstDash val="solid"/>
          </a:ln>
        </p:spPr>
      </p:sp>
      <p:sp>
        <p:nvSpPr>
          <p:cNvPr id="17" name="Text 15"/>
          <p:cNvSpPr/>
          <p:nvPr/>
        </p:nvSpPr>
        <p:spPr>
          <a:xfrm>
            <a:off x="4663440" y="1481328"/>
            <a:ext cx="1920240" cy="749808"/>
          </a:xfrm>
          <a:prstGeom prst="rect">
            <a:avLst/>
          </a:prstGeom>
          <a:noFill/>
          <a:ln/>
        </p:spPr>
        <p:txBody>
          <a:bodyPr wrap="square" lIns="0" tIns="0" rIns="0" bIns="0" rtlCol="0" anchor="ctr"/>
          <a:lstStyle/>
          <a:p>
            <a:pPr algn="ctr" indent="0" marL="0">
              <a:buNone/>
            </a:pPr>
            <a:r>
              <a:rPr lang="en-US" sz="3400" b="1" dirty="0">
                <a:solidFill>
                  <a:srgbClr val="028090"/>
                </a:solidFill>
                <a:latin typeface="Georgia" pitchFamily="34" charset="0"/>
                <a:ea typeface="Georgia" pitchFamily="34" charset="-122"/>
                <a:cs typeface="Georgia" pitchFamily="34" charset="-120"/>
              </a:rPr>
              <a:t>5-10%</a:t>
            </a:r>
            <a:endParaRPr lang="en-US" sz="3400" dirty="0"/>
          </a:p>
        </p:txBody>
      </p:sp>
      <p:sp>
        <p:nvSpPr>
          <p:cNvPr id="18" name="Text 16"/>
          <p:cNvSpPr/>
          <p:nvPr/>
        </p:nvSpPr>
        <p:spPr>
          <a:xfrm>
            <a:off x="4736592" y="2267712"/>
            <a:ext cx="1773936" cy="896112"/>
          </a:xfrm>
          <a:prstGeom prst="rect">
            <a:avLst/>
          </a:prstGeom>
          <a:noFill/>
          <a:ln/>
        </p:spPr>
        <p:txBody>
          <a:bodyPr wrap="square" lIns="0" tIns="0" rIns="0" bIns="0" rtlCol="0" anchor="t"/>
          <a:lstStyle/>
          <a:p>
            <a:pPr algn="ctr" indent="0" marL="0">
              <a:buNone/>
            </a:pPr>
            <a:r>
              <a:rPr lang="en-US" sz="950" dirty="0">
                <a:solidFill>
                  <a:srgbClr val="4A6278"/>
                </a:solidFill>
                <a:latin typeface="Calibri" pitchFamily="34" charset="0"/>
                <a:ea typeface="Calibri" pitchFamily="34" charset="-122"/>
                <a:cs typeface="Calibri" pitchFamily="34" charset="-120"/>
              </a:rPr>
              <a:t>rows flagged:</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inline-unit value</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(real format issue)</a:t>
            </a:r>
            <a:endParaRPr lang="en-US" sz="950" dirty="0"/>
          </a:p>
        </p:txBody>
      </p:sp>
      <p:sp>
        <p:nvSpPr>
          <p:cNvPr id="19" name="Shape 17"/>
          <p:cNvSpPr/>
          <p:nvPr/>
        </p:nvSpPr>
        <p:spPr>
          <a:xfrm>
            <a:off x="6812280" y="987552"/>
            <a:ext cx="1920240" cy="2286000"/>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6812280" y="987552"/>
            <a:ext cx="1920240" cy="457200"/>
          </a:xfrm>
          <a:prstGeom prst="rect">
            <a:avLst/>
          </a:prstGeom>
          <a:solidFill>
            <a:srgbClr val="02C39A"/>
          </a:solidFill>
          <a:ln w="12700">
            <a:solidFill>
              <a:srgbClr val="02C39A"/>
            </a:solidFill>
            <a:prstDash val="solid"/>
          </a:ln>
        </p:spPr>
      </p:sp>
      <p:sp>
        <p:nvSpPr>
          <p:cNvPr id="21" name="Text 19"/>
          <p:cNvSpPr/>
          <p:nvPr/>
        </p:nvSpPr>
        <p:spPr>
          <a:xfrm>
            <a:off x="6812280" y="1481328"/>
            <a:ext cx="1920240" cy="749808"/>
          </a:xfrm>
          <a:prstGeom prst="rect">
            <a:avLst/>
          </a:prstGeom>
          <a:noFill/>
          <a:ln/>
        </p:spPr>
        <p:txBody>
          <a:bodyPr wrap="square" lIns="0" tIns="0" rIns="0" bIns="0" rtlCol="0" anchor="ctr"/>
          <a:lstStyle/>
          <a:p>
            <a:pPr algn="ctr" indent="0" marL="0">
              <a:buNone/>
            </a:pPr>
            <a:r>
              <a:rPr lang="en-US" sz="3400" b="1" dirty="0">
                <a:solidFill>
                  <a:srgbClr val="02C39A"/>
                </a:solidFill>
                <a:latin typeface="Georgia" pitchFamily="34" charset="0"/>
                <a:ea typeface="Georgia" pitchFamily="34" charset="-122"/>
                <a:cs typeface="Georgia" pitchFamily="34" charset="-120"/>
              </a:rPr>
              <a:t>0</a:t>
            </a:r>
            <a:endParaRPr lang="en-US" sz="3400" dirty="0"/>
          </a:p>
        </p:txBody>
      </p:sp>
      <p:sp>
        <p:nvSpPr>
          <p:cNvPr id="22" name="Text 20"/>
          <p:cNvSpPr/>
          <p:nvPr/>
        </p:nvSpPr>
        <p:spPr>
          <a:xfrm>
            <a:off x="6885432" y="2267712"/>
            <a:ext cx="1773936" cy="896112"/>
          </a:xfrm>
          <a:prstGeom prst="rect">
            <a:avLst/>
          </a:prstGeom>
          <a:noFill/>
          <a:ln/>
        </p:spPr>
        <p:txBody>
          <a:bodyPr wrap="square" lIns="0" tIns="0" rIns="0" bIns="0" rtlCol="0" anchor="t"/>
          <a:lstStyle/>
          <a:p>
            <a:pPr algn="ctr" indent="0" marL="0">
              <a:buNone/>
            </a:pPr>
            <a:r>
              <a:rPr lang="en-US" sz="950" dirty="0">
                <a:solidFill>
                  <a:srgbClr val="4A6278"/>
                </a:solidFill>
                <a:latin typeface="Calibri" pitchFamily="34" charset="0"/>
                <a:ea typeface="Calibri" pitchFamily="34" charset="-122"/>
                <a:cs typeface="Calibri" pitchFamily="34" charset="-120"/>
              </a:rPr>
              <a:t>new rows on</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re-ingest of</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same PDF</a:t>
            </a:r>
            <a:endParaRPr lang="en-US" sz="950" dirty="0"/>
          </a:p>
          <a:p>
            <a:pPr algn="ctr" indent="0" marL="0">
              <a:buNone/>
            </a:pPr>
            <a:r>
              <a:rPr lang="en-US" sz="950" dirty="0">
                <a:solidFill>
                  <a:srgbClr val="4A6278"/>
                </a:solidFill>
                <a:latin typeface="Calibri" pitchFamily="34" charset="0"/>
                <a:ea typeface="Calibri" pitchFamily="34" charset="-122"/>
                <a:cs typeface="Calibri" pitchFamily="34" charset="-120"/>
              </a:rPr>
              <a:t>(dedup works)</a:t>
            </a:r>
            <a:endParaRPr lang="en-US" sz="950" dirty="0"/>
          </a:p>
        </p:txBody>
      </p:sp>
      <p:graphicFrame>
        <p:nvGraphicFramePr>
          <p:cNvPr id="23" name="Chart 0" descr=""/>
          <p:cNvGraphicFramePr/>
          <p:nvPr/>
        </p:nvGraphicFramePr>
        <p:xfrm>
          <a:off x="365760" y="3364992"/>
          <a:ext cx="8412480" cy="1417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Known Limitations</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8 / Autonomous Ingestion</a:t>
            </a:r>
            <a:endParaRPr lang="en-US" sz="800" dirty="0"/>
          </a:p>
        </p:txBody>
      </p:sp>
      <p:sp>
        <p:nvSpPr>
          <p:cNvPr id="7" name="Shape 5"/>
          <p:cNvSpPr/>
          <p:nvPr/>
        </p:nvSpPr>
        <p:spPr>
          <a:xfrm>
            <a:off x="365760" y="98755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987552"/>
            <a:ext cx="45720" cy="1389888"/>
          </a:xfrm>
          <a:prstGeom prst="rect">
            <a:avLst/>
          </a:prstGeom>
          <a:solidFill>
            <a:srgbClr val="E53935"/>
          </a:solidFill>
          <a:ln w="12700">
            <a:solidFill>
              <a:srgbClr val="E53935"/>
            </a:solidFill>
            <a:prstDash val="solid"/>
          </a:ln>
        </p:spPr>
      </p:sp>
      <p:sp>
        <p:nvSpPr>
          <p:cNvPr id="9" name="Shape 7"/>
          <p:cNvSpPr/>
          <p:nvPr/>
        </p:nvSpPr>
        <p:spPr>
          <a:xfrm>
            <a:off x="502920" y="1078992"/>
            <a:ext cx="274320" cy="274320"/>
          </a:xfrm>
          <a:prstGeom prst="rect">
            <a:avLst/>
          </a:prstGeom>
          <a:solidFill>
            <a:srgbClr val="E53935"/>
          </a:solidFill>
          <a:ln w="12700">
            <a:solidFill>
              <a:srgbClr val="E53935"/>
            </a:solidFill>
            <a:prstDash val="solid"/>
          </a:ln>
        </p:spPr>
      </p:sp>
      <p:sp>
        <p:nvSpPr>
          <p:cNvPr id="10" name="Text 8"/>
          <p:cNvSpPr/>
          <p:nvPr/>
        </p:nvSpPr>
        <p:spPr>
          <a:xfrm>
            <a:off x="502920" y="107899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01</a:t>
            </a:r>
            <a:endParaRPr lang="en-US" sz="800" dirty="0"/>
          </a:p>
        </p:txBody>
      </p:sp>
      <p:sp>
        <p:nvSpPr>
          <p:cNvPr id="11" name="Text 9"/>
          <p:cNvSpPr/>
          <p:nvPr/>
        </p:nvSpPr>
        <p:spPr>
          <a:xfrm>
            <a:off x="841248" y="107899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No Provenance</a:t>
            </a:r>
            <a:endParaRPr lang="en-US" sz="1200" dirty="0"/>
          </a:p>
        </p:txBody>
      </p:sp>
      <p:sp>
        <p:nvSpPr>
          <p:cNvPr id="12" name="Text 10"/>
          <p:cNvSpPr/>
          <p:nvPr/>
        </p:nvSpPr>
        <p:spPr>
          <a:xfrm>
            <a:off x="502920" y="144475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No source PDF, DOI, or page-number column. Adding a sources table with FK references is the highest-priority schema change.</a:t>
            </a:r>
            <a:endParaRPr lang="en-US" sz="950" dirty="0"/>
          </a:p>
        </p:txBody>
      </p:sp>
      <p:sp>
        <p:nvSpPr>
          <p:cNvPr id="13" name="Shape 11"/>
          <p:cNvSpPr/>
          <p:nvPr/>
        </p:nvSpPr>
        <p:spPr>
          <a:xfrm>
            <a:off x="3246120" y="98755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3246120" y="987552"/>
            <a:ext cx="45720" cy="1389888"/>
          </a:xfrm>
          <a:prstGeom prst="rect">
            <a:avLst/>
          </a:prstGeom>
          <a:solidFill>
            <a:srgbClr val="E53935"/>
          </a:solidFill>
          <a:ln w="12700">
            <a:solidFill>
              <a:srgbClr val="E53935"/>
            </a:solidFill>
            <a:prstDash val="solid"/>
          </a:ln>
        </p:spPr>
      </p:sp>
      <p:sp>
        <p:nvSpPr>
          <p:cNvPr id="15" name="Shape 13"/>
          <p:cNvSpPr/>
          <p:nvPr/>
        </p:nvSpPr>
        <p:spPr>
          <a:xfrm>
            <a:off x="3383280" y="1078992"/>
            <a:ext cx="274320" cy="274320"/>
          </a:xfrm>
          <a:prstGeom prst="rect">
            <a:avLst/>
          </a:prstGeom>
          <a:solidFill>
            <a:srgbClr val="E53935"/>
          </a:solidFill>
          <a:ln w="12700">
            <a:solidFill>
              <a:srgbClr val="E53935"/>
            </a:solidFill>
            <a:prstDash val="solid"/>
          </a:ln>
        </p:spPr>
      </p:sp>
      <p:sp>
        <p:nvSpPr>
          <p:cNvPr id="16" name="Text 14"/>
          <p:cNvSpPr/>
          <p:nvPr/>
        </p:nvSpPr>
        <p:spPr>
          <a:xfrm>
            <a:off x="3383280" y="107899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02</a:t>
            </a:r>
            <a:endParaRPr lang="en-US" sz="800" dirty="0"/>
          </a:p>
        </p:txBody>
      </p:sp>
      <p:sp>
        <p:nvSpPr>
          <p:cNvPr id="17" name="Text 15"/>
          <p:cNvSpPr/>
          <p:nvPr/>
        </p:nvSpPr>
        <p:spPr>
          <a:xfrm>
            <a:off x="3721608" y="107899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Schema Rigidity</a:t>
            </a:r>
            <a:endParaRPr lang="en-US" sz="1200" dirty="0"/>
          </a:p>
        </p:txBody>
      </p:sp>
      <p:sp>
        <p:nvSpPr>
          <p:cNvPr id="18" name="Text 16"/>
          <p:cNvSpPr/>
          <p:nvPr/>
        </p:nvSpPr>
        <p:spPr>
          <a:xfrm>
            <a:off x="3383280" y="144475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Cure schedules, processing windows, and stress-strain curves do not fit one-row-per-property. Stored as free text or PNG plot images.</a:t>
            </a:r>
            <a:endParaRPr lang="en-US" sz="950" dirty="0"/>
          </a:p>
        </p:txBody>
      </p:sp>
      <p:sp>
        <p:nvSpPr>
          <p:cNvPr id="19" name="Shape 17"/>
          <p:cNvSpPr/>
          <p:nvPr/>
        </p:nvSpPr>
        <p:spPr>
          <a:xfrm>
            <a:off x="6126480" y="98755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6126480" y="987552"/>
            <a:ext cx="45720" cy="1389888"/>
          </a:xfrm>
          <a:prstGeom prst="rect">
            <a:avLst/>
          </a:prstGeom>
          <a:solidFill>
            <a:srgbClr val="E53935"/>
          </a:solidFill>
          <a:ln w="12700">
            <a:solidFill>
              <a:srgbClr val="E53935"/>
            </a:solidFill>
            <a:prstDash val="solid"/>
          </a:ln>
        </p:spPr>
      </p:sp>
      <p:sp>
        <p:nvSpPr>
          <p:cNvPr id="21" name="Shape 19"/>
          <p:cNvSpPr/>
          <p:nvPr/>
        </p:nvSpPr>
        <p:spPr>
          <a:xfrm>
            <a:off x="6263640" y="1078992"/>
            <a:ext cx="274320" cy="274320"/>
          </a:xfrm>
          <a:prstGeom prst="rect">
            <a:avLst/>
          </a:prstGeom>
          <a:solidFill>
            <a:srgbClr val="E53935"/>
          </a:solidFill>
          <a:ln w="12700">
            <a:solidFill>
              <a:srgbClr val="E53935"/>
            </a:solidFill>
            <a:prstDash val="solid"/>
          </a:ln>
        </p:spPr>
      </p:sp>
      <p:sp>
        <p:nvSpPr>
          <p:cNvPr id="22" name="Text 20"/>
          <p:cNvSpPr/>
          <p:nvPr/>
        </p:nvSpPr>
        <p:spPr>
          <a:xfrm>
            <a:off x="6263640" y="107899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03</a:t>
            </a:r>
            <a:endParaRPr lang="en-US" sz="800" dirty="0"/>
          </a:p>
        </p:txBody>
      </p:sp>
      <p:sp>
        <p:nvSpPr>
          <p:cNvPr id="23" name="Text 21"/>
          <p:cNvSpPr/>
          <p:nvPr/>
        </p:nvSpPr>
        <p:spPr>
          <a:xfrm>
            <a:off x="6601968" y="107899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Keyword Class Routing</a:t>
            </a:r>
            <a:endParaRPr lang="en-US" sz="1200" dirty="0"/>
          </a:p>
        </p:txBody>
      </p:sp>
      <p:sp>
        <p:nvSpPr>
          <p:cNvPr id="24" name="Text 22"/>
          <p:cNvSpPr/>
          <p:nvPr/>
        </p:nvSpPr>
        <p:spPr>
          <a:xfrm>
            <a:off x="6263640" y="144475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Material class assigned by keyword matching on material_name. Prone to errors on ambiguous names -- needs a small classifier.</a:t>
            </a:r>
            <a:endParaRPr lang="en-US" sz="950" dirty="0"/>
          </a:p>
        </p:txBody>
      </p:sp>
      <p:sp>
        <p:nvSpPr>
          <p:cNvPr id="25" name="Shape 23"/>
          <p:cNvSpPr/>
          <p:nvPr/>
        </p:nvSpPr>
        <p:spPr>
          <a:xfrm>
            <a:off x="365760" y="249631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365760" y="2496312"/>
            <a:ext cx="45720" cy="1389888"/>
          </a:xfrm>
          <a:prstGeom prst="rect">
            <a:avLst/>
          </a:prstGeom>
          <a:solidFill>
            <a:srgbClr val="E53935"/>
          </a:solidFill>
          <a:ln w="12700">
            <a:solidFill>
              <a:srgbClr val="E53935"/>
            </a:solidFill>
            <a:prstDash val="solid"/>
          </a:ln>
        </p:spPr>
      </p:sp>
      <p:sp>
        <p:nvSpPr>
          <p:cNvPr id="27" name="Shape 25"/>
          <p:cNvSpPr/>
          <p:nvPr/>
        </p:nvSpPr>
        <p:spPr>
          <a:xfrm>
            <a:off x="502920" y="2587752"/>
            <a:ext cx="274320" cy="274320"/>
          </a:xfrm>
          <a:prstGeom prst="rect">
            <a:avLst/>
          </a:prstGeom>
          <a:solidFill>
            <a:srgbClr val="E53935"/>
          </a:solidFill>
          <a:ln w="12700">
            <a:solidFill>
              <a:srgbClr val="E53935"/>
            </a:solidFill>
            <a:prstDash val="solid"/>
          </a:ln>
        </p:spPr>
      </p:sp>
      <p:sp>
        <p:nvSpPr>
          <p:cNvPr id="28" name="Text 26"/>
          <p:cNvSpPr/>
          <p:nvPr/>
        </p:nvSpPr>
        <p:spPr>
          <a:xfrm>
            <a:off x="502920" y="258775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04</a:t>
            </a:r>
            <a:endParaRPr lang="en-US" sz="800" dirty="0"/>
          </a:p>
        </p:txBody>
      </p:sp>
      <p:sp>
        <p:nvSpPr>
          <p:cNvPr id="29" name="Text 27"/>
          <p:cNvSpPr/>
          <p:nvPr/>
        </p:nvSpPr>
        <p:spPr>
          <a:xfrm>
            <a:off x="841248" y="258775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No Evaluation Set</a:t>
            </a:r>
            <a:endParaRPr lang="en-US" sz="1200" dirty="0"/>
          </a:p>
        </p:txBody>
      </p:sp>
      <p:sp>
        <p:nvSpPr>
          <p:cNvPr id="30" name="Text 28"/>
          <p:cNvSpPr/>
          <p:nvPr/>
        </p:nvSpPr>
        <p:spPr>
          <a:xfrm>
            <a:off x="502920" y="295351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Extraction precision/recall not formally measured. A 50-100 row hand-labeled ground-truth set is needed before publishing accuracy numbers.</a:t>
            </a:r>
            <a:endParaRPr lang="en-US" sz="950" dirty="0"/>
          </a:p>
        </p:txBody>
      </p:sp>
      <p:sp>
        <p:nvSpPr>
          <p:cNvPr id="31" name="Shape 29"/>
          <p:cNvSpPr/>
          <p:nvPr/>
        </p:nvSpPr>
        <p:spPr>
          <a:xfrm>
            <a:off x="3246120" y="249631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2" name="Shape 30"/>
          <p:cNvSpPr/>
          <p:nvPr/>
        </p:nvSpPr>
        <p:spPr>
          <a:xfrm>
            <a:off x="3246120" y="2496312"/>
            <a:ext cx="45720" cy="1389888"/>
          </a:xfrm>
          <a:prstGeom prst="rect">
            <a:avLst/>
          </a:prstGeom>
          <a:solidFill>
            <a:srgbClr val="E53935"/>
          </a:solidFill>
          <a:ln w="12700">
            <a:solidFill>
              <a:srgbClr val="E53935"/>
            </a:solidFill>
            <a:prstDash val="solid"/>
          </a:ln>
        </p:spPr>
      </p:sp>
      <p:sp>
        <p:nvSpPr>
          <p:cNvPr id="33" name="Shape 31"/>
          <p:cNvSpPr/>
          <p:nvPr/>
        </p:nvSpPr>
        <p:spPr>
          <a:xfrm>
            <a:off x="3383280" y="2587752"/>
            <a:ext cx="274320" cy="274320"/>
          </a:xfrm>
          <a:prstGeom prst="rect">
            <a:avLst/>
          </a:prstGeom>
          <a:solidFill>
            <a:srgbClr val="E53935"/>
          </a:solidFill>
          <a:ln w="12700">
            <a:solidFill>
              <a:srgbClr val="E53935"/>
            </a:solidFill>
            <a:prstDash val="solid"/>
          </a:ln>
        </p:spPr>
      </p:sp>
      <p:sp>
        <p:nvSpPr>
          <p:cNvPr id="34" name="Text 32"/>
          <p:cNvSpPr/>
          <p:nvPr/>
        </p:nvSpPr>
        <p:spPr>
          <a:xfrm>
            <a:off x="3383280" y="258775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05</a:t>
            </a:r>
            <a:endParaRPr lang="en-US" sz="800" dirty="0"/>
          </a:p>
        </p:txBody>
      </p:sp>
      <p:sp>
        <p:nvSpPr>
          <p:cNvPr id="35" name="Text 33"/>
          <p:cNvSpPr/>
          <p:nvPr/>
        </p:nvSpPr>
        <p:spPr>
          <a:xfrm>
            <a:off x="3721608" y="258775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No Source Discovery</a:t>
            </a:r>
            <a:endParaRPr lang="en-US" sz="1200" dirty="0"/>
          </a:p>
        </p:txBody>
      </p:sp>
      <p:sp>
        <p:nvSpPr>
          <p:cNvPr id="36" name="Text 34"/>
          <p:cNvSpPr/>
          <p:nvPr/>
        </p:nvSpPr>
        <p:spPr>
          <a:xfrm>
            <a:off x="3383280" y="295351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Batch prototype works on a fixed PDF folder. Source discovery (OpenAlex, Semantic Scholar, arXiv) is not yet implemented.</a:t>
            </a:r>
            <a:endParaRPr lang="en-US" sz="950" dirty="0"/>
          </a:p>
        </p:txBody>
      </p:sp>
      <p:sp>
        <p:nvSpPr>
          <p:cNvPr id="37" name="Shape 35"/>
          <p:cNvSpPr/>
          <p:nvPr/>
        </p:nvSpPr>
        <p:spPr>
          <a:xfrm>
            <a:off x="6126480" y="2496312"/>
            <a:ext cx="2697480" cy="1389888"/>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6126480" y="2496312"/>
            <a:ext cx="45720" cy="1389888"/>
          </a:xfrm>
          <a:prstGeom prst="rect">
            <a:avLst/>
          </a:prstGeom>
          <a:solidFill>
            <a:srgbClr val="E53935"/>
          </a:solidFill>
          <a:ln w="12700">
            <a:solidFill>
              <a:srgbClr val="E53935"/>
            </a:solidFill>
            <a:prstDash val="solid"/>
          </a:ln>
        </p:spPr>
      </p:sp>
      <p:sp>
        <p:nvSpPr>
          <p:cNvPr id="39" name="Shape 37"/>
          <p:cNvSpPr/>
          <p:nvPr/>
        </p:nvSpPr>
        <p:spPr>
          <a:xfrm>
            <a:off x="6263640" y="2587752"/>
            <a:ext cx="274320" cy="274320"/>
          </a:xfrm>
          <a:prstGeom prst="rect">
            <a:avLst/>
          </a:prstGeom>
          <a:solidFill>
            <a:srgbClr val="E53935"/>
          </a:solidFill>
          <a:ln w="12700">
            <a:solidFill>
              <a:srgbClr val="E53935"/>
            </a:solidFill>
            <a:prstDash val="solid"/>
          </a:ln>
        </p:spPr>
      </p:sp>
      <p:sp>
        <p:nvSpPr>
          <p:cNvPr id="40" name="Text 38"/>
          <p:cNvSpPr/>
          <p:nvPr/>
        </p:nvSpPr>
        <p:spPr>
          <a:xfrm>
            <a:off x="6263640" y="258775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06</a:t>
            </a:r>
            <a:endParaRPr lang="en-US" sz="800" dirty="0"/>
          </a:p>
        </p:txBody>
      </p:sp>
      <p:sp>
        <p:nvSpPr>
          <p:cNvPr id="41" name="Text 39"/>
          <p:cNvSpPr/>
          <p:nvPr/>
        </p:nvSpPr>
        <p:spPr>
          <a:xfrm>
            <a:off x="6601968" y="2587752"/>
            <a:ext cx="2084832"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Empty Tables</a:t>
            </a:r>
            <a:endParaRPr lang="en-US" sz="1200" dirty="0"/>
          </a:p>
        </p:txBody>
      </p:sp>
      <p:sp>
        <p:nvSpPr>
          <p:cNvPr id="42" name="Text 40"/>
          <p:cNvSpPr/>
          <p:nvPr/>
        </p:nvSpPr>
        <p:spPr>
          <a:xfrm>
            <a:off x="6263640" y="2953512"/>
            <a:ext cx="2423160" cy="822960"/>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Fibers and Composites_materials tables contain zero rows in the current seed. The database is polymer-only today.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5FA"/>
        </a:solidFill>
      </p:bgPr>
    </p:bg>
    <p:spTree>
      <p:nvGrpSpPr>
        <p:cNvPr id="1" name=""/>
        <p:cNvGrpSpPr/>
        <p:nvPr/>
      </p:nvGrpSpPr>
      <p:grpSpPr>
        <a:xfrm>
          <a:off x="0" y="0"/>
          <a:ext cx="0" cy="0"/>
          <a:chOff x="0" y="0"/>
          <a:chExt cx="0" cy="0"/>
        </a:xfrm>
      </p:grpSpPr>
      <p:sp>
        <p:nvSpPr>
          <p:cNvPr id="2" name="Shape 0"/>
          <p:cNvSpPr/>
          <p:nvPr/>
        </p:nvSpPr>
        <p:spPr>
          <a:xfrm>
            <a:off x="365760" y="256032"/>
            <a:ext cx="64008" cy="438912"/>
          </a:xfrm>
          <a:prstGeom prst="rect">
            <a:avLst/>
          </a:prstGeom>
          <a:solidFill>
            <a:srgbClr val="02C39A"/>
          </a:solidFill>
          <a:ln w="12700">
            <a:solidFill>
              <a:srgbClr val="02C39A"/>
            </a:solidFill>
            <a:prstDash val="solid"/>
          </a:ln>
        </p:spPr>
      </p:sp>
      <p:sp>
        <p:nvSpPr>
          <p:cNvPr id="3" name="Text 1"/>
          <p:cNvSpPr/>
          <p:nvPr/>
        </p:nvSpPr>
        <p:spPr>
          <a:xfrm>
            <a:off x="502920" y="201168"/>
            <a:ext cx="8321040" cy="548640"/>
          </a:xfrm>
          <a:prstGeom prst="rect">
            <a:avLst/>
          </a:prstGeom>
          <a:noFill/>
          <a:ln/>
        </p:spPr>
        <p:txBody>
          <a:bodyPr wrap="square" lIns="0" tIns="0" rIns="0" bIns="0" rtlCol="0" anchor="ctr"/>
          <a:lstStyle/>
          <a:p>
            <a:pPr indent="0" marL="0">
              <a:buNone/>
            </a:pPr>
            <a:r>
              <a:rPr lang="en-US" sz="2600" b="1" dirty="0">
                <a:solidFill>
                  <a:srgbClr val="065A82"/>
                </a:solidFill>
                <a:latin typeface="Georgia" pitchFamily="34" charset="0"/>
                <a:ea typeface="Georgia" pitchFamily="34" charset="-122"/>
                <a:cs typeface="Georgia" pitchFamily="34" charset="-120"/>
              </a:rPr>
              <a:t>Next Steps &amp; Future Work</a:t>
            </a:r>
            <a:endParaRPr lang="en-US" sz="2600" dirty="0"/>
          </a:p>
        </p:txBody>
      </p:sp>
      <p:sp>
        <p:nvSpPr>
          <p:cNvPr id="4" name="Shape 2"/>
          <p:cNvSpPr/>
          <p:nvPr/>
        </p:nvSpPr>
        <p:spPr>
          <a:xfrm>
            <a:off x="0" y="4887468"/>
            <a:ext cx="9144000" cy="256032"/>
          </a:xfrm>
          <a:prstGeom prst="rect">
            <a:avLst/>
          </a:prstGeom>
          <a:solidFill>
            <a:srgbClr val="1C7293"/>
          </a:solidFill>
          <a:ln w="12700">
            <a:solidFill>
              <a:srgbClr val="1C7293"/>
            </a:solidFill>
            <a:prstDash val="solid"/>
          </a:ln>
        </p:spPr>
      </p:sp>
      <p:sp>
        <p:nvSpPr>
          <p:cNvPr id="5" name="Text 3"/>
          <p:cNvSpPr/>
          <p:nvPr/>
        </p:nvSpPr>
        <p:spPr>
          <a:xfrm>
            <a:off x="274320" y="4905756"/>
            <a:ext cx="5486400" cy="219456"/>
          </a:xfrm>
          <a:prstGeom prst="rect">
            <a:avLst/>
          </a:prstGeom>
          <a:noFill/>
          <a:ln/>
        </p:spPr>
        <p:txBody>
          <a:bodyPr wrap="square" lIns="0" tIns="0" rIns="0" bIns="0" rtlCol="0" anchor="ctr"/>
          <a:lstStyle/>
          <a:p>
            <a:pPr indent="0" marL="0">
              <a:buNone/>
            </a:pPr>
            <a:r>
              <a:rPr lang="en-US" sz="800" dirty="0">
                <a:solidFill>
                  <a:srgbClr val="CCEEFF"/>
                </a:solidFill>
                <a:latin typeface="Calibri" pitchFamily="34" charset="0"/>
                <a:ea typeface="Calibri" pitchFamily="34" charset="-122"/>
                <a:cs typeface="Calibri" pitchFamily="34" charset="-120"/>
              </a:rPr>
              <a:t>Mathias Heider  |  ME8930 Course Project  |  May 2026</a:t>
            </a:r>
            <a:endParaRPr lang="en-US" sz="800" dirty="0"/>
          </a:p>
        </p:txBody>
      </p:sp>
      <p:sp>
        <p:nvSpPr>
          <p:cNvPr id="6" name="Text 4"/>
          <p:cNvSpPr/>
          <p:nvPr/>
        </p:nvSpPr>
        <p:spPr>
          <a:xfrm>
            <a:off x="6858000" y="4905756"/>
            <a:ext cx="2011680" cy="219456"/>
          </a:xfrm>
          <a:prstGeom prst="rect">
            <a:avLst/>
          </a:prstGeom>
          <a:noFill/>
          <a:ln/>
        </p:spPr>
        <p:txBody>
          <a:bodyPr wrap="square" lIns="0" tIns="0" rIns="0" bIns="0" rtlCol="0" anchor="ctr"/>
          <a:lstStyle/>
          <a:p>
            <a:pPr algn="r" indent="0" marL="0">
              <a:buNone/>
            </a:pPr>
            <a:r>
              <a:rPr lang="en-US" sz="800" dirty="0">
                <a:solidFill>
                  <a:srgbClr val="CCEEFF"/>
                </a:solidFill>
                <a:latin typeface="Calibri" pitchFamily="34" charset="0"/>
                <a:ea typeface="Calibri" pitchFamily="34" charset="-122"/>
                <a:cs typeface="Calibri" pitchFamily="34" charset="-120"/>
              </a:rPr>
              <a:t>9 / Next Steps</a:t>
            </a:r>
            <a:endParaRPr lang="en-US" sz="800" dirty="0"/>
          </a:p>
        </p:txBody>
      </p:sp>
      <p:sp>
        <p:nvSpPr>
          <p:cNvPr id="7" name="Shape 5"/>
          <p:cNvSpPr/>
          <p:nvPr/>
        </p:nvSpPr>
        <p:spPr>
          <a:xfrm>
            <a:off x="365760" y="100584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365760" y="1005840"/>
            <a:ext cx="566928" cy="1170432"/>
          </a:xfrm>
          <a:prstGeom prst="rect">
            <a:avLst/>
          </a:prstGeom>
          <a:solidFill>
            <a:srgbClr val="E53935"/>
          </a:solidFill>
          <a:ln w="12700">
            <a:solidFill>
              <a:srgbClr val="E53935"/>
            </a:solidFill>
            <a:prstDash val="solid"/>
          </a:ln>
        </p:spPr>
      </p:sp>
      <p:sp>
        <p:nvSpPr>
          <p:cNvPr id="9" name="Text 7"/>
          <p:cNvSpPr/>
          <p:nvPr/>
        </p:nvSpPr>
        <p:spPr>
          <a:xfrm>
            <a:off x="365760" y="100584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P0</a:t>
            </a:r>
            <a:endParaRPr lang="en-US" sz="1200" dirty="0"/>
          </a:p>
        </p:txBody>
      </p:sp>
      <p:sp>
        <p:nvSpPr>
          <p:cNvPr id="10" name="Text 8"/>
          <p:cNvSpPr/>
          <p:nvPr/>
        </p:nvSpPr>
        <p:spPr>
          <a:xfrm>
            <a:off x="1024128" y="111556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Add sources table + provenance</a:t>
            </a:r>
            <a:endParaRPr lang="en-US" sz="1200" dirty="0"/>
          </a:p>
        </p:txBody>
      </p:sp>
      <p:sp>
        <p:nvSpPr>
          <p:cNvPr id="11" name="Text 9"/>
          <p:cNvSpPr/>
          <p:nvPr/>
        </p:nvSpPr>
        <p:spPr>
          <a:xfrm>
            <a:off x="1024128" y="144475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Every inserted row gets a FK to a sources table tracking PDF hash, DOI, and page number. Critical for reproducibility.</a:t>
            </a:r>
            <a:endParaRPr lang="en-US" sz="950" dirty="0"/>
          </a:p>
        </p:txBody>
      </p:sp>
      <p:sp>
        <p:nvSpPr>
          <p:cNvPr id="12" name="Shape 10"/>
          <p:cNvSpPr/>
          <p:nvPr/>
        </p:nvSpPr>
        <p:spPr>
          <a:xfrm>
            <a:off x="4709160" y="100584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3" name="Shape 11"/>
          <p:cNvSpPr/>
          <p:nvPr/>
        </p:nvSpPr>
        <p:spPr>
          <a:xfrm>
            <a:off x="4709160" y="1005840"/>
            <a:ext cx="566928" cy="1170432"/>
          </a:xfrm>
          <a:prstGeom prst="rect">
            <a:avLst/>
          </a:prstGeom>
          <a:solidFill>
            <a:srgbClr val="E65100"/>
          </a:solidFill>
          <a:ln w="12700">
            <a:solidFill>
              <a:srgbClr val="E65100"/>
            </a:solidFill>
            <a:prstDash val="solid"/>
          </a:ln>
        </p:spPr>
      </p:sp>
      <p:sp>
        <p:nvSpPr>
          <p:cNvPr id="14" name="Text 12"/>
          <p:cNvSpPr/>
          <p:nvPr/>
        </p:nvSpPr>
        <p:spPr>
          <a:xfrm>
            <a:off x="4709160" y="100584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15" name="Text 13"/>
          <p:cNvSpPr/>
          <p:nvPr/>
        </p:nvSpPr>
        <p:spPr>
          <a:xfrm>
            <a:off x="5367528" y="111556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Hand-label evaluation set</a:t>
            </a:r>
            <a:endParaRPr lang="en-US" sz="1200" dirty="0"/>
          </a:p>
        </p:txBody>
      </p:sp>
      <p:sp>
        <p:nvSpPr>
          <p:cNvPr id="16" name="Text 14"/>
          <p:cNvSpPr/>
          <p:nvPr/>
        </p:nvSpPr>
        <p:spPr>
          <a:xfrm>
            <a:off x="5367528" y="144475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50-100 row gold-standard ground truth for extraction precision/recall. Required before publishing accuracy numbers.</a:t>
            </a:r>
            <a:endParaRPr lang="en-US" sz="950" dirty="0"/>
          </a:p>
        </p:txBody>
      </p:sp>
      <p:sp>
        <p:nvSpPr>
          <p:cNvPr id="17" name="Shape 15"/>
          <p:cNvSpPr/>
          <p:nvPr/>
        </p:nvSpPr>
        <p:spPr>
          <a:xfrm>
            <a:off x="365760" y="228600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18" name="Shape 16"/>
          <p:cNvSpPr/>
          <p:nvPr/>
        </p:nvSpPr>
        <p:spPr>
          <a:xfrm>
            <a:off x="365760" y="2286000"/>
            <a:ext cx="566928" cy="1170432"/>
          </a:xfrm>
          <a:prstGeom prst="rect">
            <a:avLst/>
          </a:prstGeom>
          <a:solidFill>
            <a:srgbClr val="1C7293"/>
          </a:solidFill>
          <a:ln w="12700">
            <a:solidFill>
              <a:srgbClr val="1C7293"/>
            </a:solidFill>
            <a:prstDash val="solid"/>
          </a:ln>
        </p:spPr>
      </p:sp>
      <p:sp>
        <p:nvSpPr>
          <p:cNvPr id="19" name="Text 17"/>
          <p:cNvSpPr/>
          <p:nvPr/>
        </p:nvSpPr>
        <p:spPr>
          <a:xfrm>
            <a:off x="365760" y="228600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20" name="Text 18"/>
          <p:cNvSpPr/>
          <p:nvPr/>
        </p:nvSpPr>
        <p:spPr>
          <a:xfrm>
            <a:off x="1024128" y="239572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Classifier for class routing</a:t>
            </a:r>
            <a:endParaRPr lang="en-US" sz="1200" dirty="0"/>
          </a:p>
        </p:txBody>
      </p:sp>
      <p:sp>
        <p:nvSpPr>
          <p:cNvPr id="21" name="Text 19"/>
          <p:cNvSpPr/>
          <p:nvPr/>
        </p:nvSpPr>
        <p:spPr>
          <a:xfrm>
            <a:off x="1024128" y="272491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Replace keyword heuristic with a small classifier on extracted material name + properties. Fewer misrouting errors.</a:t>
            </a:r>
            <a:endParaRPr lang="en-US" sz="950" dirty="0"/>
          </a:p>
        </p:txBody>
      </p:sp>
      <p:sp>
        <p:nvSpPr>
          <p:cNvPr id="22" name="Shape 20"/>
          <p:cNvSpPr/>
          <p:nvPr/>
        </p:nvSpPr>
        <p:spPr>
          <a:xfrm>
            <a:off x="4709160" y="228600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4709160" y="2286000"/>
            <a:ext cx="566928" cy="1170432"/>
          </a:xfrm>
          <a:prstGeom prst="rect">
            <a:avLst/>
          </a:prstGeom>
          <a:solidFill>
            <a:srgbClr val="065A82"/>
          </a:solidFill>
          <a:ln w="12700">
            <a:solidFill>
              <a:srgbClr val="065A82"/>
            </a:solidFill>
            <a:prstDash val="solid"/>
          </a:ln>
        </p:spPr>
      </p:sp>
      <p:sp>
        <p:nvSpPr>
          <p:cNvPr id="24" name="Text 22"/>
          <p:cNvSpPr/>
          <p:nvPr/>
        </p:nvSpPr>
        <p:spPr>
          <a:xfrm>
            <a:off x="4709160" y="228600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25" name="Text 23"/>
          <p:cNvSpPr/>
          <p:nvPr/>
        </p:nvSpPr>
        <p:spPr>
          <a:xfrm>
            <a:off x="5367528" y="239572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Source discovery agent</a:t>
            </a:r>
            <a:endParaRPr lang="en-US" sz="1200" dirty="0"/>
          </a:p>
        </p:txBody>
      </p:sp>
      <p:sp>
        <p:nvSpPr>
          <p:cNvPr id="26" name="Text 24"/>
          <p:cNvSpPr/>
          <p:nvPr/>
        </p:nvSpPr>
        <p:spPr>
          <a:xfrm>
            <a:off x="5367528" y="272491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OpenAlex / Semantic Scholar / arXiv APIs with paper-relevance scoring. Closes the final loop in autonomous ingestion.</a:t>
            </a:r>
            <a:endParaRPr lang="en-US" sz="950" dirty="0"/>
          </a:p>
        </p:txBody>
      </p:sp>
      <p:sp>
        <p:nvSpPr>
          <p:cNvPr id="27" name="Shape 25"/>
          <p:cNvSpPr/>
          <p:nvPr/>
        </p:nvSpPr>
        <p:spPr>
          <a:xfrm>
            <a:off x="365760" y="356616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28" name="Shape 26"/>
          <p:cNvSpPr/>
          <p:nvPr/>
        </p:nvSpPr>
        <p:spPr>
          <a:xfrm>
            <a:off x="365760" y="3566160"/>
            <a:ext cx="566928" cy="1170432"/>
          </a:xfrm>
          <a:prstGeom prst="rect">
            <a:avLst/>
          </a:prstGeom>
          <a:solidFill>
            <a:srgbClr val="028090"/>
          </a:solidFill>
          <a:ln w="12700">
            <a:solidFill>
              <a:srgbClr val="028090"/>
            </a:solidFill>
            <a:prstDash val="solid"/>
          </a:ln>
        </p:spPr>
      </p:sp>
      <p:sp>
        <p:nvSpPr>
          <p:cNvPr id="29" name="Text 27"/>
          <p:cNvSpPr/>
          <p:nvPr/>
        </p:nvSpPr>
        <p:spPr>
          <a:xfrm>
            <a:off x="365760" y="356616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30" name="Text 28"/>
          <p:cNvSpPr/>
          <p:nvPr/>
        </p:nvSpPr>
        <p:spPr>
          <a:xfrm>
            <a:off x="1024128" y="367588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Config-driven validation rules</a:t>
            </a:r>
            <a:endParaRPr lang="en-US" sz="1200" dirty="0"/>
          </a:p>
        </p:txBody>
      </p:sp>
      <p:sp>
        <p:nvSpPr>
          <p:cNvPr id="31" name="Text 29"/>
          <p:cNvSpPr/>
          <p:nvPr/>
        </p:nvSpPr>
        <p:spPr>
          <a:xfrm>
            <a:off x="1024128" y="400507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Move plausibility ranges to a YAML/JSON config so domain experts can edit them without touching code.</a:t>
            </a:r>
            <a:endParaRPr lang="en-US" sz="950" dirty="0"/>
          </a:p>
        </p:txBody>
      </p:sp>
      <p:sp>
        <p:nvSpPr>
          <p:cNvPr id="32" name="Shape 30"/>
          <p:cNvSpPr/>
          <p:nvPr/>
        </p:nvSpPr>
        <p:spPr>
          <a:xfrm>
            <a:off x="4709160" y="3566160"/>
            <a:ext cx="4160520" cy="1170432"/>
          </a:xfrm>
          <a:prstGeom prst="rect">
            <a:avLst/>
          </a:prstGeom>
          <a:solidFill>
            <a:srgbClr val="FFFFFF"/>
          </a:solidFill>
          <a:ln w="12700">
            <a:solidFill>
              <a:srgbClr val="D8E8F0"/>
            </a:solidFill>
            <a:prstDash val="solid"/>
          </a:ln>
          <a:effectLst>
            <a:outerShdw sx="100000" sy="100000" kx="0" ky="0" algn="bl" rotWithShape="0" blurRad="63500" dist="25400" dir="8100000">
              <a:srgbClr val="000000">
                <a:alpha val="8000"/>
              </a:srgbClr>
            </a:outerShdw>
          </a:effectLst>
        </p:spPr>
      </p:sp>
      <p:sp>
        <p:nvSpPr>
          <p:cNvPr id="33" name="Shape 31"/>
          <p:cNvSpPr/>
          <p:nvPr/>
        </p:nvSpPr>
        <p:spPr>
          <a:xfrm>
            <a:off x="4709160" y="3566160"/>
            <a:ext cx="566928" cy="1170432"/>
          </a:xfrm>
          <a:prstGeom prst="rect">
            <a:avLst/>
          </a:prstGeom>
          <a:solidFill>
            <a:srgbClr val="02C39A"/>
          </a:solidFill>
          <a:ln w="12700">
            <a:solidFill>
              <a:srgbClr val="02C39A"/>
            </a:solidFill>
            <a:prstDash val="solid"/>
          </a:ln>
        </p:spPr>
      </p:sp>
      <p:sp>
        <p:nvSpPr>
          <p:cNvPr id="34" name="Text 32"/>
          <p:cNvSpPr/>
          <p:nvPr/>
        </p:nvSpPr>
        <p:spPr>
          <a:xfrm>
            <a:off x="4709160" y="3566160"/>
            <a:ext cx="566928" cy="11704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35" name="Text 33"/>
          <p:cNvSpPr/>
          <p:nvPr/>
        </p:nvSpPr>
        <p:spPr>
          <a:xfrm>
            <a:off x="5367528" y="3675888"/>
            <a:ext cx="3383280" cy="320040"/>
          </a:xfrm>
          <a:prstGeom prst="rect">
            <a:avLst/>
          </a:prstGeom>
          <a:noFill/>
          <a:ln/>
        </p:spPr>
        <p:txBody>
          <a:bodyPr wrap="square" lIns="0" tIns="0" rIns="0" bIns="0" rtlCol="0" anchor="t"/>
          <a:lstStyle/>
          <a:p>
            <a:pPr indent="0" marL="0">
              <a:buNone/>
            </a:pPr>
            <a:r>
              <a:rPr lang="en-US" sz="1200" b="1" dirty="0">
                <a:solidFill>
                  <a:srgbClr val="1A2E3B"/>
                </a:solidFill>
                <a:latin typeface="Georgia" pitchFamily="34" charset="0"/>
                <a:ea typeface="Georgia" pitchFamily="34" charset="-122"/>
                <a:cs typeface="Georgia" pitchFamily="34" charset="-120"/>
              </a:rPr>
              <a:t>Populate Fibers + Composites</a:t>
            </a:r>
            <a:endParaRPr lang="en-US" sz="1200" dirty="0"/>
          </a:p>
        </p:txBody>
      </p:sp>
      <p:sp>
        <p:nvSpPr>
          <p:cNvPr id="36" name="Text 34"/>
          <p:cNvSpPr/>
          <p:nvPr/>
        </p:nvSpPr>
        <p:spPr>
          <a:xfrm>
            <a:off x="5367528" y="4005072"/>
            <a:ext cx="3383280" cy="621792"/>
          </a:xfrm>
          <a:prstGeom prst="rect">
            <a:avLst/>
          </a:prstGeom>
          <a:noFill/>
          <a:ln/>
        </p:spPr>
        <p:txBody>
          <a:bodyPr wrap="square" lIns="0" tIns="0" rIns="0" bIns="0" rtlCol="0" anchor="t"/>
          <a:lstStyle/>
          <a:p>
            <a:pPr indent="0" marL="0">
              <a:buNone/>
            </a:pPr>
            <a:r>
              <a:rPr lang="en-US" sz="950" dirty="0">
                <a:solidFill>
                  <a:srgbClr val="4A6278"/>
                </a:solidFill>
                <a:latin typeface="Calibri" pitchFamily="34" charset="0"/>
                <a:ea typeface="Calibri" pitchFamily="34" charset="-122"/>
                <a:cs typeface="Calibri" pitchFamily="34" charset="-120"/>
              </a:rPr>
              <a:t>Systematic ingestion of fiber and laminate datasheet corpora. Unlocks the full three-class taxonomy for ML training.</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1B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C39A"/>
          </a:solidFill>
          <a:ln w="12700">
            <a:solidFill>
              <a:srgbClr val="02C39A"/>
            </a:solidFill>
            <a:prstDash val="solid"/>
          </a:ln>
        </p:spPr>
      </p:sp>
      <p:sp>
        <p:nvSpPr>
          <p:cNvPr id="3" name="Shape 1"/>
          <p:cNvSpPr/>
          <p:nvPr/>
        </p:nvSpPr>
        <p:spPr>
          <a:xfrm>
            <a:off x="201168" y="0"/>
            <a:ext cx="91440" cy="5143500"/>
          </a:xfrm>
          <a:prstGeom prst="rect">
            <a:avLst/>
          </a:prstGeom>
          <a:solidFill>
            <a:srgbClr val="065A82"/>
          </a:solidFill>
          <a:ln w="12700">
            <a:solidFill>
              <a:srgbClr val="065A82"/>
            </a:solidFill>
            <a:prstDash val="solid"/>
          </a:ln>
        </p:spPr>
      </p:sp>
      <p:sp>
        <p:nvSpPr>
          <p:cNvPr id="4" name="Text 2"/>
          <p:cNvSpPr/>
          <p:nvPr/>
        </p:nvSpPr>
        <p:spPr>
          <a:xfrm>
            <a:off x="502920" y="502920"/>
            <a:ext cx="7772400" cy="100584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Thank you!</a:t>
            </a:r>
            <a:endParaRPr lang="en-US" sz="5200" dirty="0"/>
          </a:p>
        </p:txBody>
      </p:sp>
      <p:sp>
        <p:nvSpPr>
          <p:cNvPr id="5" name="Shape 3"/>
          <p:cNvSpPr/>
          <p:nvPr/>
        </p:nvSpPr>
        <p:spPr>
          <a:xfrm>
            <a:off x="502920" y="1463040"/>
            <a:ext cx="4114800" cy="45720"/>
          </a:xfrm>
          <a:prstGeom prst="rect">
            <a:avLst/>
          </a:prstGeom>
          <a:solidFill>
            <a:srgbClr val="02C39A"/>
          </a:solidFill>
          <a:ln w="12700">
            <a:solidFill>
              <a:srgbClr val="02C39A"/>
            </a:solidFill>
            <a:prstDash val="solid"/>
          </a:ln>
        </p:spPr>
      </p:sp>
      <p:sp>
        <p:nvSpPr>
          <p:cNvPr id="6" name="Text 4"/>
          <p:cNvSpPr/>
          <p:nvPr/>
        </p:nvSpPr>
        <p:spPr>
          <a:xfrm>
            <a:off x="502920" y="1600200"/>
            <a:ext cx="4572000" cy="640080"/>
          </a:xfrm>
          <a:prstGeom prst="rect">
            <a:avLst/>
          </a:prstGeom>
          <a:noFill/>
          <a:ln/>
        </p:spPr>
        <p:txBody>
          <a:bodyPr wrap="square" rtlCol="0" anchor="ctr"/>
          <a:lstStyle/>
          <a:p>
            <a:pPr indent="0" marL="0">
              <a:buNone/>
            </a:pPr>
            <a:r>
              <a:rPr lang="en-US" sz="3000" i="1" dirty="0">
                <a:solidFill>
                  <a:srgbClr val="9EC8E0"/>
                </a:solidFill>
                <a:latin typeface="Georgia" pitchFamily="34" charset="0"/>
                <a:ea typeface="Georgia" pitchFamily="34" charset="-122"/>
                <a:cs typeface="Georgia" pitchFamily="34" charset="-120"/>
              </a:rPr>
              <a:t>Questions?</a:t>
            </a:r>
            <a:endParaRPr lang="en-US" sz="3000" dirty="0"/>
          </a:p>
        </p:txBody>
      </p:sp>
      <p:sp>
        <p:nvSpPr>
          <p:cNvPr id="7" name="Text 5"/>
          <p:cNvSpPr/>
          <p:nvPr/>
        </p:nvSpPr>
        <p:spPr>
          <a:xfrm>
            <a:off x="502920" y="2377440"/>
            <a:ext cx="5943600" cy="1463040"/>
          </a:xfrm>
          <a:prstGeom prst="rect">
            <a:avLst/>
          </a:prstGeom>
          <a:noFill/>
          <a:ln/>
        </p:spPr>
        <p:txBody>
          <a:bodyPr wrap="square" rtlCol="0" anchor="t"/>
          <a:lstStyle/>
          <a:p>
            <a:pPr indent="0" marL="0">
              <a:buNone/>
            </a:pPr>
            <a:r>
              <a:rPr lang="en-US" sz="1200" b="1" dirty="0">
                <a:solidFill>
                  <a:srgbClr val="9EC8E0"/>
                </a:solidFill>
                <a:latin typeface="Calibri" pitchFamily="34" charset="0"/>
                <a:ea typeface="Calibri" pitchFamily="34" charset="-122"/>
                <a:cs typeface="Calibri" pitchFamily="34" charset="-120"/>
              </a:rPr>
              <a:t>Mathias Heider</a:t>
            </a:r>
            <a:endParaRPr lang="en-US" sz="1200" dirty="0"/>
          </a:p>
          <a:p>
            <a:pPr indent="0" marL="0">
              <a:buNone/>
            </a:pPr>
            <a:r>
              <a:rPr lang="en-US" sz="1200" dirty="0">
                <a:solidFill>
                  <a:srgbClr val="9EC8E0"/>
                </a:solidFill>
                <a:latin typeface="Calibri" pitchFamily="34" charset="0"/>
                <a:ea typeface="Calibri" pitchFamily="34" charset="-122"/>
                <a:cs typeface="Calibri" pitchFamily="34" charset="-120"/>
              </a:rPr>
              <a:t>mathias.heider@gmail.com</a:t>
            </a:r>
            <a:endParaRPr lang="en-US" sz="1200" dirty="0"/>
          </a:p>
          <a:p>
            <a:pPr indent="0" marL="0">
              <a:buNone/>
            </a:pPr>
            <a:r>
              <a:rPr lang="en-US" sz="1200" dirty="0">
                <a:solidFill>
                  <a:srgbClr val="9EC8E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9EC8E0"/>
                </a:solidFill>
                <a:latin typeface="Calibri" pitchFamily="34" charset="0"/>
                <a:ea typeface="Calibri" pitchFamily="34" charset="-122"/>
                <a:cs typeface="Calibri" pitchFamily="34" charset="-120"/>
              </a:rPr>
              <a:t>App: </a:t>
            </a:r>
            <a:pPr indent="0" marL="0">
              <a:buNone/>
            </a:pPr>
            <a:r>
              <a:rPr lang="en-US" sz="1200" dirty="0">
                <a:solidFill>
                  <a:srgbClr val="9EC8E0"/>
                </a:solidFill>
                <a:latin typeface="Calibri" pitchFamily="34" charset="0"/>
                <a:ea typeface="Calibri" pitchFamily="34" charset="-122"/>
                <a:cs typeface="Calibri" pitchFamily="34" charset="-120"/>
              </a:rPr>
              <a:t>huggingface.co/spaces/aim4composites/MaterialsDatabase</a:t>
            </a:r>
            <a:endParaRPr lang="en-US" sz="1200" dirty="0"/>
          </a:p>
          <a:p>
            <a:pPr indent="0" marL="0">
              <a:buNone/>
            </a:pPr>
            <a:r>
              <a:rPr lang="en-US" sz="1200" i="1" dirty="0">
                <a:solidFill>
                  <a:srgbClr val="9EC8E0"/>
                </a:solidFill>
                <a:latin typeface="Calibri" pitchFamily="34" charset="0"/>
                <a:ea typeface="Calibri" pitchFamily="34" charset="-122"/>
                <a:cs typeface="Calibri" pitchFamily="34" charset="-120"/>
              </a:rPr>
              <a:t>Joint work with Abhijit -- Clemson University + University of Delaware</a:t>
            </a:r>
            <a:endParaRPr lang="en-US" sz="1200" dirty="0"/>
          </a:p>
        </p:txBody>
      </p:sp>
      <p:sp>
        <p:nvSpPr>
          <p:cNvPr id="8" name="Shape 6"/>
          <p:cNvSpPr/>
          <p:nvPr/>
        </p:nvSpPr>
        <p:spPr>
          <a:xfrm>
            <a:off x="502920" y="3931920"/>
            <a:ext cx="7772400" cy="822960"/>
          </a:xfrm>
          <a:prstGeom prst="rect">
            <a:avLst/>
          </a:prstGeom>
          <a:solidFill>
            <a:srgbClr val="065A82"/>
          </a:solidFill>
          <a:ln w="12700">
            <a:solidFill>
              <a:srgbClr val="065A82"/>
            </a:solidFill>
            <a:prstDash val="solid"/>
          </a:ln>
        </p:spPr>
      </p:sp>
      <p:sp>
        <p:nvSpPr>
          <p:cNvPr id="9" name="Text 7"/>
          <p:cNvSpPr/>
          <p:nvPr/>
        </p:nvSpPr>
        <p:spPr>
          <a:xfrm>
            <a:off x="640080" y="3950208"/>
            <a:ext cx="7498080" cy="777240"/>
          </a:xfrm>
          <a:prstGeom prst="rect">
            <a:avLst/>
          </a:prstGeom>
          <a:noFill/>
          <a:ln/>
        </p:spPr>
        <p:txBody>
          <a:bodyPr wrap="square" lIns="0" tIns="0" rIns="0" bIns="0" rtlCol="0" anchor="ctr"/>
          <a:lstStyle/>
          <a:p>
            <a:pPr indent="0" marL="0">
              <a:buNone/>
            </a:pPr>
            <a:r>
              <a:rPr lang="en-US" sz="950" i="1" dirty="0">
                <a:solidFill>
                  <a:srgbClr val="9EC8E0"/>
                </a:solidFill>
                <a:latin typeface="Calibri" pitchFamily="34" charset="0"/>
                <a:ea typeface="Calibri" pitchFamily="34" charset="-122"/>
                <a:cs typeface="Calibri" pitchFamily="34" charset="-120"/>
              </a:rPr>
              <a:t>Acknowledgments: Joint research with Abhijit (AbhijitClemson) and the AIM Composites team. Thanks to the ME8930 instructor for framing the autonomous-AI question and to Google for Gemini API credits.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 Composites Materials Database</dc:title>
  <dc:subject>PptxGenJS Presentation</dc:subject>
  <dc:creator>Mathias Heider</dc:creator>
  <cp:lastModifiedBy>Mathias Heider</cp:lastModifiedBy>
  <cp:revision>1</cp:revision>
  <dcterms:created xsi:type="dcterms:W3CDTF">2026-05-19T07:23:17Z</dcterms:created>
  <dcterms:modified xsi:type="dcterms:W3CDTF">2026-05-19T07:23:17Z</dcterms:modified>
</cp:coreProperties>
</file>